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24.png" ContentType="image/png"/>
  <Override PartName="/ppt/media/image23.jpeg" ContentType="image/jpeg"/>
  <Override PartName="/ppt/media/image21.png" ContentType="image/png"/>
  <Override PartName="/ppt/media/image28.jpeg" ContentType="image/jpeg"/>
  <Override PartName="/ppt/media/image20.png" ContentType="image/png"/>
  <Override PartName="/ppt/media/image18.png" ContentType="image/png"/>
  <Override PartName="/ppt/media/image16.png" ContentType="image/png"/>
  <Override PartName="/ppt/media/image15.png" ContentType="image/png"/>
  <Override PartName="/ppt/media/image29.jpeg" ContentType="image/jpeg"/>
  <Override PartName="/ppt/media/image5.png" ContentType="image/png"/>
  <Override PartName="/ppt/media/image35.png" ContentType="image/png"/>
  <Override PartName="/ppt/media/image43.jpeg" ContentType="image/jpeg"/>
  <Override PartName="/ppt/media/image10.png" ContentType="image/png"/>
  <Override PartName="/ppt/media/image1.jpeg" ContentType="image/jpeg"/>
  <Override PartName="/ppt/media/image25.png" ContentType="image/png"/>
  <Override PartName="/ppt/media/image19.jpeg" ContentType="image/jpeg"/>
  <Override PartName="/ppt/media/image41.jpeg" ContentType="image/jpeg"/>
  <Override PartName="/ppt/media/image14.jpeg" ContentType="image/jpeg"/>
  <Override PartName="/ppt/media/image8.png" ContentType="image/png"/>
  <Override PartName="/ppt/media/image38.png" ContentType="image/png"/>
  <Override PartName="/ppt/media/image40.png" ContentType="image/png"/>
  <Override PartName="/ppt/media/image11.png" ContentType="image/png"/>
  <Override PartName="/ppt/media/image6.wmf" ContentType="image/x-wmf"/>
  <Override PartName="/ppt/media/image31.png" ContentType="image/png"/>
  <Override PartName="/ppt/media/image36.png" ContentType="image/png"/>
  <Override PartName="/ppt/media/image30.png" ContentType="image/png"/>
  <Override PartName="/ppt/media/image37.jpeg" ContentType="image/jpeg"/>
  <Override PartName="/ppt/media/image42.png" ContentType="image/png"/>
  <Override PartName="/ppt/media/image45.png" ContentType="image/png"/>
  <Override PartName="/ppt/media/image7.png" ContentType="image/png"/>
  <Override PartName="/ppt/media/image22.jpeg" ContentType="image/jpeg"/>
  <Override PartName="/ppt/media/image39.png" ContentType="image/png"/>
  <Override PartName="/ppt/media/image9.png" ContentType="image/png"/>
  <Override PartName="/ppt/media/image44.png" ContentType="image/png"/>
  <Override PartName="/ppt/media/image13.jpeg" ContentType="image/jpeg"/>
  <Override PartName="/ppt/media/image12.jpeg" ContentType="image/jpeg"/>
  <Override PartName="/ppt/media/image34.png" ContentType="image/png"/>
  <Override PartName="/ppt/media/image4.png" ContentType="image/png"/>
  <Override PartName="/ppt/media/image27.png" ContentType="image/png"/>
  <Override PartName="/ppt/media/image33.png" ContentType="image/png"/>
  <Override PartName="/ppt/media/image3.png" ContentType="image/png"/>
  <Override PartName="/ppt/media/image17.jpeg" ContentType="image/jpeg"/>
  <Override PartName="/ppt/media/image26.png" ContentType="image/png"/>
  <Override PartName="/ppt/media/image32.png" ContentType="image/png"/>
  <Override PartName="/ppt/media/image2.png" ContentType="image/png"/>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type="body"/>
          </p:nvPr>
        </p:nvSpPr>
        <p:spPr>
          <a:xfrm>
            <a:off x="838080" y="1825560"/>
            <a:ext cx="1051524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52"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57"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58"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61"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2" name="PlaceHolder 4"/>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5"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6" name="PlaceHolder 4"/>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type="body"/>
          </p:nvPr>
        </p:nvSpPr>
        <p:spPr>
          <a:xfrm>
            <a:off x="838080" y="182556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9" name="PlaceHolder 3"/>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2"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3"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4" name="PlaceHolder 5"/>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type="body"/>
          </p:nvPr>
        </p:nvSpPr>
        <p:spPr>
          <a:xfrm>
            <a:off x="83808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7" name="PlaceHolder 3"/>
          <p:cNvSpPr>
            <a:spLocks noGrp="1"/>
          </p:cNvSpPr>
          <p:nvPr>
            <p:ph type="body"/>
          </p:nvPr>
        </p:nvSpPr>
        <p:spPr>
          <a:xfrm>
            <a:off x="439344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8" name="PlaceHolder 4"/>
          <p:cNvSpPr>
            <a:spLocks noGrp="1"/>
          </p:cNvSpPr>
          <p:nvPr>
            <p:ph type="body"/>
          </p:nvPr>
        </p:nvSpPr>
        <p:spPr>
          <a:xfrm>
            <a:off x="794916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9" name="PlaceHolder 5"/>
          <p:cNvSpPr>
            <a:spLocks noGrp="1"/>
          </p:cNvSpPr>
          <p:nvPr>
            <p:ph type="body"/>
          </p:nvPr>
        </p:nvSpPr>
        <p:spPr>
          <a:xfrm>
            <a:off x="83808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80" name="PlaceHolder 6"/>
          <p:cNvSpPr>
            <a:spLocks noGrp="1"/>
          </p:cNvSpPr>
          <p:nvPr>
            <p:ph type="body"/>
          </p:nvPr>
        </p:nvSpPr>
        <p:spPr>
          <a:xfrm>
            <a:off x="439344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81" name="PlaceHolder 7"/>
          <p:cNvSpPr>
            <a:spLocks noGrp="1"/>
          </p:cNvSpPr>
          <p:nvPr>
            <p:ph type="body"/>
          </p:nvPr>
        </p:nvSpPr>
        <p:spPr>
          <a:xfrm>
            <a:off x="794916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88" name="PlaceHolder 2"/>
          <p:cNvSpPr>
            <a:spLocks noGrp="1"/>
          </p:cNvSpPr>
          <p:nvPr>
            <p:ph type="subTitle"/>
          </p:nvPr>
        </p:nvSpPr>
        <p:spPr>
          <a:xfrm>
            <a:off x="838080" y="1825560"/>
            <a:ext cx="10515240" cy="43509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90" name="PlaceHolder 2"/>
          <p:cNvSpPr>
            <a:spLocks noGrp="1"/>
          </p:cNvSpPr>
          <p:nvPr>
            <p:ph type="body"/>
          </p:nvPr>
        </p:nvSpPr>
        <p:spPr>
          <a:xfrm>
            <a:off x="838080" y="1825560"/>
            <a:ext cx="1051524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92"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93"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838080" y="365040"/>
            <a:ext cx="10515240" cy="614412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97"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98"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99"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1"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102"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03" name="PlaceHolder 4"/>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5"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06"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07" name="PlaceHolder 4"/>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9" name="PlaceHolder 2"/>
          <p:cNvSpPr>
            <a:spLocks noGrp="1"/>
          </p:cNvSpPr>
          <p:nvPr>
            <p:ph type="body"/>
          </p:nvPr>
        </p:nvSpPr>
        <p:spPr>
          <a:xfrm>
            <a:off x="838080" y="182556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0" name="PlaceHolder 3"/>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12"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3"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4"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5" name="PlaceHolder 5"/>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17" name="PlaceHolder 2"/>
          <p:cNvSpPr>
            <a:spLocks noGrp="1"/>
          </p:cNvSpPr>
          <p:nvPr>
            <p:ph type="body"/>
          </p:nvPr>
        </p:nvSpPr>
        <p:spPr>
          <a:xfrm>
            <a:off x="83808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8" name="PlaceHolder 3"/>
          <p:cNvSpPr>
            <a:spLocks noGrp="1"/>
          </p:cNvSpPr>
          <p:nvPr>
            <p:ph type="body"/>
          </p:nvPr>
        </p:nvSpPr>
        <p:spPr>
          <a:xfrm>
            <a:off x="439344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19" name="PlaceHolder 4"/>
          <p:cNvSpPr>
            <a:spLocks noGrp="1"/>
          </p:cNvSpPr>
          <p:nvPr>
            <p:ph type="body"/>
          </p:nvPr>
        </p:nvSpPr>
        <p:spPr>
          <a:xfrm>
            <a:off x="794916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20" name="PlaceHolder 5"/>
          <p:cNvSpPr>
            <a:spLocks noGrp="1"/>
          </p:cNvSpPr>
          <p:nvPr>
            <p:ph type="body"/>
          </p:nvPr>
        </p:nvSpPr>
        <p:spPr>
          <a:xfrm>
            <a:off x="83808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21" name="PlaceHolder 6"/>
          <p:cNvSpPr>
            <a:spLocks noGrp="1"/>
          </p:cNvSpPr>
          <p:nvPr>
            <p:ph type="body"/>
          </p:nvPr>
        </p:nvSpPr>
        <p:spPr>
          <a:xfrm>
            <a:off x="439344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22" name="PlaceHolder 7"/>
          <p:cNvSpPr>
            <a:spLocks noGrp="1"/>
          </p:cNvSpPr>
          <p:nvPr>
            <p:ph type="body"/>
          </p:nvPr>
        </p:nvSpPr>
        <p:spPr>
          <a:xfrm>
            <a:off x="794916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p:spPr>
        <p:txBody>
          <a:bodyPr anchor="b">
            <a:noAutofit/>
          </a:bodyPr>
          <a:p>
            <a:pPr algn="ctr">
              <a:lnSpc>
                <a:spcPct val="90000"/>
              </a:lnSpc>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p:nvPr>
        </p:nvSpPr>
        <p:spPr>
          <a:xfrm>
            <a:off x="838080" y="6356520"/>
            <a:ext cx="2742840" cy="364680"/>
          </a:xfrm>
          <a:prstGeom prst="rect">
            <a:avLst/>
          </a:prstGeom>
        </p:spPr>
        <p:txBody>
          <a:bodyPr anchor="ctr">
            <a:noAutofit/>
          </a:bodyPr>
          <a:p>
            <a:pPr>
              <a:lnSpc>
                <a:spcPct val="100000"/>
              </a:lnSpc>
            </a:pPr>
            <a:fld id="{9A1B93C9-48E8-4DB4-9E45-203F76C585F4}" type="datetime1">
              <a:rPr b="0" lang="en-US" sz="1200" spc="-1" strike="noStrike">
                <a:solidFill>
                  <a:srgbClr val="8b8b8b"/>
                </a:solidFill>
                <a:latin typeface="Calibri"/>
              </a:rPr>
              <a:t>11/18/2021</a:t>
            </a:fld>
            <a:endParaRPr b="0" lang="en-US" sz="1200" spc="-1" strike="noStrike">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p>
            <a:endParaRPr b="0" lang="en-US" sz="2400" spc="-1" strike="noStrike">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65C1E188-B669-445D-BAD0-2E67385013D6}"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noAutofit/>
          </a:bodyPr>
          <a:p>
            <a:pPr>
              <a:lnSpc>
                <a:spcPct val="90000"/>
              </a:lnSpc>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no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Click to edit Master text styles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24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24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p:nvPr>
        </p:nvSpPr>
        <p:spPr>
          <a:xfrm>
            <a:off x="838080" y="6356520"/>
            <a:ext cx="2742840" cy="364680"/>
          </a:xfrm>
          <a:prstGeom prst="rect">
            <a:avLst/>
          </a:prstGeom>
        </p:spPr>
        <p:txBody>
          <a:bodyPr anchor="ctr">
            <a:noAutofit/>
          </a:bodyPr>
          <a:p>
            <a:pPr>
              <a:lnSpc>
                <a:spcPct val="100000"/>
              </a:lnSpc>
            </a:pPr>
            <a:fld id="{1682D54D-C1F7-4512-8EDC-7265D924B719}" type="datetime1">
              <a:rPr b="0" lang="en-US" sz="1200" spc="-1" strike="noStrike">
                <a:solidFill>
                  <a:srgbClr val="8b8b8b"/>
                </a:solidFill>
                <a:latin typeface="Calibri"/>
              </a:rPr>
              <a:t>11/18/2021</a:t>
            </a:fld>
            <a:endParaRPr b="0" lang="en-US" sz="1200" spc="-1" strike="noStrike">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noAutofit/>
          </a:bodyPr>
          <a:p>
            <a:endParaRPr b="0" lang="en-US" sz="2400" spc="-1" strike="noStrike">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4E2795A5-1ACD-4FD4-B088-D31142D35F41}"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1325160"/>
          </a:xfrm>
          <a:prstGeom prst="rect">
            <a:avLst/>
          </a:prstGeom>
        </p:spPr>
        <p:txBody>
          <a:bodyPr anchor="ctr">
            <a:noAutofit/>
          </a:bodyPr>
          <a:p>
            <a:pPr>
              <a:lnSpc>
                <a:spcPct val="90000"/>
              </a:lnSpc>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83" name="PlaceHolder 2"/>
          <p:cNvSpPr>
            <a:spLocks noGrp="1"/>
          </p:cNvSpPr>
          <p:nvPr>
            <p:ph type="dt"/>
          </p:nvPr>
        </p:nvSpPr>
        <p:spPr>
          <a:xfrm>
            <a:off x="838080" y="6356520"/>
            <a:ext cx="2742840" cy="364680"/>
          </a:xfrm>
          <a:prstGeom prst="rect">
            <a:avLst/>
          </a:prstGeom>
        </p:spPr>
        <p:txBody>
          <a:bodyPr anchor="ctr">
            <a:noAutofit/>
          </a:bodyPr>
          <a:p>
            <a:pPr>
              <a:lnSpc>
                <a:spcPct val="100000"/>
              </a:lnSpc>
            </a:pPr>
            <a:fld id="{C514E3A3-C492-4D96-BE48-0B344C3E105F}" type="datetime1">
              <a:rPr b="0" lang="en-US" sz="1200" spc="-1" strike="noStrike">
                <a:solidFill>
                  <a:srgbClr val="8b8b8b"/>
                </a:solidFill>
                <a:latin typeface="Calibri"/>
              </a:rPr>
              <a:t>11/18/2021</a:t>
            </a:fld>
            <a:endParaRPr b="0" lang="en-US" sz="1200" spc="-1" strike="noStrike">
              <a:latin typeface="Times New Roman"/>
            </a:endParaRPr>
          </a:p>
        </p:txBody>
      </p:sp>
      <p:sp>
        <p:nvSpPr>
          <p:cNvPr id="84" name="PlaceHolder 3"/>
          <p:cNvSpPr>
            <a:spLocks noGrp="1"/>
          </p:cNvSpPr>
          <p:nvPr>
            <p:ph type="ftr"/>
          </p:nvPr>
        </p:nvSpPr>
        <p:spPr>
          <a:xfrm>
            <a:off x="4038480" y="6356520"/>
            <a:ext cx="4114440" cy="364680"/>
          </a:xfrm>
          <a:prstGeom prst="rect">
            <a:avLst/>
          </a:prstGeom>
        </p:spPr>
        <p:txBody>
          <a:bodyPr anchor="ctr">
            <a:noAutofit/>
          </a:bodyPr>
          <a:p>
            <a:endParaRPr b="0" lang="en-US" sz="2400" spc="-1" strike="noStrike">
              <a:latin typeface="Times New Roman"/>
            </a:endParaRPr>
          </a:p>
        </p:txBody>
      </p:sp>
      <p:sp>
        <p:nvSpPr>
          <p:cNvPr id="85" name="PlaceHolder 4"/>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00553D18-49F2-45C1-AB67-C357CD9F400D}" type="slidenum">
              <a:rPr b="0" lang="en-US" sz="1200" spc="-1" strike="noStrike">
                <a:solidFill>
                  <a:srgbClr val="8b8b8b"/>
                </a:solidFill>
                <a:latin typeface="Calibri"/>
              </a:rPr>
              <a:t>&lt;number&gt;</a:t>
            </a:fld>
            <a:endParaRPr b="0" lang="en-US" sz="1200" spc="-1" strike="noStrike">
              <a:latin typeface="Times New Roman"/>
            </a:endParaRPr>
          </a:p>
        </p:txBody>
      </p:sp>
      <p:sp>
        <p:nvSpPr>
          <p:cNvPr id="86"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wmf"/><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hyperlink" Target="http://burrsettles.com/pub/settles.activelearning.pdf" TargetMode="External"/><Relationship Id="rId2" Type="http://schemas.openxmlformats.org/officeDocument/2006/relationships/hyperlink" Target="https://www.tensorflow.org/api_docs/python/tf/gradients" TargetMode="External"/><Relationship Id="rId3"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stackoverflow.com/questions/41443118/select-5-data-points-closest-to-svm-hyperlane" TargetMode="External"/><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9.xml"/>
</Relationships>
</file>

<file path=ppt/slides/_rels/slide1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png"/><Relationship Id="rId3" Type="http://schemas.openxmlformats.org/officeDocument/2006/relationships/hyperlink" Target="https://github.com/scikit-learn/scikit-learn/blob/0d378913b/sklearn/svm/_base.py#L807" TargetMode="External"/><Relationship Id="rId4" Type="http://schemas.openxmlformats.org/officeDocument/2006/relationships/hyperlink" Target="https://scikit-learn.org/stable/modules/generated/sklearn.svm.SVC.html#sklearn.svm.SVC.predict_proba" TargetMode="External"/><Relationship Id="rId5"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hyperlink" Target="https://stackoverflow.com/questions/41443118/select-5-data-points-closest-to-svm-hyperlane" TargetMode="External"/><Relationship Id="rId3" Type="http://schemas.openxmlformats.org/officeDocument/2006/relationships/hyperlink" Target="https://ieeexplore.ieee.org/stamp/stamp.jsp?tp=&amp;arnumber=8334452" TargetMode="External"/><Relationship Id="rId4" Type="http://schemas.openxmlformats.org/officeDocument/2006/relationships/hyperlink" Target="file:///home/sudip/Downloads/Compact_Hyperplane_Hashing_with_Bilinear_Functions.pdf" TargetMode="External"/><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hyperlink" Target="https://www.tensorflow.org/api_docs/python/tf/keras/Model#train_on_batch" TargetMode="External"/><Relationship Id="rId9" Type="http://schemas.openxmlformats.org/officeDocument/2006/relationships/hyperlink" Target="https://www.tensorflow.org/api_docs/python/tf/keras/Model#train_on_batch" TargetMode="External"/><Relationship Id="rId10"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jpeg"/><Relationship Id="rId4" Type="http://schemas.openxmlformats.org/officeDocument/2006/relationships/image" Target="../media/image38.png"/><Relationship Id="rId5"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jpeg"/><Relationship Id="rId4" Type="http://schemas.openxmlformats.org/officeDocument/2006/relationships/image" Target="../media/image42.png"/><Relationship Id="rId5" Type="http://schemas.openxmlformats.org/officeDocument/2006/relationships/image" Target="../media/image43.jpeg"/><Relationship Id="rId6"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Shape 1"/>
          <p:cNvSpPr txBox="1"/>
          <p:nvPr/>
        </p:nvSpPr>
        <p:spPr>
          <a:xfrm>
            <a:off x="1523880" y="1122480"/>
            <a:ext cx="9143640" cy="2387160"/>
          </a:xfrm>
          <a:prstGeom prst="rect">
            <a:avLst/>
          </a:prstGeom>
          <a:noFill/>
          <a:ln>
            <a:noFill/>
          </a:ln>
        </p:spPr>
        <p:txBody>
          <a:bodyPr anchor="b">
            <a:normAutofit fontScale="92000"/>
          </a:bodyPr>
          <a:p>
            <a:pPr algn="ctr">
              <a:lnSpc>
                <a:spcPct val="90000"/>
              </a:lnSpc>
            </a:pPr>
            <a:r>
              <a:rPr b="0" lang="en-US" sz="6000" spc="-1" strike="noStrike">
                <a:solidFill>
                  <a:srgbClr val="000000"/>
                </a:solidFill>
                <a:latin typeface="Calibri Light"/>
              </a:rPr>
              <a:t>An Active Learning Approach for Botnet Detection</a:t>
            </a:r>
            <a:endParaRPr b="0" lang="en-US" sz="6000" spc="-1" strike="noStrike">
              <a:solidFill>
                <a:srgbClr val="000000"/>
              </a:solidFill>
              <a:latin typeface="Calibri"/>
            </a:endParaRPr>
          </a:p>
        </p:txBody>
      </p:sp>
      <p:sp>
        <p:nvSpPr>
          <p:cNvPr id="124" name="TextShape 2"/>
          <p:cNvSpPr txBox="1"/>
          <p:nvPr/>
        </p:nvSpPr>
        <p:spPr>
          <a:xfrm>
            <a:off x="1523880" y="3602160"/>
            <a:ext cx="9143640" cy="1655280"/>
          </a:xfrm>
          <a:prstGeom prst="rect">
            <a:avLst/>
          </a:prstGeom>
          <a:noFill/>
          <a:ln>
            <a:noFill/>
          </a:ln>
        </p:spPr>
        <p:txBody>
          <a:bodyPr>
            <a:noAutofit/>
          </a:bodyPr>
          <a:p>
            <a:pPr algn="ctr">
              <a:lnSpc>
                <a:spcPct val="90000"/>
              </a:lnSpc>
              <a:spcBef>
                <a:spcPts val="1001"/>
              </a:spcBef>
              <a:tabLst>
                <a:tab algn="l" pos="0"/>
              </a:tabLst>
            </a:pPr>
            <a:r>
              <a:rPr b="0" lang="de-DE" sz="2400" spc="-1" strike="noStrike">
                <a:solidFill>
                  <a:srgbClr val="000000"/>
                </a:solidFill>
                <a:latin typeface="Calibri"/>
              </a:rPr>
              <a:t>Mehrdad Hajizadeh</a:t>
            </a:r>
            <a:endParaRPr b="0" lang="en-US" sz="2400" spc="-1" strike="noStrike">
              <a:latin typeface="Arial"/>
            </a:endParaRPr>
          </a:p>
          <a:p>
            <a:pPr algn="ctr">
              <a:lnSpc>
                <a:spcPct val="90000"/>
              </a:lnSpc>
              <a:spcBef>
                <a:spcPts val="1001"/>
              </a:spcBef>
              <a:tabLst>
                <a:tab algn="l" pos="0"/>
              </a:tabLst>
            </a:pPr>
            <a:r>
              <a:rPr b="0" lang="de-DE" sz="2400" spc="-1" strike="noStrike">
                <a:solidFill>
                  <a:srgbClr val="000000"/>
                </a:solidFill>
                <a:latin typeface="Calibri"/>
              </a:rPr>
              <a:t>TU-Chemnitz</a:t>
            </a:r>
            <a:endParaRPr b="0" lang="en-US" sz="2400" spc="-1" strike="noStrike">
              <a:latin typeface="Arial"/>
            </a:endParaRPr>
          </a:p>
        </p:txBody>
      </p:sp>
      <p:sp>
        <p:nvSpPr>
          <p:cNvPr id="125"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26"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931F8EA3-35A6-4C2D-BBD0-C4C0F131780C}"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Problem </a:t>
            </a:r>
            <a:r>
              <a:rPr b="0" lang="en-US" sz="4400" spc="-1" strike="noStrike">
                <a:solidFill>
                  <a:srgbClr val="000000"/>
                </a:solidFill>
                <a:latin typeface="Calibri Light"/>
              </a:rPr>
              <a:t>Formulation</a:t>
            </a:r>
            <a:endParaRPr b="0" lang="en-US" sz="4400" spc="-1" strike="noStrike">
              <a:solidFill>
                <a:srgbClr val="000000"/>
              </a:solidFill>
              <a:latin typeface="Calibri"/>
            </a:endParaRPr>
          </a:p>
        </p:txBody>
      </p:sp>
      <p:pic>
        <p:nvPicPr>
          <p:cNvPr id="128" name="Picture 2" descr="Expectation Reality Images, Stock Photos &amp;amp; Vectors | Shutterstock"/>
          <p:cNvPicPr/>
          <p:nvPr/>
        </p:nvPicPr>
        <p:blipFill>
          <a:blip r:embed="rId1"/>
          <a:srcRect l="30584" t="20100" r="30943" b="6682"/>
          <a:stretch/>
        </p:blipFill>
        <p:spPr>
          <a:xfrm>
            <a:off x="4994640" y="1897200"/>
            <a:ext cx="1819800" cy="2487600"/>
          </a:xfrm>
          <a:prstGeom prst="rect">
            <a:avLst/>
          </a:prstGeom>
          <a:ln>
            <a:noFill/>
          </a:ln>
        </p:spPr>
      </p:pic>
      <p:sp>
        <p:nvSpPr>
          <p:cNvPr id="129" name="CustomShape 2"/>
          <p:cNvSpPr/>
          <p:nvPr/>
        </p:nvSpPr>
        <p:spPr>
          <a:xfrm>
            <a:off x="2063160" y="2045160"/>
            <a:ext cx="1632240" cy="1472760"/>
          </a:xfrm>
          <a:prstGeom prst="flowChartMagneticDisk">
            <a:avLst/>
          </a:prstGeom>
          <a:ln w="31680">
            <a:solidFill>
              <a:srgbClr val="ff000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800" spc="-1" strike="noStrike">
                <a:solidFill>
                  <a:srgbClr val="000000"/>
                </a:solidFill>
                <a:latin typeface="Calibri"/>
              </a:rPr>
              <a:t>Unlabeled</a:t>
            </a:r>
            <a:r>
              <a:rPr b="0" lang="de-DE" sz="1800" spc="-1" strike="noStrike">
                <a:solidFill>
                  <a:srgbClr val="000000"/>
                </a:solidFill>
                <a:latin typeface="Calibri"/>
              </a:rPr>
              <a:t> Data</a:t>
            </a:r>
            <a:endParaRPr b="0" lang="en-US" sz="1800" spc="-1" strike="noStrike">
              <a:latin typeface="Arial"/>
            </a:endParaRPr>
          </a:p>
        </p:txBody>
      </p:sp>
      <p:sp>
        <p:nvSpPr>
          <p:cNvPr id="130" name="CustomShape 3"/>
          <p:cNvSpPr/>
          <p:nvPr/>
        </p:nvSpPr>
        <p:spPr>
          <a:xfrm>
            <a:off x="7747560" y="2095200"/>
            <a:ext cx="2251080" cy="1080000"/>
          </a:xfrm>
          <a:prstGeom prst="roundRect">
            <a:avLst>
              <a:gd name="adj" fmla="val 16667"/>
            </a:avLst>
          </a:prstGeom>
          <a:ln w="3168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800" spc="-1" strike="noStrike">
                <a:solidFill>
                  <a:srgbClr val="000000"/>
                </a:solidFill>
                <a:latin typeface="Calibri"/>
              </a:rPr>
              <a:t>Supervised</a:t>
            </a:r>
            <a:r>
              <a:rPr b="0" lang="de-DE" sz="1800" spc="-1" strike="noStrike">
                <a:solidFill>
                  <a:srgbClr val="000000"/>
                </a:solidFill>
                <a:latin typeface="Calibri"/>
              </a:rPr>
              <a:t> Learning</a:t>
            </a:r>
            <a:endParaRPr b="0" lang="en-US" sz="1800" spc="-1" strike="noStrike">
              <a:latin typeface="Arial"/>
            </a:endParaRPr>
          </a:p>
          <a:p>
            <a:pPr algn="ctr">
              <a:lnSpc>
                <a:spcPct val="100000"/>
              </a:lnSpc>
            </a:pPr>
            <a:r>
              <a:rPr b="0" lang="de-DE" sz="1800" spc="-1" strike="noStrike">
                <a:solidFill>
                  <a:srgbClr val="000000"/>
                </a:solidFill>
                <a:latin typeface="Calibri"/>
              </a:rPr>
              <a:t>Deep Learning</a:t>
            </a:r>
            <a:endParaRPr b="0" lang="en-US" sz="1800" spc="-1" strike="noStrike">
              <a:latin typeface="Arial"/>
            </a:endParaRPr>
          </a:p>
        </p:txBody>
      </p:sp>
      <p:pic>
        <p:nvPicPr>
          <p:cNvPr id="131" name="Picture 4" descr="Product Cost Icons - Download Free Vector Icons | Noun Project"/>
          <p:cNvPicPr/>
          <p:nvPr/>
        </p:nvPicPr>
        <p:blipFill>
          <a:blip r:embed="rId2"/>
          <a:stretch/>
        </p:blipFill>
        <p:spPr>
          <a:xfrm>
            <a:off x="5286240" y="4390200"/>
            <a:ext cx="1201680" cy="1201680"/>
          </a:xfrm>
          <a:prstGeom prst="rect">
            <a:avLst/>
          </a:prstGeom>
          <a:ln>
            <a:noFill/>
          </a:ln>
        </p:spPr>
      </p:pic>
      <p:sp>
        <p:nvSpPr>
          <p:cNvPr id="132" name="CustomShape 4"/>
          <p:cNvSpPr/>
          <p:nvPr/>
        </p:nvSpPr>
        <p:spPr>
          <a:xfrm>
            <a:off x="2839320" y="5741280"/>
            <a:ext cx="6130080" cy="8197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600" spc="-1" strike="noStrike">
                <a:solidFill>
                  <a:srgbClr val="000000"/>
                </a:solidFill>
                <a:latin typeface="NimbusRomNo9L-Regu"/>
              </a:rPr>
              <a:t>For many more sophisticated supervised learning tasks, labeled instances are very difficult, time-consuming, or expensive to obtain.</a:t>
            </a:r>
            <a:endParaRPr b="0" lang="en-US" sz="1600" spc="-1" strike="noStrike">
              <a:latin typeface="Arial"/>
            </a:endParaRPr>
          </a:p>
        </p:txBody>
      </p:sp>
      <p:sp>
        <p:nvSpPr>
          <p:cNvPr id="133" name="TextShape 5"/>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34" name="TextShape 6"/>
          <p:cNvSpPr txBox="1"/>
          <p:nvPr/>
        </p:nvSpPr>
        <p:spPr>
          <a:xfrm>
            <a:off x="8610480" y="6356520"/>
            <a:ext cx="2742840" cy="364680"/>
          </a:xfrm>
          <a:prstGeom prst="rect">
            <a:avLst/>
          </a:prstGeom>
          <a:noFill/>
          <a:ln>
            <a:noFill/>
          </a:ln>
        </p:spPr>
        <p:txBody>
          <a:bodyPr anchor="ctr">
            <a:noAutofit/>
          </a:bodyPr>
          <a:p>
            <a:pPr algn="r">
              <a:lnSpc>
                <a:spcPct val="100000"/>
              </a:lnSpc>
            </a:pPr>
            <a:fld id="{3FA1BED8-19D1-49CF-93AE-D8F5CA63AEBD}"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Active Learning</a:t>
            </a:r>
            <a:endParaRPr b="0" lang="en-US" sz="4400" spc="-1" strike="noStrike">
              <a:solidFill>
                <a:srgbClr val="000000"/>
              </a:solidFill>
              <a:latin typeface="Calibri"/>
            </a:endParaRPr>
          </a:p>
        </p:txBody>
      </p:sp>
      <p:pic>
        <p:nvPicPr>
          <p:cNvPr id="136" name="Picture 4" descr=""/>
          <p:cNvPicPr/>
          <p:nvPr/>
        </p:nvPicPr>
        <p:blipFill>
          <a:blip r:embed="rId1"/>
          <a:stretch/>
        </p:blipFill>
        <p:spPr>
          <a:xfrm>
            <a:off x="5722560" y="1690560"/>
            <a:ext cx="6179760" cy="3906000"/>
          </a:xfrm>
          <a:prstGeom prst="rect">
            <a:avLst/>
          </a:prstGeom>
          <a:ln>
            <a:noFill/>
          </a:ln>
        </p:spPr>
      </p:pic>
      <p:sp>
        <p:nvSpPr>
          <p:cNvPr id="137" name="CustomShape 2"/>
          <p:cNvSpPr/>
          <p:nvPr/>
        </p:nvSpPr>
        <p:spPr>
          <a:xfrm>
            <a:off x="0" y="6492960"/>
            <a:ext cx="609552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alibri"/>
              </a:rPr>
              <a:t>http://burrsettles.com/pub/settles.activelearning.pdf</a:t>
            </a:r>
            <a:endParaRPr b="0" lang="en-US" sz="1800" spc="-1" strike="noStrike">
              <a:latin typeface="Arial"/>
            </a:endParaRPr>
          </a:p>
        </p:txBody>
      </p:sp>
      <p:sp>
        <p:nvSpPr>
          <p:cNvPr id="138" name="CustomShape 3"/>
          <p:cNvSpPr/>
          <p:nvPr/>
        </p:nvSpPr>
        <p:spPr>
          <a:xfrm>
            <a:off x="534600" y="1690560"/>
            <a:ext cx="5187600" cy="5027400"/>
          </a:xfrm>
          <a:prstGeom prst="rect">
            <a:avLst/>
          </a:prstGeom>
          <a:noFill/>
          <a:ln>
            <a:noFill/>
          </a:ln>
        </p:spPr>
        <p:style>
          <a:lnRef idx="0"/>
          <a:fillRef idx="0"/>
          <a:effectRef idx="0"/>
          <a:fontRef idx="minor"/>
        </p:style>
        <p:txBody>
          <a:bodyPr lIns="90000" rIns="90000" tIns="45000" bIns="45000">
            <a:spAutoFit/>
          </a:bodyPr>
          <a:p>
            <a:pPr marL="285840" indent="-285480">
              <a:lnSpc>
                <a:spcPct val="100000"/>
              </a:lnSpc>
              <a:buClr>
                <a:srgbClr val="000000"/>
              </a:buClr>
              <a:buFont typeface="Arial"/>
              <a:buChar char="•"/>
            </a:pPr>
            <a:r>
              <a:rPr b="0" lang="en-US" sz="1800" spc="-1" strike="noStrike">
                <a:solidFill>
                  <a:srgbClr val="000000"/>
                </a:solidFill>
                <a:latin typeface="Calibri"/>
              </a:rPr>
              <a:t>There are several scenarios in which active  learners may pose queries, and there are also several different query strategies that have been used to decide which instances are most informative.</a:t>
            </a:r>
            <a:endParaRPr b="0" lang="en-US" sz="1800" spc="-1" strike="noStrike">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rPr>
              <a:t>Fig 1: A learner may begin with a small number of instances in the labeled training set L, request labels for one or more carefully selected instances, learn from the  query results, and then leverage its new knowledge to choose which instances to query next. Once a query has been made, there are usually no additional assumptions on the part of the learning algorithm. The new labeled instance is simply added to the labeled set L, and the learner proceeds from there in a standard supervised way.</a:t>
            </a:r>
            <a:endParaRPr b="0" lang="en-US" sz="1800" spc="-1" strike="noStrike">
              <a:latin typeface="Arial"/>
            </a:endParaRPr>
          </a:p>
        </p:txBody>
      </p:sp>
      <p:sp>
        <p:nvSpPr>
          <p:cNvPr id="139"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40"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11A4F8B0-A6EA-42D6-A499-F14FDF08E400}"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Typical Active Learning Scenarios</a:t>
            </a:r>
            <a:endParaRPr b="0" lang="en-US" sz="4400" spc="-1" strike="noStrike">
              <a:solidFill>
                <a:srgbClr val="000000"/>
              </a:solidFill>
              <a:latin typeface="Calibri"/>
            </a:endParaRPr>
          </a:p>
        </p:txBody>
      </p:sp>
      <p:sp>
        <p:nvSpPr>
          <p:cNvPr id="142" name="TextShape 2"/>
          <p:cNvSpPr txBox="1"/>
          <p:nvPr/>
        </p:nvSpPr>
        <p:spPr>
          <a:xfrm>
            <a:off x="838080" y="1825560"/>
            <a:ext cx="10515240" cy="4350960"/>
          </a:xfrm>
          <a:prstGeom prst="rect">
            <a:avLst/>
          </a:prstGeom>
          <a:noFill/>
          <a:ln>
            <a:noFill/>
          </a:ln>
        </p:spPr>
        <p:txBody>
          <a:bodyPr>
            <a:no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classical scenario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specifes the number of labels provided by oracle.</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The cost-sensitive active learning scenario involves query cost and misclassifcation costs.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learning task is to achieve a trade-of between them to minimize the total cost. </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active learning from data streams scenario involves dynamic nature of the data.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learner should query instances based on the data observed so far to maximize the classifcation accuracy on future instances</a:t>
            </a:r>
            <a:endParaRPr b="0" lang="en-US" sz="2400" spc="-1" strike="noStrike">
              <a:solidFill>
                <a:srgbClr val="000000"/>
              </a:solidFill>
              <a:latin typeface="Calibri"/>
            </a:endParaRPr>
          </a:p>
        </p:txBody>
      </p:sp>
      <p:sp>
        <p:nvSpPr>
          <p:cNvPr id="143" name="CustomShape 3"/>
          <p:cNvSpPr/>
          <p:nvPr/>
        </p:nvSpPr>
        <p:spPr>
          <a:xfrm>
            <a:off x="0" y="6611760"/>
            <a:ext cx="60955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http://www.fansmale.com/downloadRAR/publicationPdf/Min2020.pdf</a:t>
            </a:r>
            <a:endParaRPr b="0" lang="en-US" sz="1000" spc="-1" strike="noStrike">
              <a:latin typeface="Arial"/>
            </a:endParaRPr>
          </a:p>
        </p:txBody>
      </p:sp>
      <p:sp>
        <p:nvSpPr>
          <p:cNvPr id="144"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45"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A1280703-78CB-4775-8F08-391F2EA56113}"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Batch Query Strategy</a:t>
            </a:r>
            <a:endParaRPr b="0" lang="en-US" sz="4400" spc="-1" strike="noStrike">
              <a:solidFill>
                <a:srgbClr val="000000"/>
              </a:solidFill>
              <a:latin typeface="Calibri"/>
            </a:endParaRPr>
          </a:p>
        </p:txBody>
      </p:sp>
      <p:pic>
        <p:nvPicPr>
          <p:cNvPr id="147" name="Picture 4" descr=""/>
          <p:cNvPicPr/>
          <p:nvPr/>
        </p:nvPicPr>
        <p:blipFill>
          <a:blip r:embed="rId1"/>
          <a:stretch/>
        </p:blipFill>
        <p:spPr>
          <a:xfrm>
            <a:off x="2647440" y="2882520"/>
            <a:ext cx="7046280" cy="3975120"/>
          </a:xfrm>
          <a:prstGeom prst="rect">
            <a:avLst/>
          </a:prstGeom>
          <a:ln>
            <a:noFill/>
          </a:ln>
        </p:spPr>
      </p:pic>
      <p:sp>
        <p:nvSpPr>
          <p:cNvPr id="148" name="CustomShape 2"/>
          <p:cNvSpPr/>
          <p:nvPr/>
        </p:nvSpPr>
        <p:spPr>
          <a:xfrm>
            <a:off x="-73080" y="6611760"/>
            <a:ext cx="609408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LinBiolinumT"/>
              </a:rPr>
              <a:t>Paper:A Survey of Deep Active Learning</a:t>
            </a:r>
            <a:endParaRPr b="0" lang="en-US" sz="1000" spc="-1" strike="noStrike">
              <a:latin typeface="Arial"/>
            </a:endParaRPr>
          </a:p>
        </p:txBody>
      </p:sp>
      <p:sp>
        <p:nvSpPr>
          <p:cNvPr id="149" name="CustomShape 3"/>
          <p:cNvSpPr/>
          <p:nvPr/>
        </p:nvSpPr>
        <p:spPr>
          <a:xfrm>
            <a:off x="963720" y="1597320"/>
            <a:ext cx="10115280" cy="1186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LinLibertineT"/>
              </a:rPr>
              <a:t>The information provided to the model by such similar samples is essentially the same, which not only wastes labeling resources, but also makes it difficult for the model to learn genuinely useful information. Therefore, it is important to query a set of samples that are both </a:t>
            </a:r>
            <a:r>
              <a:rPr b="0" lang="en-US" sz="1800" spc="-1" strike="noStrike">
                <a:solidFill>
                  <a:srgbClr val="ff0000"/>
                </a:solidFill>
                <a:latin typeface="LinLibertineT"/>
              </a:rPr>
              <a:t>information-rich</a:t>
            </a:r>
            <a:r>
              <a:rPr b="0" lang="en-US" sz="1800" spc="-1" strike="noStrike">
                <a:solidFill>
                  <a:srgbClr val="000000"/>
                </a:solidFill>
                <a:latin typeface="LinLibertineT"/>
              </a:rPr>
              <a:t> and </a:t>
            </a:r>
            <a:r>
              <a:rPr b="0" lang="en-US" sz="1800" spc="-1" strike="noStrike">
                <a:solidFill>
                  <a:srgbClr val="ff0000"/>
                </a:solidFill>
                <a:latin typeface="LinLibertineT"/>
              </a:rPr>
              <a:t>diverse</a:t>
            </a:r>
            <a:r>
              <a:rPr b="0" lang="en-US" sz="1800" spc="-1" strike="noStrike">
                <a:solidFill>
                  <a:srgbClr val="000000"/>
                </a:solidFill>
                <a:latin typeface="LinLibertineT"/>
              </a:rPr>
              <a:t>.</a:t>
            </a:r>
            <a:endParaRPr b="0" lang="en-US" sz="1800" spc="-1" strike="noStrike">
              <a:latin typeface="Arial"/>
            </a:endParaRPr>
          </a:p>
        </p:txBody>
      </p:sp>
      <p:sp>
        <p:nvSpPr>
          <p:cNvPr id="150"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51"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55E19DB4-73B8-472B-A25E-556B4FC4E9C8}"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Active Learning Categories based on Query</a:t>
            </a:r>
            <a:endParaRPr b="0" lang="en-US" sz="4400" spc="-1" strike="noStrike">
              <a:solidFill>
                <a:srgbClr val="000000"/>
              </a:solidFill>
              <a:latin typeface="Calibri"/>
            </a:endParaRPr>
          </a:p>
        </p:txBody>
      </p:sp>
      <p:sp>
        <p:nvSpPr>
          <p:cNvPr id="153" name="TextShape 2"/>
          <p:cNvSpPr txBox="1"/>
          <p:nvPr/>
        </p:nvSpPr>
        <p:spPr>
          <a:xfrm>
            <a:off x="355680" y="1690560"/>
            <a:ext cx="7124400" cy="3911400"/>
          </a:xfrm>
          <a:prstGeom prst="rect">
            <a:avLst/>
          </a:prstGeom>
          <a:noFill/>
          <a:ln>
            <a:noFill/>
          </a:ln>
        </p:spPr>
        <p:txBody>
          <a:bodyPr>
            <a:normAutofit fontScale="17000"/>
          </a:bodyPr>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Stream-based selective sampling</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In this scenario, the algorithm determines if it would be beneficial enough to query for the label of a specific unlabeled entry in the dataset. While the model is being trained, it is presented with a data instance and immediately decides if it wants to query the label. This approach has a natural disadvantage that comes from the lack of guarantee that the data scientist will stay within budget.  </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Pool-based sampling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This is the most well known scenario for active learning. In this sampling method, the algorithm attempts to evaluate the entire dataset before it selects the best query or set of queries. The active learner algorithm is often initially trained on a fully labeled part of the data which is then used to determine which instances would be most beneficial to insert into the training set for the next active learning loop. The downside of this method is the amount of memory it can require.</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Membership query synthesis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This scenario is not applicable to all cases, because it involves the generation of synthetic data. The active learner in this method is allowed to create its own examples for labeling. This method is compatible with problems where it is easy to generate a data instance.</a:t>
            </a:r>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sp>
        <p:nvSpPr>
          <p:cNvPr id="154" name="CustomShape 3"/>
          <p:cNvSpPr/>
          <p:nvPr/>
        </p:nvSpPr>
        <p:spPr>
          <a:xfrm>
            <a:off x="123840" y="5267880"/>
            <a:ext cx="609552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alibri"/>
              </a:rPr>
              <a:t>https://algorithmia.com/blog/active-learning-machine-learning</a:t>
            </a:r>
            <a:endParaRPr b="0" lang="en-US" sz="1800" spc="-1" strike="noStrike">
              <a:latin typeface="Arial"/>
            </a:endParaRPr>
          </a:p>
        </p:txBody>
      </p:sp>
      <p:pic>
        <p:nvPicPr>
          <p:cNvPr id="155" name="Picture 6" descr=""/>
          <p:cNvPicPr/>
          <p:nvPr/>
        </p:nvPicPr>
        <p:blipFill>
          <a:blip r:embed="rId1"/>
          <a:stretch/>
        </p:blipFill>
        <p:spPr>
          <a:xfrm>
            <a:off x="7480440" y="1500120"/>
            <a:ext cx="4711320" cy="2322000"/>
          </a:xfrm>
          <a:prstGeom prst="rect">
            <a:avLst/>
          </a:prstGeom>
          <a:ln>
            <a:noFill/>
          </a:ln>
        </p:spPr>
      </p:pic>
      <p:pic>
        <p:nvPicPr>
          <p:cNvPr id="156" name="Picture 8" descr=""/>
          <p:cNvPicPr/>
          <p:nvPr/>
        </p:nvPicPr>
        <p:blipFill>
          <a:blip r:embed="rId2"/>
          <a:stretch/>
        </p:blipFill>
        <p:spPr>
          <a:xfrm>
            <a:off x="7640640" y="4361040"/>
            <a:ext cx="4103280" cy="2130480"/>
          </a:xfrm>
          <a:prstGeom prst="rect">
            <a:avLst/>
          </a:prstGeom>
          <a:ln>
            <a:noFill/>
          </a:ln>
        </p:spPr>
      </p:pic>
      <p:sp>
        <p:nvSpPr>
          <p:cNvPr id="157" name="CustomShape 4"/>
          <p:cNvSpPr/>
          <p:nvPr/>
        </p:nvSpPr>
        <p:spPr>
          <a:xfrm>
            <a:off x="8136720" y="6397560"/>
            <a:ext cx="61192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LinBiolinumT"/>
              </a:rPr>
              <a:t>The pool-based active learning cycle</a:t>
            </a:r>
            <a:endParaRPr b="0" lang="en-US" sz="1800" spc="-1" strike="noStrike">
              <a:latin typeface="Arial"/>
            </a:endParaRPr>
          </a:p>
        </p:txBody>
      </p:sp>
      <p:sp>
        <p:nvSpPr>
          <p:cNvPr id="158" name="CustomShape 5"/>
          <p:cNvSpPr/>
          <p:nvPr/>
        </p:nvSpPr>
        <p:spPr>
          <a:xfrm>
            <a:off x="8993880" y="6634080"/>
            <a:ext cx="712908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LinBiolinumTB"/>
              </a:rPr>
              <a:t>Ref: A Survey of Deep Active Learning</a:t>
            </a:r>
            <a:endParaRPr b="0" lang="en-US" sz="1000" spc="-1" strike="noStrike">
              <a:latin typeface="Arial"/>
            </a:endParaRPr>
          </a:p>
        </p:txBody>
      </p:sp>
      <p:sp>
        <p:nvSpPr>
          <p:cNvPr id="159" name="CustomShape 6"/>
          <p:cNvSpPr/>
          <p:nvPr/>
        </p:nvSpPr>
        <p:spPr>
          <a:xfrm>
            <a:off x="7736040" y="3641040"/>
            <a:ext cx="3767760" cy="5770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NimbusRomNo9L-Regu"/>
              </a:rPr>
              <a:t>Diagram illustrating the three main active learning scenarios</a:t>
            </a:r>
            <a:endParaRPr b="0" lang="en-US" sz="1200" spc="-1" strike="noStrike">
              <a:latin typeface="Arial"/>
            </a:endParaRPr>
          </a:p>
          <a:p>
            <a:pPr>
              <a:lnSpc>
                <a:spcPct val="100000"/>
              </a:lnSpc>
            </a:pPr>
            <a:r>
              <a:rPr b="0" lang="en-US" sz="800" spc="-1" strike="noStrike">
                <a:solidFill>
                  <a:srgbClr val="000000"/>
                </a:solidFill>
                <a:latin typeface="Calibri"/>
              </a:rPr>
              <a:t>http://burrsettles.com/pub/settles.activelearning.pdf</a:t>
            </a:r>
            <a:endParaRPr b="0" lang="en-US" sz="800" spc="-1" strike="noStrike">
              <a:latin typeface="Arial"/>
            </a:endParaRPr>
          </a:p>
        </p:txBody>
      </p:sp>
      <p:sp>
        <p:nvSpPr>
          <p:cNvPr id="160" name="TextShape 7"/>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61" name="TextShape 8"/>
          <p:cNvSpPr txBox="1"/>
          <p:nvPr/>
        </p:nvSpPr>
        <p:spPr>
          <a:xfrm>
            <a:off x="8610480" y="6356520"/>
            <a:ext cx="2742840" cy="364680"/>
          </a:xfrm>
          <a:prstGeom prst="rect">
            <a:avLst/>
          </a:prstGeom>
          <a:noFill/>
          <a:ln>
            <a:noFill/>
          </a:ln>
        </p:spPr>
        <p:txBody>
          <a:bodyPr anchor="ctr">
            <a:noAutofit/>
          </a:bodyPr>
          <a:p>
            <a:pPr algn="r">
              <a:lnSpc>
                <a:spcPct val="100000"/>
              </a:lnSpc>
            </a:pPr>
            <a:fld id="{5C66326D-F5A3-4E77-9C74-EE9EC6971FB7}"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Pool Based vs Stream Based</a:t>
            </a:r>
            <a:endParaRPr b="0" lang="en-US" sz="4400" spc="-1" strike="noStrike">
              <a:solidFill>
                <a:srgbClr val="000000"/>
              </a:solidFill>
              <a:latin typeface="Calibri"/>
            </a:endParaRPr>
          </a:p>
        </p:txBody>
      </p:sp>
      <p:sp>
        <p:nvSpPr>
          <p:cNvPr id="163" name="TextShape 2"/>
          <p:cNvSpPr txBox="1"/>
          <p:nvPr/>
        </p:nvSpPr>
        <p:spPr>
          <a:xfrm>
            <a:off x="838080" y="1617480"/>
            <a:ext cx="10515240" cy="2041200"/>
          </a:xfrm>
          <a:prstGeom prst="rect">
            <a:avLst/>
          </a:prstGeom>
          <a:noFill/>
          <a:ln>
            <a:noFill/>
          </a:ln>
        </p:spPr>
        <p:txBody>
          <a:bodyPr>
            <a:noAutofit/>
          </a:bodyPr>
          <a:p>
            <a:pPr marL="228600" indent="-228240">
              <a:lnSpc>
                <a:spcPct val="90000"/>
              </a:lnSpc>
              <a:spcBef>
                <a:spcPts val="1001"/>
              </a:spcBef>
              <a:buClr>
                <a:srgbClr val="000000"/>
              </a:buClr>
              <a:buFont typeface="Arial"/>
              <a:buChar char="•"/>
            </a:pPr>
            <a:r>
              <a:rPr b="0" lang="en-US" sz="1800" spc="-1" strike="noStrike">
                <a:solidFill>
                  <a:srgbClr val="000000"/>
                </a:solidFill>
                <a:latin typeface="Calibri"/>
              </a:rPr>
              <a:t>The main difference between stream-based and pool-based active learning is that the former scans through the data sequentially and makes query decisions individually, whereas the latter evaluates and ranks the entire collection before selecting the best query. </a:t>
            </a:r>
            <a:endParaRPr b="0" lang="en-US" sz="1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1800" spc="-1" strike="noStrike">
                <a:solidFill>
                  <a:srgbClr val="000000"/>
                </a:solidFill>
                <a:latin typeface="Calibri"/>
              </a:rPr>
              <a:t>While the pool-based scenario appears to be much more common among application papers, one can imagine settings where the stream based approach is more appropriate. For example, when memory or processing power may be limited, as with mobile and embedded devices.</a:t>
            </a:r>
            <a:endParaRPr b="0" lang="en-US" sz="1800" spc="-1" strike="noStrike">
              <a:solidFill>
                <a:srgbClr val="000000"/>
              </a:solidFill>
              <a:latin typeface="Calibri"/>
            </a:endParaRPr>
          </a:p>
        </p:txBody>
      </p:sp>
      <p:pic>
        <p:nvPicPr>
          <p:cNvPr id="164" name="Picture 4" descr=""/>
          <p:cNvPicPr/>
          <p:nvPr/>
        </p:nvPicPr>
        <p:blipFill>
          <a:blip r:embed="rId1"/>
          <a:stretch/>
        </p:blipFill>
        <p:spPr>
          <a:xfrm>
            <a:off x="3790800" y="3585600"/>
            <a:ext cx="3790440" cy="2907000"/>
          </a:xfrm>
          <a:prstGeom prst="rect">
            <a:avLst/>
          </a:prstGeom>
          <a:ln>
            <a:noFill/>
          </a:ln>
        </p:spPr>
      </p:pic>
      <p:sp>
        <p:nvSpPr>
          <p:cNvPr id="165" name="CustomShape 3"/>
          <p:cNvSpPr/>
          <p:nvPr/>
        </p:nvSpPr>
        <p:spPr>
          <a:xfrm>
            <a:off x="3543480" y="6581160"/>
            <a:ext cx="4819320" cy="6987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111111"/>
                </a:solidFill>
                <a:latin typeface="Roboto"/>
              </a:rPr>
              <a:t>Fig from Paper: Feedback-Driven Multiclass Active Learning for Data Streams</a:t>
            </a:r>
            <a:endParaRPr b="0" lang="en-US" sz="1000" spc="-1" strike="noStrike">
              <a:latin typeface="Arial"/>
            </a:endParaRPr>
          </a:p>
          <a:p>
            <a:pPr>
              <a:lnSpc>
                <a:spcPct val="100000"/>
              </a:lnSpc>
            </a:pPr>
            <a:br/>
            <a:endParaRPr b="0" lang="en-US" sz="1000" spc="-1" strike="noStrike">
              <a:latin typeface="Arial"/>
            </a:endParaRPr>
          </a:p>
        </p:txBody>
      </p:sp>
      <p:sp>
        <p:nvSpPr>
          <p:cNvPr id="166"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67"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FA9989E9-6FB5-455E-8A73-F580D5C1164E}"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Query Strategy Frameworks</a:t>
            </a:r>
            <a:endParaRPr b="0" lang="en-US" sz="4400" spc="-1" strike="noStrike">
              <a:solidFill>
                <a:srgbClr val="000000"/>
              </a:solidFill>
              <a:latin typeface="Calibri"/>
            </a:endParaRPr>
          </a:p>
        </p:txBody>
      </p:sp>
      <p:sp>
        <p:nvSpPr>
          <p:cNvPr id="169" name="TextShape 2"/>
          <p:cNvSpPr txBox="1"/>
          <p:nvPr/>
        </p:nvSpPr>
        <p:spPr>
          <a:xfrm>
            <a:off x="838080" y="1825560"/>
            <a:ext cx="10515240" cy="4350960"/>
          </a:xfrm>
          <a:prstGeom prst="rect">
            <a:avLst/>
          </a:prstGeom>
          <a:noFill/>
          <a:ln>
            <a:noFill/>
          </a:ln>
        </p:spPr>
        <p:txBody>
          <a:bodyPr>
            <a:normAutofit fontScale="18000"/>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Uncertainty Sampling</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an active learner queries the instances about which it is least certain how to label. This approach is often straightforward for probabilistic learning models. For example, when using a probabilistic model for binary classification, uncertainty sampling simply queries the instance whose posterior probability of being positive is nearest 0.5</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Uncertainty sampling strategies may also be employed with non-probabilistic classifiers. </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decision tree classifier, nearest-neighbor, SVM (that involves querying the instance closest to the linear decision boundary)</a:t>
            </a:r>
            <a:endParaRPr b="0" lang="en-US" sz="20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Query-By-Committee</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QBC approach involves maintaining a committee C = {clf1,clf2,…clf(n)} of models which are all trained on the current labeled set L, but represent competing hypotheses. Each committee member is then allowed to vote on the labelings of query candidates. The most informative query is considered to be the instance about which they most disagree.</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Expected Model Change</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It uses a decision-theoretic approach, selecting the instance that would impart the greatest change to the current model if we knew its label.</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E.g, “expected gradient length” (EGL) where the learner should query the instance x which, if labeled and added to L, would result in the new training gradient of the largest magnitude.</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intuition behind this framework is that it prefers instances that are likely to most influence the model (i.e., have greatest impact on its parameters), regardless of the resulting query label. </a:t>
            </a:r>
            <a:endParaRPr b="0" lang="en-US" sz="2400" spc="-1" strike="noStrike">
              <a:solidFill>
                <a:srgbClr val="000000"/>
              </a:solidFill>
              <a:latin typeface="Calibri"/>
            </a:endParaRPr>
          </a:p>
          <a:p>
            <a:pPr lvl="1" marL="685800" indent="-228240">
              <a:lnSpc>
                <a:spcPct val="90000"/>
              </a:lnSpc>
              <a:spcBef>
                <a:spcPts val="499"/>
              </a:spcBef>
              <a:buClr>
                <a:srgbClr val="ff0000"/>
              </a:buClr>
              <a:buFont typeface="Arial"/>
              <a:buChar char="•"/>
            </a:pPr>
            <a:r>
              <a:rPr b="1" lang="en-US" sz="2400" spc="-1" strike="noStrike">
                <a:solidFill>
                  <a:srgbClr val="ff0000"/>
                </a:solidFill>
                <a:latin typeface="Calibri"/>
              </a:rPr>
              <a:t>Calculate gradient</a:t>
            </a:r>
            <a:r>
              <a:rPr b="0" lang="en-US" sz="2400" spc="-1" strike="noStrike">
                <a:solidFill>
                  <a:srgbClr val="000000"/>
                </a:solidFill>
                <a:latin typeface="Calibri"/>
              </a:rPr>
              <a:t>? Read </a:t>
            </a:r>
            <a:r>
              <a:rPr b="0" lang="en-US" sz="2400" spc="-1" strike="noStrike" u="sng">
                <a:solidFill>
                  <a:srgbClr val="0563c1"/>
                </a:solidFill>
                <a:uFillTx/>
                <a:latin typeface="Calibri"/>
                <a:hlinkClick r:id="rId1"/>
              </a:rPr>
              <a:t>page</a:t>
            </a:r>
            <a:r>
              <a:rPr b="0" lang="en-US" sz="2400" spc="-1" strike="noStrike">
                <a:solidFill>
                  <a:srgbClr val="000000"/>
                </a:solidFill>
                <a:latin typeface="Calibri"/>
              </a:rPr>
              <a:t> 18, 19. Also see TensorFlow </a:t>
            </a:r>
            <a:r>
              <a:rPr b="0" lang="en-US" sz="2400" spc="-1" strike="noStrike" u="sng">
                <a:solidFill>
                  <a:srgbClr val="0563c1"/>
                </a:solidFill>
                <a:uFillTx/>
                <a:latin typeface="Calibri"/>
                <a:hlinkClick r:id="rId2"/>
              </a:rPr>
              <a:t>document</a:t>
            </a:r>
            <a:r>
              <a:rPr b="0" lang="en-US" sz="2400" spc="-1" strike="noStrike">
                <a:solidFill>
                  <a:srgbClr val="000000"/>
                </a:solidFill>
                <a:latin typeface="Calibri"/>
              </a:rPr>
              <a:t> </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Expected Error Reduction</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Variance Reduction</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Density-Weighted Methods</a:t>
            </a:r>
            <a:endParaRPr b="0" lang="en-US" sz="2800" spc="-1" strike="noStrike">
              <a:solidFill>
                <a:srgbClr val="000000"/>
              </a:solidFill>
              <a:latin typeface="Calibri"/>
            </a:endParaRPr>
          </a:p>
          <a:p>
            <a:pPr>
              <a:lnSpc>
                <a:spcPct val="90000"/>
              </a:lnSpc>
              <a:spcBef>
                <a:spcPts val="1001"/>
              </a:spcBef>
              <a:tabLst>
                <a:tab algn="l" pos="0"/>
              </a:tabLst>
            </a:pPr>
            <a:endParaRPr b="0" lang="en-US" sz="2800" spc="-1" strike="noStrike">
              <a:solidFill>
                <a:srgbClr val="000000"/>
              </a:solidFill>
              <a:latin typeface="Calibri"/>
            </a:endParaRPr>
          </a:p>
          <a:p>
            <a:endParaRPr b="0" lang="en-US" sz="2800" spc="-1" strike="noStrike">
              <a:solidFill>
                <a:srgbClr val="000000"/>
              </a:solidFill>
              <a:latin typeface="Calibri"/>
            </a:endParaRPr>
          </a:p>
        </p:txBody>
      </p:sp>
      <p:sp>
        <p:nvSpPr>
          <p:cNvPr id="170" name="CustomShape 3"/>
          <p:cNvSpPr/>
          <p:nvPr/>
        </p:nvSpPr>
        <p:spPr>
          <a:xfrm>
            <a:off x="0" y="6492960"/>
            <a:ext cx="60955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http://burrsettles.com/pub/settles.activelearning.pdf</a:t>
            </a:r>
            <a:endParaRPr b="0" lang="en-US" sz="1000" spc="-1" strike="noStrike">
              <a:latin typeface="Arial"/>
            </a:endParaRPr>
          </a:p>
        </p:txBody>
      </p:sp>
      <p:sp>
        <p:nvSpPr>
          <p:cNvPr id="171"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72"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3CC5261C-A059-4D86-8D6F-4BAD1369D214}"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How to Find Diverse Samples?</a:t>
            </a:r>
            <a:endParaRPr b="0" lang="en-US" sz="4400" spc="-1" strike="noStrike">
              <a:solidFill>
                <a:srgbClr val="000000"/>
              </a:solidFill>
              <a:latin typeface="Calibri"/>
            </a:endParaRPr>
          </a:p>
        </p:txBody>
      </p:sp>
      <p:sp>
        <p:nvSpPr>
          <p:cNvPr id="174" name="TextShape 2"/>
          <p:cNvSpPr txBox="1"/>
          <p:nvPr/>
        </p:nvSpPr>
        <p:spPr>
          <a:xfrm>
            <a:off x="414000" y="2936880"/>
            <a:ext cx="10863360" cy="3796920"/>
          </a:xfrm>
          <a:prstGeom prst="rect">
            <a:avLst/>
          </a:prstGeom>
          <a:noFill/>
          <a:ln>
            <a:noFill/>
          </a:ln>
        </p:spPr>
        <p:txBody>
          <a:bodyPr>
            <a:normAutofit fontScale="47000"/>
          </a:bodyPr>
          <a:p>
            <a:pPr marL="228600" indent="-228240">
              <a:lnSpc>
                <a:spcPct val="90000"/>
              </a:lnSpc>
              <a:spcBef>
                <a:spcPts val="1001"/>
              </a:spcBef>
              <a:buClr>
                <a:srgbClr val="ff0000"/>
              </a:buClr>
              <a:buFont typeface="Arial"/>
              <a:buChar char="•"/>
            </a:pPr>
            <a:r>
              <a:rPr b="1" lang="de-DE" sz="2800" spc="-1" strike="noStrike">
                <a:solidFill>
                  <a:srgbClr val="ff0000"/>
                </a:solidFill>
                <a:latin typeface="Calibri"/>
              </a:rPr>
              <a:t>Papar</a:t>
            </a:r>
            <a:r>
              <a:rPr b="0" lang="de-DE" sz="2800" spc="-1" strike="noStrike">
                <a:solidFill>
                  <a:srgbClr val="000000"/>
                </a:solidFill>
                <a:latin typeface="Calibri"/>
              </a:rPr>
              <a:t>: </a:t>
            </a:r>
            <a:r>
              <a:rPr b="1" lang="en-US" sz="2800" spc="-1" strike="noStrike">
                <a:solidFill>
                  <a:srgbClr val="000000"/>
                </a:solidFill>
                <a:latin typeface="Calibri"/>
              </a:rPr>
              <a:t>Active Learning Intrusion Detection using k-Means Clustering Selection IEEE 2017</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i="1" lang="en-US" sz="2800" spc="-1" strike="noStrike" u="sng">
                <a:solidFill>
                  <a:srgbClr val="000000"/>
                </a:solidFill>
                <a:uFillTx/>
                <a:latin typeface="Calibri"/>
              </a:rPr>
              <a:t>This papar provide a solution to select more diverse samples among those data poins which considered as low-confidence</a:t>
            </a:r>
            <a:r>
              <a:rPr b="0" lang="en-US" sz="2800" spc="-1" strike="noStrike">
                <a:solidFill>
                  <a:srgbClr val="000000"/>
                </a:solidFill>
                <a:latin typeface="Calibri"/>
              </a:rPr>
              <a:t>.</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second function of the active learning trainer is to create a diverse sample from the low-confidence dataset. ALIDS uses k-means clustering to select a diverse sample.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number of clusters used was equal to the number of samples selected for sending to the oracle. Thus each sample was taken from a cluster that represented records more like each other and less like the records in other clusters. This guaranteed a more diverse sample to present to the oracle than could be provided through random sampling.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use of k-means clustering allows for the preselection of the number of clusters and is computationally efficient for large datasets.</a:t>
            </a:r>
            <a:endParaRPr b="0" lang="en-US" sz="2400" spc="-1" strike="noStrike">
              <a:solidFill>
                <a:srgbClr val="000000"/>
              </a:solidFill>
              <a:latin typeface="Calibri"/>
            </a:endParaRPr>
          </a:p>
        </p:txBody>
      </p:sp>
      <p:pic>
        <p:nvPicPr>
          <p:cNvPr id="175" name="Picture 4" descr=""/>
          <p:cNvPicPr/>
          <p:nvPr/>
        </p:nvPicPr>
        <p:blipFill>
          <a:blip r:embed="rId1"/>
          <a:stretch/>
        </p:blipFill>
        <p:spPr>
          <a:xfrm>
            <a:off x="8029440" y="0"/>
            <a:ext cx="4161960" cy="2695320"/>
          </a:xfrm>
          <a:prstGeom prst="rect">
            <a:avLst/>
          </a:prstGeom>
          <a:ln>
            <a:noFill/>
          </a:ln>
        </p:spPr>
      </p:pic>
      <p:sp>
        <p:nvSpPr>
          <p:cNvPr id="176"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77"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68C8FDF6-2E9D-4B8B-98DA-8A0BA8128293}"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Picture 6" descr=""/>
          <p:cNvPicPr/>
          <p:nvPr/>
        </p:nvPicPr>
        <p:blipFill>
          <a:blip r:embed="rId1"/>
          <a:stretch/>
        </p:blipFill>
        <p:spPr>
          <a:xfrm>
            <a:off x="1311480" y="960480"/>
            <a:ext cx="9106560" cy="5384520"/>
          </a:xfrm>
          <a:prstGeom prst="rect">
            <a:avLst/>
          </a:prstGeom>
          <a:ln>
            <a:noFill/>
          </a:ln>
        </p:spPr>
      </p:pic>
      <p:sp>
        <p:nvSpPr>
          <p:cNvPr id="179" name="CustomShape 1"/>
          <p:cNvSpPr/>
          <p:nvPr/>
        </p:nvSpPr>
        <p:spPr>
          <a:xfrm>
            <a:off x="0" y="6513840"/>
            <a:ext cx="746280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alibri"/>
              </a:rPr>
              <a:t>https://edithlaw.ca/teaching/cs480/w19/lectures/12-active-learning.pdf</a:t>
            </a:r>
            <a:endParaRPr b="0" lang="en-US" sz="1800" spc="-1" strike="noStrike">
              <a:latin typeface="Arial"/>
            </a:endParaRPr>
          </a:p>
        </p:txBody>
      </p:sp>
      <p:sp>
        <p:nvSpPr>
          <p:cNvPr id="180" name="CustomShape 2"/>
          <p:cNvSpPr/>
          <p:nvPr/>
        </p:nvSpPr>
        <p:spPr>
          <a:xfrm>
            <a:off x="-167400" y="591120"/>
            <a:ext cx="779796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1" lang="en-US" sz="1800" spc="-1" strike="noStrike">
                <a:solidFill>
                  <a:srgbClr val="ff0000"/>
                </a:solidFill>
                <a:latin typeface="Calibri"/>
              </a:rPr>
              <a:t>How to have the best choose among uncertainty samples? </a:t>
            </a:r>
            <a:endParaRPr b="0" lang="en-US" sz="1800" spc="-1" strike="noStrike">
              <a:latin typeface="Arial"/>
            </a:endParaRPr>
          </a:p>
        </p:txBody>
      </p:sp>
      <p:sp>
        <p:nvSpPr>
          <p:cNvPr id="181"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82"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3B6CD219-2481-4195-95E2-90BA502103CC}"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TextShape 1"/>
          <p:cNvSpPr txBox="1"/>
          <p:nvPr/>
        </p:nvSpPr>
        <p:spPr>
          <a:xfrm>
            <a:off x="838080" y="365040"/>
            <a:ext cx="10515240" cy="1325160"/>
          </a:xfrm>
          <a:prstGeom prst="rect">
            <a:avLst/>
          </a:prstGeom>
          <a:noFill/>
          <a:ln>
            <a:noFill/>
          </a:ln>
        </p:spPr>
        <p:txBody>
          <a:bodyPr anchor="ctr">
            <a:normAutofit fontScale="94000"/>
          </a:bodyPr>
          <a:p>
            <a:pPr>
              <a:lnSpc>
                <a:spcPct val="90000"/>
              </a:lnSpc>
            </a:pPr>
            <a:r>
              <a:rPr b="1" lang="de-DE" sz="3200" spc="-1" strike="noStrike">
                <a:solidFill>
                  <a:srgbClr val="000000"/>
                </a:solidFill>
                <a:latin typeface="Calibri Light"/>
              </a:rPr>
              <a:t>Paper</a:t>
            </a:r>
            <a:r>
              <a:rPr b="0" lang="de-DE" sz="3200" spc="-1" strike="noStrike">
                <a:solidFill>
                  <a:srgbClr val="000000"/>
                </a:solidFill>
                <a:latin typeface="Calibri Light"/>
              </a:rPr>
              <a:t>: </a:t>
            </a:r>
            <a:r>
              <a:rPr b="0" lang="en-US" sz="3200" spc="-1" strike="noStrike">
                <a:solidFill>
                  <a:srgbClr val="000000"/>
                </a:solidFill>
                <a:latin typeface="Calibri Light"/>
              </a:rPr>
              <a:t>Uncertainty Sampling Based Active Learning with Diversity Constraint by Sparse Selection </a:t>
            </a:r>
            <a:r>
              <a:rPr b="0" lang="de-DE" sz="3200" spc="-1" strike="noStrike">
                <a:solidFill>
                  <a:srgbClr val="000000"/>
                </a:solidFill>
                <a:latin typeface="Calibri Light"/>
              </a:rPr>
              <a:t> </a:t>
            </a:r>
            <a:endParaRPr b="0" lang="en-US" sz="3200" spc="-1" strike="noStrike">
              <a:solidFill>
                <a:srgbClr val="000000"/>
              </a:solidFill>
              <a:latin typeface="Calibri"/>
            </a:endParaRPr>
          </a:p>
        </p:txBody>
      </p:sp>
      <p:sp>
        <p:nvSpPr>
          <p:cNvPr id="184" name="TextShape 2"/>
          <p:cNvSpPr txBox="1"/>
          <p:nvPr/>
        </p:nvSpPr>
        <p:spPr>
          <a:xfrm>
            <a:off x="838080" y="1825560"/>
            <a:ext cx="11096280" cy="2698560"/>
          </a:xfrm>
          <a:prstGeom prst="rect">
            <a:avLst/>
          </a:prstGeom>
          <a:noFill/>
          <a:ln>
            <a:noFill/>
          </a:ln>
        </p:spPr>
        <p:txBody>
          <a:bodyPr>
            <a:normAutofit fontScale="21000"/>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Problem: Choose uncertainty samples to be queried. This paper considered:</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Uncertainty Measure Design</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Choose the most uncertain samples from the unlabeled data pool to label. They used SVM to measure uncertainty score, see formula</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Active Learning via Sparse Selection Modeling</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Given uncertainty scores generated from the classifiers, we would like to select the most informative samples for a query. The simplest selection strategy is that we always select the samples up to the batch size </a:t>
            </a:r>
            <a:r>
              <a:rPr b="0" lang="hi-IN" sz="2400" spc="-1" strike="noStrike">
                <a:solidFill>
                  <a:srgbClr val="000000"/>
                </a:solidFill>
                <a:latin typeface="Calibri"/>
              </a:rPr>
              <a:t>ܤ</a:t>
            </a:r>
            <a:r>
              <a:rPr b="0" lang="en-US" sz="2400" spc="-1" strike="noStrike">
                <a:solidFill>
                  <a:srgbClr val="000000"/>
                </a:solidFill>
                <a:latin typeface="Calibri"/>
              </a:rPr>
              <a:t> ௤</a:t>
            </a:r>
            <a:r>
              <a:rPr b="0" lang="en-US" sz="2400" spc="-1" strike="noStrike">
                <a:solidFill>
                  <a:srgbClr val="000000"/>
                </a:solidFill>
                <a:latin typeface="Calibri"/>
              </a:rPr>
              <a:t>with the largest uncertainty scores.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However, this strategy ignores the relations among the pooled unlabeled samples. Sometimes the samples with top uncertainties are very similar to each other. Selecting all of such samples may obtain the same information as selecting just one sample. In other words, similar samples should not be selected at the same batch and diverse samples are needed for a query.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we want to make sure that only one sample among similar samples have large uncertainty and the uncertainties from other samples become smaller.</a:t>
            </a:r>
            <a:endParaRPr b="0" lang="en-US" sz="2400" spc="-1" strike="noStrike">
              <a:solidFill>
                <a:srgbClr val="000000"/>
              </a:solidFill>
              <a:latin typeface="Calibri"/>
            </a:endParaRPr>
          </a:p>
          <a:p>
            <a:endParaRPr b="0" lang="en-US" sz="2400" spc="-1" strike="noStrike">
              <a:solidFill>
                <a:srgbClr val="000000"/>
              </a:solidFill>
              <a:latin typeface="Calibri"/>
            </a:endParaRPr>
          </a:p>
        </p:txBody>
      </p:sp>
      <p:pic>
        <p:nvPicPr>
          <p:cNvPr id="185" name="Picture 4" descr=""/>
          <p:cNvPicPr/>
          <p:nvPr/>
        </p:nvPicPr>
        <p:blipFill>
          <a:blip r:embed="rId1"/>
          <a:srcRect l="11350" t="0" r="0" b="15574"/>
          <a:stretch/>
        </p:blipFill>
        <p:spPr>
          <a:xfrm>
            <a:off x="7448040" y="4386240"/>
            <a:ext cx="4486320" cy="2471400"/>
          </a:xfrm>
          <a:prstGeom prst="rect">
            <a:avLst/>
          </a:prstGeom>
          <a:ln>
            <a:noFill/>
          </a:ln>
        </p:spPr>
      </p:pic>
      <p:sp>
        <p:nvSpPr>
          <p:cNvPr id="186" name="CustomShape 3"/>
          <p:cNvSpPr/>
          <p:nvPr/>
        </p:nvSpPr>
        <p:spPr>
          <a:xfrm>
            <a:off x="0" y="6642720"/>
            <a:ext cx="6095520" cy="212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800" spc="-1" strike="noStrike">
                <a:solidFill>
                  <a:srgbClr val="000000"/>
                </a:solidFill>
                <a:latin typeface="Calibri"/>
              </a:rPr>
              <a:t>https://ieeexplore.ieee.org/stamp/stamp.jsp?tp=&amp;arnumber=8122269&amp;tag=1</a:t>
            </a:r>
            <a:endParaRPr b="0" lang="en-US" sz="800" spc="-1" strike="noStrike">
              <a:latin typeface="Arial"/>
            </a:endParaRPr>
          </a:p>
        </p:txBody>
      </p:sp>
      <p:sp>
        <p:nvSpPr>
          <p:cNvPr id="187" name="CustomShape 4"/>
          <p:cNvSpPr/>
          <p:nvPr/>
        </p:nvSpPr>
        <p:spPr>
          <a:xfrm>
            <a:off x="-171720" y="4937040"/>
            <a:ext cx="6911280" cy="63900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1" lang="de-DE" sz="1800" spc="-1" strike="noStrike">
                <a:solidFill>
                  <a:srgbClr val="ff0000"/>
                </a:solidFill>
                <a:latin typeface="Calibri"/>
              </a:rPr>
              <a:t>How to find out closest samples to svm hyperplane?</a:t>
            </a:r>
            <a:endParaRPr b="0" lang="en-US" sz="1800" spc="-1" strike="noStrike">
              <a:latin typeface="Arial"/>
            </a:endParaRPr>
          </a:p>
          <a:p>
            <a:pPr>
              <a:lnSpc>
                <a:spcPct val="100000"/>
              </a:lnSpc>
            </a:pPr>
            <a:r>
              <a:rPr b="0" lang="en-US" sz="1800" spc="-1" strike="noStrike">
                <a:solidFill>
                  <a:srgbClr val="000000"/>
                </a:solidFill>
                <a:latin typeface="Calibri"/>
              </a:rPr>
              <a:t>This </a:t>
            </a:r>
            <a:r>
              <a:rPr b="0" lang="en-US" sz="1800" spc="-1" strike="noStrike" u="sng">
                <a:solidFill>
                  <a:srgbClr val="0563c1"/>
                </a:solidFill>
                <a:uFillTx/>
                <a:latin typeface="Calibri"/>
                <a:hlinkClick r:id="rId2"/>
              </a:rPr>
              <a:t>link</a:t>
            </a:r>
            <a:r>
              <a:rPr b="0" lang="en-US" sz="1800" spc="-1" strike="noStrike">
                <a:solidFill>
                  <a:srgbClr val="000000"/>
                </a:solidFill>
                <a:latin typeface="Calibri"/>
              </a:rPr>
              <a:t> helps</a:t>
            </a:r>
            <a:endParaRPr b="0" lang="en-US" sz="1800" spc="-1" strike="noStrike">
              <a:latin typeface="Arial"/>
            </a:endParaRPr>
          </a:p>
        </p:txBody>
      </p:sp>
      <p:sp>
        <p:nvSpPr>
          <p:cNvPr id="188" name="TextShape 5"/>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89" name="TextShape 6"/>
          <p:cNvSpPr txBox="1"/>
          <p:nvPr/>
        </p:nvSpPr>
        <p:spPr>
          <a:xfrm>
            <a:off x="8610480" y="6356520"/>
            <a:ext cx="2742840" cy="364680"/>
          </a:xfrm>
          <a:prstGeom prst="rect">
            <a:avLst/>
          </a:prstGeom>
          <a:noFill/>
          <a:ln>
            <a:noFill/>
          </a:ln>
        </p:spPr>
        <p:txBody>
          <a:bodyPr anchor="ctr">
            <a:noAutofit/>
          </a:bodyPr>
          <a:p>
            <a:pPr algn="r">
              <a:lnSpc>
                <a:spcPct val="100000"/>
              </a:lnSpc>
            </a:pPr>
            <a:fld id="{4B5CC798-62AA-4E4D-B047-C8702E8D3BFF}"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Emprical Analysis of Acrive Learning</a:t>
            </a:r>
            <a:endParaRPr b="0" lang="en-US" sz="4400" spc="-1" strike="noStrike">
              <a:solidFill>
                <a:srgbClr val="000000"/>
              </a:solidFill>
              <a:latin typeface="Calibri"/>
            </a:endParaRPr>
          </a:p>
        </p:txBody>
      </p:sp>
      <p:sp>
        <p:nvSpPr>
          <p:cNvPr id="191"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An important question is: “</a:t>
            </a:r>
            <a:r>
              <a:rPr b="0" lang="en-US" sz="2800" spc="-1" strike="noStrike">
                <a:solidFill>
                  <a:srgbClr val="ff0000"/>
                </a:solidFill>
                <a:latin typeface="Calibri"/>
              </a:rPr>
              <a:t>does active learning work?</a:t>
            </a:r>
            <a:r>
              <a:rPr b="0" lang="en-US" sz="2800" spc="-1" strike="noStrike">
                <a:solidFill>
                  <a:srgbClr val="000000"/>
                </a:solidFill>
                <a:latin typeface="Calibri"/>
              </a:rPr>
              <a:t>” Most of the empirical results in the published literature suggest that it does (e.g., the majority of papers in the bibliography of this survey).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Furthermore, consider that software companies and large-scale research projects such as CiteSeer, Google, IBM, Microsoft, and Siemens are increasingly using active learning technologies in a variety of real world applications2</a:t>
            </a:r>
            <a:endParaRPr b="0" lang="en-US" sz="2800" spc="-1" strike="noStrike">
              <a:solidFill>
                <a:srgbClr val="000000"/>
              </a:solidFill>
              <a:latin typeface="Calibri"/>
            </a:endParaRPr>
          </a:p>
        </p:txBody>
      </p:sp>
      <p:sp>
        <p:nvSpPr>
          <p:cNvPr id="192"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93"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706485A4-D4C7-4A5C-9D75-ABC848661BE7}"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Real Challenges in practice</a:t>
            </a:r>
            <a:endParaRPr b="0" lang="en-US" sz="4400" spc="-1" strike="noStrike">
              <a:solidFill>
                <a:srgbClr val="000000"/>
              </a:solidFill>
              <a:latin typeface="Calibri"/>
            </a:endParaRPr>
          </a:p>
        </p:txBody>
      </p:sp>
      <p:sp>
        <p:nvSpPr>
          <p:cNvPr id="195" name="TextShape 2"/>
          <p:cNvSpPr txBox="1"/>
          <p:nvPr/>
        </p:nvSpPr>
        <p:spPr>
          <a:xfrm>
            <a:off x="838080" y="1825560"/>
            <a:ext cx="10515240" cy="4350960"/>
          </a:xfrm>
          <a:prstGeom prst="rect">
            <a:avLst/>
          </a:prstGeom>
          <a:noFill/>
          <a:ln>
            <a:noFill/>
          </a:ln>
        </p:spPr>
        <p:txBody>
          <a:bodyPr>
            <a:no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As a result, the research question for active learning has shifted in recent years to “</a:t>
            </a:r>
            <a:r>
              <a:rPr b="1" lang="en-US" sz="2800" spc="-1" strike="noStrike">
                <a:solidFill>
                  <a:srgbClr val="ff0000"/>
                </a:solidFill>
                <a:latin typeface="Calibri"/>
              </a:rPr>
              <a:t>can machines learn more </a:t>
            </a:r>
            <a:r>
              <a:rPr b="1" lang="en-US" sz="2800" spc="-1" strike="noStrike" u="sng">
                <a:solidFill>
                  <a:srgbClr val="ff0000"/>
                </a:solidFill>
                <a:uFillTx/>
                <a:latin typeface="Calibri"/>
              </a:rPr>
              <a:t>economically</a:t>
            </a:r>
            <a:r>
              <a:rPr b="1" lang="en-US" sz="2800" spc="-1" strike="noStrike">
                <a:solidFill>
                  <a:srgbClr val="ff0000"/>
                </a:solidFill>
                <a:latin typeface="Calibri"/>
              </a:rPr>
              <a:t> if they ask questions</a:t>
            </a:r>
            <a:r>
              <a:rPr b="0" lang="en-US" sz="2800" spc="-1" strike="noStrike">
                <a:solidFill>
                  <a:srgbClr val="000000"/>
                </a:solidFill>
                <a:latin typeface="Calibri"/>
              </a:rPr>
              <a:t>?” </a:t>
            </a:r>
            <a:endParaRPr b="0" lang="en-US" sz="2800" spc="-1" strike="noStrike">
              <a:solidFill>
                <a:srgbClr val="000000"/>
              </a:solidFill>
              <a:latin typeface="Calibri"/>
            </a:endParaRPr>
          </a:p>
          <a:p>
            <a:pPr>
              <a:lnSpc>
                <a:spcPct val="90000"/>
              </a:lnSpc>
              <a:spcBef>
                <a:spcPts val="1001"/>
              </a:spcBef>
            </a:pPr>
            <a:endParaRPr b="0" lang="en-US" sz="2800" spc="-1" strike="noStrike">
              <a:solidFill>
                <a:srgbClr val="000000"/>
              </a:solidFill>
              <a:latin typeface="Calibri"/>
            </a:endParaRPr>
          </a:p>
        </p:txBody>
      </p:sp>
      <p:sp>
        <p:nvSpPr>
          <p:cNvPr id="196"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197"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AFA059C1-FB49-48EE-9519-374838B58F6C}"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Deep Active Learning</a:t>
            </a:r>
            <a:endParaRPr b="0" lang="en-US" sz="4400" spc="-1" strike="noStrike">
              <a:solidFill>
                <a:srgbClr val="000000"/>
              </a:solidFill>
              <a:latin typeface="Calibri"/>
            </a:endParaRPr>
          </a:p>
        </p:txBody>
      </p:sp>
      <p:sp>
        <p:nvSpPr>
          <p:cNvPr id="199" name="CustomShape 2"/>
          <p:cNvSpPr/>
          <p:nvPr/>
        </p:nvSpPr>
        <p:spPr>
          <a:xfrm>
            <a:off x="-73080" y="6611760"/>
            <a:ext cx="609408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LinBiolinumT"/>
              </a:rPr>
              <a:t>Paper:A Survey of Deep Active Learning</a:t>
            </a:r>
            <a:endParaRPr b="0" lang="en-US" sz="1000" spc="-1" strike="noStrike">
              <a:latin typeface="Arial"/>
            </a:endParaRPr>
          </a:p>
        </p:txBody>
      </p:sp>
      <p:pic>
        <p:nvPicPr>
          <p:cNvPr id="200" name="Picture 6" descr=""/>
          <p:cNvPicPr/>
          <p:nvPr/>
        </p:nvPicPr>
        <p:blipFill>
          <a:blip r:embed="rId1"/>
          <a:stretch/>
        </p:blipFill>
        <p:spPr>
          <a:xfrm>
            <a:off x="411120" y="1840320"/>
            <a:ext cx="11220120" cy="3723840"/>
          </a:xfrm>
          <a:prstGeom prst="rect">
            <a:avLst/>
          </a:prstGeom>
          <a:ln>
            <a:noFill/>
          </a:ln>
        </p:spPr>
      </p:pic>
      <p:sp>
        <p:nvSpPr>
          <p:cNvPr id="201" name="CustomShape 3"/>
          <p:cNvSpPr/>
          <p:nvPr/>
        </p:nvSpPr>
        <p:spPr>
          <a:xfrm>
            <a:off x="3450600" y="5379840"/>
            <a:ext cx="613296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LinBiolinumT"/>
              </a:rPr>
              <a:t>A typical example of deep active learning</a:t>
            </a:r>
            <a:endParaRPr b="0" lang="en-US" sz="1800" spc="-1" strike="noStrike">
              <a:latin typeface="Arial"/>
            </a:endParaRPr>
          </a:p>
        </p:txBody>
      </p:sp>
      <p:sp>
        <p:nvSpPr>
          <p:cNvPr id="202" name="TextShape 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203" name="TextShape 5"/>
          <p:cNvSpPr txBox="1"/>
          <p:nvPr/>
        </p:nvSpPr>
        <p:spPr>
          <a:xfrm>
            <a:off x="8610480" y="6356520"/>
            <a:ext cx="2742840" cy="364680"/>
          </a:xfrm>
          <a:prstGeom prst="rect">
            <a:avLst/>
          </a:prstGeom>
          <a:noFill/>
          <a:ln>
            <a:noFill/>
          </a:ln>
        </p:spPr>
        <p:txBody>
          <a:bodyPr anchor="ctr">
            <a:noAutofit/>
          </a:bodyPr>
          <a:p>
            <a:pPr algn="r">
              <a:lnSpc>
                <a:spcPct val="100000"/>
              </a:lnSpc>
            </a:pPr>
            <a:fld id="{12068466-AF84-4D0A-B769-EE8B539BD73B}"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TextShape 1"/>
          <p:cNvSpPr txBox="1"/>
          <p:nvPr/>
        </p:nvSpPr>
        <p:spPr>
          <a:xfrm>
            <a:off x="838080" y="1680120"/>
            <a:ext cx="10515240" cy="1325160"/>
          </a:xfrm>
          <a:prstGeom prst="rect">
            <a:avLst/>
          </a:prstGeom>
          <a:noFill/>
          <a:ln>
            <a:noFill/>
          </a:ln>
        </p:spPr>
        <p:txBody>
          <a:bodyPr anchor="ctr">
            <a:noAutofit/>
          </a:bodyPr>
          <a:p>
            <a:pPr algn="ctr">
              <a:lnSpc>
                <a:spcPct val="90000"/>
              </a:lnSpc>
            </a:pPr>
            <a:r>
              <a:rPr b="0" lang="en-US" sz="4400" spc="-1" strike="noStrike">
                <a:solidFill>
                  <a:srgbClr val="000000"/>
                </a:solidFill>
                <a:latin typeface="Calibri Light"/>
              </a:rPr>
              <a:t>Our</a:t>
            </a:r>
            <a:r>
              <a:rPr b="0" lang="de-DE" sz="4400" spc="-1" strike="noStrike">
                <a:solidFill>
                  <a:srgbClr val="000000"/>
                </a:solidFill>
                <a:latin typeface="Calibri Light"/>
              </a:rPr>
              <a:t> Scenario</a:t>
            </a:r>
            <a:endParaRPr b="0" lang="en-US" sz="4400" spc="-1" strike="noStrike">
              <a:solidFill>
                <a:srgbClr val="000000"/>
              </a:solidFill>
              <a:latin typeface="Calibri"/>
            </a:endParaRPr>
          </a:p>
        </p:txBody>
      </p:sp>
      <p:pic>
        <p:nvPicPr>
          <p:cNvPr id="205" name="Picture 2" descr=""/>
          <p:cNvPicPr/>
          <p:nvPr/>
        </p:nvPicPr>
        <p:blipFill>
          <a:blip r:embed="rId1"/>
          <a:stretch/>
        </p:blipFill>
        <p:spPr>
          <a:xfrm>
            <a:off x="3609000" y="3852000"/>
            <a:ext cx="4663800" cy="2595960"/>
          </a:xfrm>
          <a:prstGeom prst="rect">
            <a:avLst/>
          </a:prstGeom>
          <a:ln>
            <a:noFill/>
          </a:ln>
        </p:spPr>
      </p:pic>
      <p:sp>
        <p:nvSpPr>
          <p:cNvPr id="206" name="TextShape 2"/>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207" name="TextShape 3"/>
          <p:cNvSpPr txBox="1"/>
          <p:nvPr/>
        </p:nvSpPr>
        <p:spPr>
          <a:xfrm>
            <a:off x="8610480" y="6356520"/>
            <a:ext cx="2742840" cy="364680"/>
          </a:xfrm>
          <a:prstGeom prst="rect">
            <a:avLst/>
          </a:prstGeom>
          <a:noFill/>
          <a:ln>
            <a:noFill/>
          </a:ln>
        </p:spPr>
        <p:txBody>
          <a:bodyPr anchor="ctr">
            <a:noAutofit/>
          </a:bodyPr>
          <a:p>
            <a:pPr algn="r">
              <a:lnSpc>
                <a:spcPct val="100000"/>
              </a:lnSpc>
            </a:pPr>
            <a:fld id="{8CBF2D79-F95D-4834-8621-7F67687C6718}"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TextShape 1"/>
          <p:cNvSpPr txBox="1"/>
          <p:nvPr/>
        </p:nvSpPr>
        <p:spPr>
          <a:xfrm>
            <a:off x="363240" y="-20052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Active Learning with </a:t>
            </a:r>
            <a:r>
              <a:rPr b="1" lang="en-US" sz="4400" spc="-1" strike="noStrike">
                <a:solidFill>
                  <a:srgbClr val="ff0000"/>
                </a:solidFill>
                <a:latin typeface="Calibri Light"/>
              </a:rPr>
              <a:t>SVM</a:t>
            </a:r>
            <a:endParaRPr b="0" lang="en-US" sz="4400" spc="-1" strike="noStrike">
              <a:solidFill>
                <a:srgbClr val="000000"/>
              </a:solidFill>
              <a:latin typeface="Calibri"/>
            </a:endParaRPr>
          </a:p>
        </p:txBody>
      </p:sp>
      <p:grpSp>
        <p:nvGrpSpPr>
          <p:cNvPr id="209" name="Group 2"/>
          <p:cNvGrpSpPr/>
          <p:nvPr/>
        </p:nvGrpSpPr>
        <p:grpSpPr>
          <a:xfrm>
            <a:off x="8131320" y="6183360"/>
            <a:ext cx="378720" cy="317880"/>
            <a:chOff x="8131320" y="6183360"/>
            <a:chExt cx="378720" cy="317880"/>
          </a:xfrm>
        </p:grpSpPr>
        <p:sp>
          <p:nvSpPr>
            <p:cNvPr id="210" name="CustomShape 3"/>
            <p:cNvSpPr/>
            <p:nvPr/>
          </p:nvSpPr>
          <p:spPr>
            <a:xfrm>
              <a:off x="8131320" y="624888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211" name="CustomShape 4"/>
            <p:cNvSpPr/>
            <p:nvPr/>
          </p:nvSpPr>
          <p:spPr>
            <a:xfrm>
              <a:off x="8237160" y="618336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212" name="CustomShape 5"/>
          <p:cNvSpPr/>
          <p:nvPr/>
        </p:nvSpPr>
        <p:spPr>
          <a:xfrm>
            <a:off x="3902400" y="504864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213" name="CustomShape 6"/>
          <p:cNvSpPr/>
          <p:nvPr/>
        </p:nvSpPr>
        <p:spPr>
          <a:xfrm>
            <a:off x="6624360" y="5247720"/>
            <a:ext cx="710280" cy="441360"/>
          </a:xfrm>
          <a:prstGeom prst="roundRect">
            <a:avLst>
              <a:gd name="adj" fmla="val 16667"/>
            </a:avLst>
          </a:prstGeom>
          <a:ln w="3168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SVM</a:t>
            </a:r>
            <a:endParaRPr b="0" lang="en-US" sz="1800" spc="-1" strike="noStrike">
              <a:latin typeface="Arial"/>
            </a:endParaRPr>
          </a:p>
        </p:txBody>
      </p:sp>
      <p:sp>
        <p:nvSpPr>
          <p:cNvPr id="214" name="CustomShape 7"/>
          <p:cNvSpPr/>
          <p:nvPr/>
        </p:nvSpPr>
        <p:spPr>
          <a:xfrm flipV="1">
            <a:off x="4963320" y="5468040"/>
            <a:ext cx="1660680" cy="151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15" name="CustomShape 8"/>
          <p:cNvSpPr/>
          <p:nvPr/>
        </p:nvSpPr>
        <p:spPr>
          <a:xfrm>
            <a:off x="7335360" y="5468400"/>
            <a:ext cx="949680" cy="72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pic>
        <p:nvPicPr>
          <p:cNvPr id="216" name="Picture 2" descr="33,559 BEST Admin Icon IMAGES, STOCK PHOTOS &amp;amp; VECTORS | Adobe Stock"/>
          <p:cNvPicPr/>
          <p:nvPr/>
        </p:nvPicPr>
        <p:blipFill>
          <a:blip r:embed="rId1"/>
          <a:srcRect l="33839" t="15814" r="33327" b="16240"/>
          <a:stretch/>
        </p:blipFill>
        <p:spPr>
          <a:xfrm>
            <a:off x="11517840" y="5057640"/>
            <a:ext cx="630000" cy="782640"/>
          </a:xfrm>
          <a:prstGeom prst="rect">
            <a:avLst/>
          </a:prstGeom>
          <a:ln>
            <a:noFill/>
          </a:ln>
        </p:spPr>
      </p:pic>
      <p:sp>
        <p:nvSpPr>
          <p:cNvPr id="217" name="CustomShape 9"/>
          <p:cNvSpPr/>
          <p:nvPr/>
        </p:nvSpPr>
        <p:spPr>
          <a:xfrm flipV="1">
            <a:off x="9278280" y="5468400"/>
            <a:ext cx="695160" cy="72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218" name="Group 10"/>
          <p:cNvGrpSpPr/>
          <p:nvPr/>
        </p:nvGrpSpPr>
        <p:grpSpPr>
          <a:xfrm>
            <a:off x="8285400" y="5041080"/>
            <a:ext cx="992520" cy="904680"/>
            <a:chOff x="8285400" y="5041080"/>
            <a:chExt cx="992520" cy="904680"/>
          </a:xfrm>
        </p:grpSpPr>
        <p:sp>
          <p:nvSpPr>
            <p:cNvPr id="219" name="CustomShape 11"/>
            <p:cNvSpPr/>
            <p:nvPr/>
          </p:nvSpPr>
          <p:spPr>
            <a:xfrm>
              <a:off x="8285400" y="5041080"/>
              <a:ext cx="992520" cy="870120"/>
            </a:xfrm>
            <a:prstGeom prst="rect">
              <a:avLst/>
            </a:prstGeom>
            <a:ln w="25560"/>
          </p:spPr>
          <p:style>
            <a:lnRef idx="2">
              <a:schemeClr val="accent1"/>
            </a:lnRef>
            <a:fillRef idx="1">
              <a:schemeClr val="lt1"/>
            </a:fillRef>
            <a:effectRef idx="0">
              <a:schemeClr val="accent1"/>
            </a:effectRef>
            <a:fontRef idx="minor"/>
          </p:style>
        </p:sp>
        <p:sp>
          <p:nvSpPr>
            <p:cNvPr id="220" name="CustomShape 12"/>
            <p:cNvSpPr/>
            <p:nvPr/>
          </p:nvSpPr>
          <p:spPr>
            <a:xfrm>
              <a:off x="8285400" y="536616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221" name="CustomShape 13"/>
            <p:cNvSpPr/>
            <p:nvPr/>
          </p:nvSpPr>
          <p:spPr>
            <a:xfrm>
              <a:off x="8285400" y="504108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222" name="CustomShape 14"/>
          <p:cNvSpPr/>
          <p:nvPr/>
        </p:nvSpPr>
        <p:spPr>
          <a:xfrm flipV="1" rot="16200000">
            <a:off x="8551080" y="3111120"/>
            <a:ext cx="757440" cy="309348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223" name="CustomShape 15"/>
          <p:cNvSpPr/>
          <p:nvPr/>
        </p:nvSpPr>
        <p:spPr>
          <a:xfrm>
            <a:off x="7951320" y="554616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224" name="CustomShape 16"/>
          <p:cNvSpPr/>
          <p:nvPr/>
        </p:nvSpPr>
        <p:spPr>
          <a:xfrm>
            <a:off x="7961040" y="510660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225" name="CustomShape 17"/>
          <p:cNvSpPr/>
          <p:nvPr/>
        </p:nvSpPr>
        <p:spPr>
          <a:xfrm>
            <a:off x="9973800" y="503712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226" name="CustomShape 18"/>
          <p:cNvSpPr/>
          <p:nvPr/>
        </p:nvSpPr>
        <p:spPr>
          <a:xfrm flipV="1">
            <a:off x="10979640" y="5448240"/>
            <a:ext cx="537840" cy="190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27" name="CustomShape 19"/>
          <p:cNvSpPr/>
          <p:nvPr/>
        </p:nvSpPr>
        <p:spPr>
          <a:xfrm>
            <a:off x="10692000" y="532980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228" name="CustomShape 20"/>
          <p:cNvSpPr/>
          <p:nvPr/>
        </p:nvSpPr>
        <p:spPr>
          <a:xfrm>
            <a:off x="10317600" y="501372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229" name="CustomShape 21"/>
          <p:cNvSpPr/>
          <p:nvPr/>
        </p:nvSpPr>
        <p:spPr>
          <a:xfrm>
            <a:off x="6568560" y="405864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230" name="CustomShape 22"/>
          <p:cNvSpPr/>
          <p:nvPr/>
        </p:nvSpPr>
        <p:spPr>
          <a:xfrm>
            <a:off x="6975720" y="450000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31" name="CustomShape 23"/>
          <p:cNvSpPr/>
          <p:nvPr/>
        </p:nvSpPr>
        <p:spPr>
          <a:xfrm flipV="1" rot="16200000">
            <a:off x="8904960" y="2129400"/>
            <a:ext cx="998640" cy="4856760"/>
          </a:xfrm>
          <a:prstGeom prst="bentConnector3">
            <a:avLst>
              <a:gd name="adj1" fmla="val 122884"/>
            </a:avLst>
          </a:prstGeom>
          <a:noFill/>
          <a:ln>
            <a:tailEnd len="med" type="triangle" w="med"/>
          </a:ln>
        </p:spPr>
        <p:style>
          <a:lnRef idx="1">
            <a:schemeClr val="accent1"/>
          </a:lnRef>
          <a:fillRef idx="0">
            <a:schemeClr val="accent1"/>
          </a:fillRef>
          <a:effectRef idx="0">
            <a:schemeClr val="accent1"/>
          </a:effectRef>
          <a:fontRef idx="minor"/>
        </p:style>
      </p:sp>
      <p:sp>
        <p:nvSpPr>
          <p:cNvPr id="232" name="CustomShape 24"/>
          <p:cNvSpPr/>
          <p:nvPr/>
        </p:nvSpPr>
        <p:spPr>
          <a:xfrm>
            <a:off x="9943560" y="358056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233" name="CustomShape 25"/>
          <p:cNvSpPr/>
          <p:nvPr/>
        </p:nvSpPr>
        <p:spPr>
          <a:xfrm rot="16200000">
            <a:off x="6404760" y="467028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234" name="CustomShape 26"/>
          <p:cNvSpPr/>
          <p:nvPr/>
        </p:nvSpPr>
        <p:spPr>
          <a:xfrm>
            <a:off x="6678720" y="618336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235" name="CustomShape 27"/>
          <p:cNvSpPr/>
          <p:nvPr/>
        </p:nvSpPr>
        <p:spPr>
          <a:xfrm flipH="1">
            <a:off x="6975720" y="5689080"/>
            <a:ext cx="3600" cy="4939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36" name="CustomShape 28"/>
          <p:cNvSpPr/>
          <p:nvPr/>
        </p:nvSpPr>
        <p:spPr>
          <a:xfrm>
            <a:off x="7272720" y="640440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37" name="CustomShape 29"/>
          <p:cNvSpPr/>
          <p:nvPr/>
        </p:nvSpPr>
        <p:spPr>
          <a:xfrm>
            <a:off x="7291800" y="618696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grpSp>
        <p:nvGrpSpPr>
          <p:cNvPr id="238" name="Group 30"/>
          <p:cNvGrpSpPr/>
          <p:nvPr/>
        </p:nvGrpSpPr>
        <p:grpSpPr>
          <a:xfrm>
            <a:off x="11109600" y="2731680"/>
            <a:ext cx="378720" cy="317880"/>
            <a:chOff x="11109600" y="2731680"/>
            <a:chExt cx="378720" cy="317880"/>
          </a:xfrm>
        </p:grpSpPr>
        <p:sp>
          <p:nvSpPr>
            <p:cNvPr id="239" name="CustomShape 31"/>
            <p:cNvSpPr/>
            <p:nvPr/>
          </p:nvSpPr>
          <p:spPr>
            <a:xfrm>
              <a:off x="11109600" y="279720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240" name="CustomShape 32"/>
            <p:cNvSpPr/>
            <p:nvPr/>
          </p:nvSpPr>
          <p:spPr>
            <a:xfrm>
              <a:off x="11215440" y="27316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241" name="CustomShape 33"/>
          <p:cNvSpPr/>
          <p:nvPr/>
        </p:nvSpPr>
        <p:spPr>
          <a:xfrm>
            <a:off x="4060080" y="140328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242" name="CustomShape 34"/>
          <p:cNvSpPr/>
          <p:nvPr/>
        </p:nvSpPr>
        <p:spPr>
          <a:xfrm flipV="1">
            <a:off x="5121360" y="1837080"/>
            <a:ext cx="10706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43" name="CustomShape 35"/>
          <p:cNvSpPr/>
          <p:nvPr/>
        </p:nvSpPr>
        <p:spPr>
          <a:xfrm>
            <a:off x="8137080" y="162684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244" name="CustomShape 36"/>
          <p:cNvSpPr/>
          <p:nvPr/>
        </p:nvSpPr>
        <p:spPr>
          <a:xfrm>
            <a:off x="8544240" y="2068560"/>
            <a:ext cx="360" cy="6991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45" name="CustomShape 37"/>
          <p:cNvSpPr/>
          <p:nvPr/>
        </p:nvSpPr>
        <p:spPr>
          <a:xfrm>
            <a:off x="6736680" y="162432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246" name="CustomShape 38"/>
          <p:cNvSpPr/>
          <p:nvPr/>
        </p:nvSpPr>
        <p:spPr>
          <a:xfrm rot="16200000">
            <a:off x="7937280" y="220932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247" name="CustomShape 39"/>
          <p:cNvSpPr/>
          <p:nvPr/>
        </p:nvSpPr>
        <p:spPr>
          <a:xfrm>
            <a:off x="9668520" y="275976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248" name="CustomShape 40"/>
          <p:cNvSpPr/>
          <p:nvPr/>
        </p:nvSpPr>
        <p:spPr>
          <a:xfrm flipV="1">
            <a:off x="8878680" y="2980440"/>
            <a:ext cx="789480" cy="504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49" name="CustomShape 41"/>
          <p:cNvSpPr/>
          <p:nvPr/>
        </p:nvSpPr>
        <p:spPr>
          <a:xfrm>
            <a:off x="10262520" y="298044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50" name="CustomShape 42"/>
          <p:cNvSpPr/>
          <p:nvPr/>
        </p:nvSpPr>
        <p:spPr>
          <a:xfrm>
            <a:off x="10270080" y="273528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sp>
        <p:nvSpPr>
          <p:cNvPr id="251" name="CustomShape 43"/>
          <p:cNvSpPr/>
          <p:nvPr/>
        </p:nvSpPr>
        <p:spPr>
          <a:xfrm>
            <a:off x="8210160" y="2768040"/>
            <a:ext cx="668160" cy="435960"/>
          </a:xfrm>
          <a:prstGeom prst="roundRect">
            <a:avLst>
              <a:gd name="adj" fmla="val 16667"/>
            </a:avLst>
          </a:prstGeom>
          <a:ln w="3168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SVM</a:t>
            </a:r>
            <a:endParaRPr b="0" lang="en-US" sz="1800" spc="-1" strike="noStrike">
              <a:latin typeface="Arial"/>
            </a:endParaRPr>
          </a:p>
        </p:txBody>
      </p:sp>
      <p:pic>
        <p:nvPicPr>
          <p:cNvPr id="252" name="Picture 2" descr="33,559 BEST Admin Icon IMAGES, STOCK PHOTOS &amp;amp; VECTORS | Adobe Stock"/>
          <p:cNvPicPr/>
          <p:nvPr/>
        </p:nvPicPr>
        <p:blipFill>
          <a:blip r:embed="rId2"/>
          <a:srcRect l="33839" t="15814" r="33327" b="16240"/>
          <a:stretch/>
        </p:blipFill>
        <p:spPr>
          <a:xfrm>
            <a:off x="6192360" y="1446840"/>
            <a:ext cx="630000" cy="782640"/>
          </a:xfrm>
          <a:prstGeom prst="rect">
            <a:avLst/>
          </a:prstGeom>
          <a:ln>
            <a:noFill/>
          </a:ln>
        </p:spPr>
      </p:pic>
      <p:grpSp>
        <p:nvGrpSpPr>
          <p:cNvPr id="253" name="Group 44"/>
          <p:cNvGrpSpPr/>
          <p:nvPr/>
        </p:nvGrpSpPr>
        <p:grpSpPr>
          <a:xfrm>
            <a:off x="5235840" y="1244160"/>
            <a:ext cx="929160" cy="859680"/>
            <a:chOff x="5235840" y="1244160"/>
            <a:chExt cx="929160" cy="859680"/>
          </a:xfrm>
        </p:grpSpPr>
        <p:pic>
          <p:nvPicPr>
            <p:cNvPr id="254" name="Picture 4" descr="Batch Icons - Download Free Vector Icons | Noun Project"/>
            <p:cNvPicPr/>
            <p:nvPr/>
          </p:nvPicPr>
          <p:blipFill>
            <a:blip r:embed="rId3"/>
            <a:stretch/>
          </p:blipFill>
          <p:spPr>
            <a:xfrm>
              <a:off x="5465160" y="1244160"/>
              <a:ext cx="470520" cy="470520"/>
            </a:xfrm>
            <a:prstGeom prst="rect">
              <a:avLst/>
            </a:prstGeom>
            <a:ln>
              <a:noFill/>
            </a:ln>
          </p:spPr>
        </p:pic>
        <p:sp>
          <p:nvSpPr>
            <p:cNvPr id="255" name="CustomShape 45"/>
            <p:cNvSpPr/>
            <p:nvPr/>
          </p:nvSpPr>
          <p:spPr>
            <a:xfrm>
              <a:off x="5235840" y="164916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sp>
        <p:nvSpPr>
          <p:cNvPr id="256" name="CustomShape 46"/>
          <p:cNvSpPr/>
          <p:nvPr/>
        </p:nvSpPr>
        <p:spPr>
          <a:xfrm>
            <a:off x="6822720" y="1838160"/>
            <a:ext cx="1314000" cy="9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57" name="Line 47"/>
          <p:cNvSpPr/>
          <p:nvPr/>
        </p:nvSpPr>
        <p:spPr>
          <a:xfrm>
            <a:off x="0" y="3429000"/>
            <a:ext cx="12480840" cy="0"/>
          </a:xfrm>
          <a:prstGeom prst="line">
            <a:avLst/>
          </a:prstGeom>
          <a:ln w="28440">
            <a:solidFill>
              <a:srgbClr val="ff0000"/>
            </a:solidFill>
            <a:prstDash val="dash"/>
            <a:round/>
          </a:ln>
        </p:spPr>
        <p:style>
          <a:lnRef idx="0"/>
          <a:fillRef idx="0"/>
          <a:effectRef idx="0"/>
          <a:fontRef idx="minor"/>
        </p:style>
      </p:sp>
      <p:sp>
        <p:nvSpPr>
          <p:cNvPr id="258" name="CustomShape 48"/>
          <p:cNvSpPr/>
          <p:nvPr/>
        </p:nvSpPr>
        <p:spPr>
          <a:xfrm>
            <a:off x="271080" y="1165680"/>
            <a:ext cx="339696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Passive Learning (Random Sampling)</a:t>
            </a:r>
            <a:endParaRPr b="0" lang="en-US" sz="1600" spc="-1" strike="noStrike">
              <a:latin typeface="Arial"/>
            </a:endParaRPr>
          </a:p>
        </p:txBody>
      </p:sp>
      <p:sp>
        <p:nvSpPr>
          <p:cNvPr id="259" name="CustomShape 49"/>
          <p:cNvSpPr/>
          <p:nvPr/>
        </p:nvSpPr>
        <p:spPr>
          <a:xfrm flipH="1" flipV="1">
            <a:off x="4589640" y="1402560"/>
            <a:ext cx="6851160" cy="1623960"/>
          </a:xfrm>
          <a:prstGeom prst="bentConnector4">
            <a:avLst>
              <a:gd name="adj1" fmla="val -3336"/>
              <a:gd name="adj2" fmla="val 114073"/>
            </a:avLst>
          </a:prstGeom>
          <a:noFill/>
          <a:ln>
            <a:tailEnd len="med" type="triangle" w="med"/>
          </a:ln>
        </p:spPr>
        <p:style>
          <a:lnRef idx="1">
            <a:schemeClr val="accent1"/>
          </a:lnRef>
          <a:fillRef idx="0">
            <a:schemeClr val="accent1"/>
          </a:fillRef>
          <a:effectRef idx="0">
            <a:schemeClr val="accent1"/>
          </a:effectRef>
          <a:fontRef idx="minor"/>
        </p:style>
      </p:sp>
      <p:sp>
        <p:nvSpPr>
          <p:cNvPr id="260" name="CustomShape 50"/>
          <p:cNvSpPr/>
          <p:nvPr/>
        </p:nvSpPr>
        <p:spPr>
          <a:xfrm>
            <a:off x="281520" y="3684960"/>
            <a:ext cx="362052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(Uncertainty Sampling)</a:t>
            </a:r>
            <a:endParaRPr b="0" lang="en-US" sz="1600" spc="-1" strike="noStrike">
              <a:latin typeface="Arial"/>
            </a:endParaRPr>
          </a:p>
        </p:txBody>
      </p:sp>
      <p:grpSp>
        <p:nvGrpSpPr>
          <p:cNvPr id="261" name="Group 51"/>
          <p:cNvGrpSpPr/>
          <p:nvPr/>
        </p:nvGrpSpPr>
        <p:grpSpPr>
          <a:xfrm>
            <a:off x="5289120" y="4847040"/>
            <a:ext cx="929160" cy="859680"/>
            <a:chOff x="5289120" y="4847040"/>
            <a:chExt cx="929160" cy="859680"/>
          </a:xfrm>
        </p:grpSpPr>
        <p:pic>
          <p:nvPicPr>
            <p:cNvPr id="262" name="Picture 4" descr="Batch Icons - Download Free Vector Icons | Noun Project"/>
            <p:cNvPicPr/>
            <p:nvPr/>
          </p:nvPicPr>
          <p:blipFill>
            <a:blip r:embed="rId4"/>
            <a:stretch/>
          </p:blipFill>
          <p:spPr>
            <a:xfrm>
              <a:off x="5518440" y="4847040"/>
              <a:ext cx="470520" cy="470520"/>
            </a:xfrm>
            <a:prstGeom prst="rect">
              <a:avLst/>
            </a:prstGeom>
            <a:ln>
              <a:noFill/>
            </a:ln>
          </p:spPr>
        </p:pic>
        <p:sp>
          <p:nvSpPr>
            <p:cNvPr id="263" name="CustomShape 52"/>
            <p:cNvSpPr/>
            <p:nvPr/>
          </p:nvSpPr>
          <p:spPr>
            <a:xfrm>
              <a:off x="5289120" y="525204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sp>
        <p:nvSpPr>
          <p:cNvPr id="264" name="CustomShape 53"/>
          <p:cNvSpPr/>
          <p:nvPr/>
        </p:nvSpPr>
        <p:spPr>
          <a:xfrm>
            <a:off x="517320" y="4847040"/>
            <a:ext cx="2259360" cy="913320"/>
          </a:xfrm>
          <a:prstGeom prst="rect">
            <a:avLst/>
          </a:prstGeom>
          <a:noFill/>
          <a:ln>
            <a:noFill/>
          </a:ln>
        </p:spPr>
        <p:style>
          <a:lnRef idx="0"/>
          <a:fillRef idx="0"/>
          <a:effectRef idx="0"/>
          <a:fontRef idx="minor"/>
        </p:style>
        <p:txBody>
          <a:bodyPr wrap="none" lIns="90000" rIns="90000" tIns="45000" bIns="45000">
            <a:spAutoFit/>
          </a:bodyPr>
          <a:p>
            <a:pPr marL="285840" indent="-285480">
              <a:lnSpc>
                <a:spcPct val="100000"/>
              </a:lnSpc>
              <a:buClr>
                <a:srgbClr val="000000"/>
              </a:buClr>
              <a:buFont typeface="Arial"/>
              <a:buChar char="•"/>
            </a:pPr>
            <a:r>
              <a:rPr b="0" lang="de-DE" sz="1800" spc="-1" strike="noStrike">
                <a:solidFill>
                  <a:srgbClr val="000000"/>
                </a:solidFill>
                <a:latin typeface="Calibri"/>
              </a:rPr>
              <a:t>SVM</a:t>
            </a:r>
            <a:endParaRPr b="0" lang="en-US" sz="1800" spc="-1" strike="noStrike">
              <a:latin typeface="Arial"/>
            </a:endParaRPr>
          </a:p>
          <a:p>
            <a:pPr marL="285840" indent="-285480">
              <a:lnSpc>
                <a:spcPct val="100000"/>
              </a:lnSpc>
              <a:buClr>
                <a:srgbClr val="000000"/>
              </a:buClr>
              <a:buFont typeface="Arial"/>
              <a:buChar char="•"/>
            </a:pPr>
            <a:r>
              <a:rPr b="0" lang="de-DE" sz="1800" spc="-1" strike="noStrike">
                <a:solidFill>
                  <a:srgbClr val="000000"/>
                </a:solidFill>
                <a:latin typeface="Calibri"/>
              </a:rPr>
              <a:t>KNN</a:t>
            </a:r>
            <a:endParaRPr b="0" lang="en-US" sz="1800" spc="-1" strike="noStrike">
              <a:latin typeface="Arial"/>
            </a:endParaRPr>
          </a:p>
          <a:p>
            <a:pPr marL="285840" indent="-285480">
              <a:lnSpc>
                <a:spcPct val="100000"/>
              </a:lnSpc>
              <a:buClr>
                <a:srgbClr val="000000"/>
              </a:buClr>
              <a:buFont typeface="Arial"/>
              <a:buChar char="•"/>
            </a:pPr>
            <a:r>
              <a:rPr b="0" lang="de-DE" sz="1800" spc="-1" strike="noStrike">
                <a:solidFill>
                  <a:srgbClr val="000000"/>
                </a:solidFill>
                <a:latin typeface="Calibri"/>
              </a:rPr>
              <a:t>Random Forest </a:t>
            </a:r>
            <a:endParaRPr b="0" lang="en-US" sz="1800" spc="-1" strike="noStrike">
              <a:latin typeface="Arial"/>
            </a:endParaRPr>
          </a:p>
        </p:txBody>
      </p:sp>
      <p:sp>
        <p:nvSpPr>
          <p:cNvPr id="265" name="TextShape 5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266" name="TextShape 55"/>
          <p:cNvSpPr txBox="1"/>
          <p:nvPr/>
        </p:nvSpPr>
        <p:spPr>
          <a:xfrm>
            <a:off x="8610480" y="6356520"/>
            <a:ext cx="2742840" cy="364680"/>
          </a:xfrm>
          <a:prstGeom prst="rect">
            <a:avLst/>
          </a:prstGeom>
          <a:noFill/>
          <a:ln>
            <a:noFill/>
          </a:ln>
        </p:spPr>
        <p:txBody>
          <a:bodyPr anchor="ctr">
            <a:noAutofit/>
          </a:bodyPr>
          <a:p>
            <a:pPr algn="r">
              <a:lnSpc>
                <a:spcPct val="100000"/>
              </a:lnSpc>
            </a:pPr>
            <a:fld id="{81D0516B-1C49-4BAF-8BF0-45372806F1F6}"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TextShape 1"/>
          <p:cNvSpPr txBox="1"/>
          <p:nvPr/>
        </p:nvSpPr>
        <p:spPr>
          <a:xfrm>
            <a:off x="363240" y="-20052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Active Learning via </a:t>
            </a:r>
            <a:r>
              <a:rPr b="1" lang="en-US" sz="4400" spc="-1" strike="noStrike">
                <a:solidFill>
                  <a:srgbClr val="ff0000"/>
                </a:solidFill>
                <a:latin typeface="Calibri Light"/>
              </a:rPr>
              <a:t>Ensemble</a:t>
            </a:r>
            <a:r>
              <a:rPr b="0" lang="en-US" sz="4400" spc="-1" strike="noStrike">
                <a:solidFill>
                  <a:srgbClr val="000000"/>
                </a:solidFill>
                <a:latin typeface="Calibri Light"/>
              </a:rPr>
              <a:t> </a:t>
            </a:r>
            <a:r>
              <a:rPr b="1" lang="en-US" sz="4400" spc="-1" strike="noStrike">
                <a:solidFill>
                  <a:srgbClr val="ff0000"/>
                </a:solidFill>
                <a:latin typeface="Calibri Light"/>
              </a:rPr>
              <a:t>Learning</a:t>
            </a:r>
            <a:endParaRPr b="0" lang="en-US" sz="4400" spc="-1" strike="noStrike">
              <a:solidFill>
                <a:srgbClr val="000000"/>
              </a:solidFill>
              <a:latin typeface="Calibri"/>
            </a:endParaRPr>
          </a:p>
        </p:txBody>
      </p:sp>
      <p:grpSp>
        <p:nvGrpSpPr>
          <p:cNvPr id="268" name="Group 2"/>
          <p:cNvGrpSpPr/>
          <p:nvPr/>
        </p:nvGrpSpPr>
        <p:grpSpPr>
          <a:xfrm>
            <a:off x="5918040" y="6351480"/>
            <a:ext cx="378720" cy="317520"/>
            <a:chOff x="5918040" y="6351480"/>
            <a:chExt cx="378720" cy="317520"/>
          </a:xfrm>
        </p:grpSpPr>
        <p:sp>
          <p:nvSpPr>
            <p:cNvPr id="269" name="CustomShape 3"/>
            <p:cNvSpPr/>
            <p:nvPr/>
          </p:nvSpPr>
          <p:spPr>
            <a:xfrm>
              <a:off x="5918040" y="641664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2">
                <a:shade val="50000"/>
              </a:schemeClr>
            </a:lnRef>
            <a:fillRef idx="1">
              <a:schemeClr val="accent2"/>
            </a:fillRef>
            <a:effectRef idx="0">
              <a:schemeClr val="accent2"/>
            </a:effectRef>
            <a:fontRef idx="minor"/>
          </p:style>
        </p:sp>
        <p:sp>
          <p:nvSpPr>
            <p:cNvPr id="270" name="CustomShape 4"/>
            <p:cNvSpPr/>
            <p:nvPr/>
          </p:nvSpPr>
          <p:spPr>
            <a:xfrm>
              <a:off x="6023880" y="63514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2">
                <a:shade val="50000"/>
              </a:schemeClr>
            </a:lnRef>
            <a:fillRef idx="1">
              <a:schemeClr val="accent2"/>
            </a:fillRef>
            <a:effectRef idx="0">
              <a:schemeClr val="accent2"/>
            </a:effectRef>
            <a:fontRef idx="minor"/>
          </p:style>
        </p:sp>
      </p:grpSp>
      <p:sp>
        <p:nvSpPr>
          <p:cNvPr id="271" name="CustomShape 5"/>
          <p:cNvSpPr/>
          <p:nvPr/>
        </p:nvSpPr>
        <p:spPr>
          <a:xfrm>
            <a:off x="385200" y="461808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pic>
        <p:nvPicPr>
          <p:cNvPr id="272" name="Picture 2" descr="33,559 BEST Admin Icon IMAGES, STOCK PHOTOS &amp;amp; VECTORS | Adobe Stock"/>
          <p:cNvPicPr/>
          <p:nvPr/>
        </p:nvPicPr>
        <p:blipFill>
          <a:blip r:embed="rId1"/>
          <a:srcRect l="33839" t="15814" r="33327" b="16240"/>
          <a:stretch/>
        </p:blipFill>
        <p:spPr>
          <a:xfrm>
            <a:off x="9672480" y="4591080"/>
            <a:ext cx="630000" cy="782640"/>
          </a:xfrm>
          <a:prstGeom prst="rect">
            <a:avLst/>
          </a:prstGeom>
          <a:ln>
            <a:noFill/>
          </a:ln>
        </p:spPr>
      </p:pic>
      <p:sp>
        <p:nvSpPr>
          <p:cNvPr id="273" name="CustomShape 6"/>
          <p:cNvSpPr/>
          <p:nvPr/>
        </p:nvSpPr>
        <p:spPr>
          <a:xfrm flipV="1">
            <a:off x="7432920" y="5002200"/>
            <a:ext cx="695160" cy="72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274" name="Group 7"/>
          <p:cNvGrpSpPr/>
          <p:nvPr/>
        </p:nvGrpSpPr>
        <p:grpSpPr>
          <a:xfrm>
            <a:off x="6440040" y="4574520"/>
            <a:ext cx="992520" cy="905040"/>
            <a:chOff x="6440040" y="4574520"/>
            <a:chExt cx="992520" cy="905040"/>
          </a:xfrm>
        </p:grpSpPr>
        <p:sp>
          <p:nvSpPr>
            <p:cNvPr id="275" name="CustomShape 8"/>
            <p:cNvSpPr/>
            <p:nvPr/>
          </p:nvSpPr>
          <p:spPr>
            <a:xfrm>
              <a:off x="6440040" y="4574520"/>
              <a:ext cx="992520" cy="870120"/>
            </a:xfrm>
            <a:prstGeom prst="rect">
              <a:avLst/>
            </a:prstGeom>
            <a:ln w="25560"/>
          </p:spPr>
          <p:style>
            <a:lnRef idx="2">
              <a:schemeClr val="accent1"/>
            </a:lnRef>
            <a:fillRef idx="1">
              <a:schemeClr val="lt1"/>
            </a:fillRef>
            <a:effectRef idx="0">
              <a:schemeClr val="accent1"/>
            </a:effectRef>
            <a:fontRef idx="minor"/>
          </p:style>
        </p:sp>
        <p:sp>
          <p:nvSpPr>
            <p:cNvPr id="276" name="CustomShape 9"/>
            <p:cNvSpPr/>
            <p:nvPr/>
          </p:nvSpPr>
          <p:spPr>
            <a:xfrm>
              <a:off x="6440040" y="489996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277" name="CustomShape 10"/>
            <p:cNvSpPr/>
            <p:nvPr/>
          </p:nvSpPr>
          <p:spPr>
            <a:xfrm>
              <a:off x="6440040" y="457452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278" name="CustomShape 11"/>
          <p:cNvSpPr/>
          <p:nvPr/>
        </p:nvSpPr>
        <p:spPr>
          <a:xfrm flipV="1" rot="16200000">
            <a:off x="5796000" y="1735200"/>
            <a:ext cx="1416960" cy="425340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279" name="CustomShape 12"/>
          <p:cNvSpPr/>
          <p:nvPr/>
        </p:nvSpPr>
        <p:spPr>
          <a:xfrm>
            <a:off x="6105960" y="507996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280" name="CustomShape 13"/>
          <p:cNvSpPr/>
          <p:nvPr/>
        </p:nvSpPr>
        <p:spPr>
          <a:xfrm>
            <a:off x="6115680" y="464040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281" name="CustomShape 14"/>
          <p:cNvSpPr/>
          <p:nvPr/>
        </p:nvSpPr>
        <p:spPr>
          <a:xfrm>
            <a:off x="8128800" y="457056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282" name="CustomShape 15"/>
          <p:cNvSpPr/>
          <p:nvPr/>
        </p:nvSpPr>
        <p:spPr>
          <a:xfrm flipV="1">
            <a:off x="9134280" y="4981680"/>
            <a:ext cx="537840" cy="190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83" name="CustomShape 16"/>
          <p:cNvSpPr/>
          <p:nvPr/>
        </p:nvSpPr>
        <p:spPr>
          <a:xfrm>
            <a:off x="8847000" y="486360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284" name="CustomShape 17"/>
          <p:cNvSpPr/>
          <p:nvPr/>
        </p:nvSpPr>
        <p:spPr>
          <a:xfrm>
            <a:off x="8472240" y="454752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285" name="CustomShape 18"/>
          <p:cNvSpPr/>
          <p:nvPr/>
        </p:nvSpPr>
        <p:spPr>
          <a:xfrm>
            <a:off x="3563640" y="293256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286" name="CustomShape 19"/>
          <p:cNvSpPr/>
          <p:nvPr/>
        </p:nvSpPr>
        <p:spPr>
          <a:xfrm>
            <a:off x="3970800" y="3374280"/>
            <a:ext cx="15120" cy="6987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287" name="Group 20"/>
          <p:cNvGrpSpPr/>
          <p:nvPr/>
        </p:nvGrpSpPr>
        <p:grpSpPr>
          <a:xfrm>
            <a:off x="3971160" y="2669040"/>
            <a:ext cx="6016680" cy="1921680"/>
            <a:chOff x="3971160" y="2669040"/>
            <a:chExt cx="6016680" cy="1921680"/>
          </a:xfrm>
        </p:grpSpPr>
        <p:sp>
          <p:nvSpPr>
            <p:cNvPr id="288" name="CustomShape 21"/>
            <p:cNvSpPr/>
            <p:nvPr/>
          </p:nvSpPr>
          <p:spPr>
            <a:xfrm flipV="1" rot="16200000">
              <a:off x="6150240" y="753120"/>
              <a:ext cx="1658160" cy="6016680"/>
            </a:xfrm>
            <a:prstGeom prst="bentConnector3">
              <a:avLst>
                <a:gd name="adj1" fmla="val 113784"/>
              </a:avLst>
            </a:prstGeom>
            <a:noFill/>
            <a:ln>
              <a:tailEnd len="med" type="triangle" w="med"/>
            </a:ln>
          </p:spPr>
          <p:style>
            <a:lnRef idx="1">
              <a:schemeClr val="accent1"/>
            </a:lnRef>
            <a:fillRef idx="0">
              <a:schemeClr val="accent1"/>
            </a:fillRef>
            <a:effectRef idx="0">
              <a:schemeClr val="accent1"/>
            </a:effectRef>
            <a:fontRef idx="minor"/>
          </p:style>
        </p:sp>
        <p:sp>
          <p:nvSpPr>
            <p:cNvPr id="289" name="CustomShape 22"/>
            <p:cNvSpPr/>
            <p:nvPr/>
          </p:nvSpPr>
          <p:spPr>
            <a:xfrm>
              <a:off x="8244360" y="266904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grpSp>
      <p:sp>
        <p:nvSpPr>
          <p:cNvPr id="290" name="CustomShape 23"/>
          <p:cNvSpPr/>
          <p:nvPr/>
        </p:nvSpPr>
        <p:spPr>
          <a:xfrm rot="16200000">
            <a:off x="3345120" y="349200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291" name="CustomShape 24"/>
          <p:cNvSpPr/>
          <p:nvPr/>
        </p:nvSpPr>
        <p:spPr>
          <a:xfrm>
            <a:off x="3689280" y="630432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292" name="CustomShape 25"/>
          <p:cNvSpPr/>
          <p:nvPr/>
        </p:nvSpPr>
        <p:spPr>
          <a:xfrm>
            <a:off x="3986280" y="6033240"/>
            <a:ext cx="360" cy="2707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93" name="CustomShape 26"/>
          <p:cNvSpPr/>
          <p:nvPr/>
        </p:nvSpPr>
        <p:spPr>
          <a:xfrm>
            <a:off x="4283280" y="652500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294" name="CustomShape 27"/>
          <p:cNvSpPr/>
          <p:nvPr/>
        </p:nvSpPr>
        <p:spPr>
          <a:xfrm>
            <a:off x="5122080" y="640692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sp>
        <p:nvSpPr>
          <p:cNvPr id="295" name="CustomShape 28"/>
          <p:cNvSpPr/>
          <p:nvPr/>
        </p:nvSpPr>
        <p:spPr>
          <a:xfrm>
            <a:off x="363240" y="1262160"/>
            <a:ext cx="9828360" cy="15814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400" spc="-1" strike="noStrike">
                <a:solidFill>
                  <a:srgbClr val="000000"/>
                </a:solidFill>
                <a:latin typeface="Calibri"/>
              </a:rPr>
              <a:t>Active Learning (Uncertainty Sampling)</a:t>
            </a:r>
            <a:endParaRPr b="0" lang="en-US" sz="1400" spc="-1" strike="noStrike">
              <a:latin typeface="Arial"/>
            </a:endParaRPr>
          </a:p>
          <a:p>
            <a:pPr marL="285840" indent="-285480">
              <a:lnSpc>
                <a:spcPct val="100000"/>
              </a:lnSpc>
              <a:buClr>
                <a:srgbClr val="000000"/>
              </a:buClr>
              <a:buFont typeface="Arial"/>
              <a:buChar char="•"/>
            </a:pPr>
            <a:r>
              <a:rPr b="0" lang="en-US" sz="1400" spc="-1" strike="noStrike">
                <a:solidFill>
                  <a:srgbClr val="000000"/>
                </a:solidFill>
                <a:latin typeface="Calibri"/>
              </a:rPr>
              <a:t>Query-By-Committee</a:t>
            </a:r>
            <a:endParaRPr b="0" lang="en-US" sz="1400" spc="-1" strike="noStrike">
              <a:latin typeface="Arial"/>
            </a:endParaRPr>
          </a:p>
          <a:p>
            <a:pPr lvl="1" marL="743040" indent="-285480">
              <a:lnSpc>
                <a:spcPct val="100000"/>
              </a:lnSpc>
              <a:buClr>
                <a:srgbClr val="000000"/>
              </a:buClr>
              <a:buFont typeface="Arial"/>
              <a:buChar char="•"/>
            </a:pPr>
            <a:r>
              <a:rPr b="0" lang="en-US" sz="1400" spc="-1" strike="noStrike">
                <a:solidFill>
                  <a:srgbClr val="000000"/>
                </a:solidFill>
                <a:latin typeface="Calibri"/>
              </a:rPr>
              <a:t>The QBC approach involves maintaining a committee C = {clf1,clf2,…clf(n)} of models which are all trained on the current labeled set L, but represent competing hypotheses. Each committee member is then allowed to vote on the labelings of query candidates. The most informative query is considered to be the instance about which they most disagree.</a:t>
            </a:r>
            <a:endParaRPr b="0" lang="en-US" sz="1400" spc="-1" strike="noStrike">
              <a:latin typeface="Arial"/>
            </a:endParaRPr>
          </a:p>
          <a:p>
            <a:pPr>
              <a:lnSpc>
                <a:spcPct val="100000"/>
              </a:lnSpc>
            </a:pPr>
            <a:endParaRPr b="0" lang="en-US" sz="1400" spc="-1" strike="noStrike">
              <a:latin typeface="Arial"/>
            </a:endParaRPr>
          </a:p>
        </p:txBody>
      </p:sp>
      <p:grpSp>
        <p:nvGrpSpPr>
          <p:cNvPr id="296" name="Group 29"/>
          <p:cNvGrpSpPr/>
          <p:nvPr/>
        </p:nvGrpSpPr>
        <p:grpSpPr>
          <a:xfrm>
            <a:off x="1715760" y="4367520"/>
            <a:ext cx="929160" cy="859680"/>
            <a:chOff x="1715760" y="4367520"/>
            <a:chExt cx="929160" cy="859680"/>
          </a:xfrm>
        </p:grpSpPr>
        <p:pic>
          <p:nvPicPr>
            <p:cNvPr id="297" name="Picture 4" descr="Batch Icons - Download Free Vector Icons | Noun Project"/>
            <p:cNvPicPr/>
            <p:nvPr/>
          </p:nvPicPr>
          <p:blipFill>
            <a:blip r:embed="rId2"/>
            <a:stretch/>
          </p:blipFill>
          <p:spPr>
            <a:xfrm>
              <a:off x="1945080" y="4367520"/>
              <a:ext cx="470520" cy="470520"/>
            </a:xfrm>
            <a:prstGeom prst="rect">
              <a:avLst/>
            </a:prstGeom>
            <a:ln>
              <a:noFill/>
            </a:ln>
          </p:spPr>
        </p:pic>
        <p:sp>
          <p:nvSpPr>
            <p:cNvPr id="298" name="CustomShape 30"/>
            <p:cNvSpPr/>
            <p:nvPr/>
          </p:nvSpPr>
          <p:spPr>
            <a:xfrm>
              <a:off x="1715760" y="477252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grpSp>
        <p:nvGrpSpPr>
          <p:cNvPr id="299" name="Group 31"/>
          <p:cNvGrpSpPr/>
          <p:nvPr/>
        </p:nvGrpSpPr>
        <p:grpSpPr>
          <a:xfrm>
            <a:off x="3075840" y="4073400"/>
            <a:ext cx="3363840" cy="1959480"/>
            <a:chOff x="3075840" y="4073400"/>
            <a:chExt cx="3363840" cy="1959480"/>
          </a:xfrm>
        </p:grpSpPr>
        <p:sp>
          <p:nvSpPr>
            <p:cNvPr id="300" name="CustomShape 32"/>
            <p:cNvSpPr/>
            <p:nvPr/>
          </p:nvSpPr>
          <p:spPr>
            <a:xfrm>
              <a:off x="3075840" y="4073400"/>
              <a:ext cx="1820520" cy="1959480"/>
            </a:xfrm>
            <a:prstGeom prst="roundRect">
              <a:avLst>
                <a:gd name="adj" fmla="val 16667"/>
              </a:avLst>
            </a:prstGeom>
            <a:ln w="31680"/>
          </p:spPr>
          <p:style>
            <a:lnRef idx="2">
              <a:schemeClr val="accent6"/>
            </a:lnRef>
            <a:fillRef idx="1">
              <a:schemeClr val="lt1"/>
            </a:fillRef>
            <a:effectRef idx="0">
              <a:schemeClr val="accent6"/>
            </a:effectRef>
            <a:fontRef idx="minor"/>
          </p:style>
        </p:sp>
        <p:sp>
          <p:nvSpPr>
            <p:cNvPr id="301" name="CustomShape 33"/>
            <p:cNvSpPr/>
            <p:nvPr/>
          </p:nvSpPr>
          <p:spPr>
            <a:xfrm>
              <a:off x="3210120" y="4262760"/>
              <a:ext cx="849240" cy="384840"/>
            </a:xfrm>
            <a:prstGeom prst="roundRect">
              <a:avLst>
                <a:gd name="adj" fmla="val 16667"/>
              </a:avLst>
            </a:prstGeom>
            <a:ln w="31680">
              <a:solidFill>
                <a:schemeClr val="accent2">
                  <a:lumMod val="60000"/>
                  <a:lumOff val="40000"/>
                </a:schemeClr>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CLF1</a:t>
              </a:r>
              <a:endParaRPr b="0" lang="en-US" sz="1800" spc="-1" strike="noStrike">
                <a:latin typeface="Arial"/>
              </a:endParaRPr>
            </a:p>
          </p:txBody>
        </p:sp>
        <p:sp>
          <p:nvSpPr>
            <p:cNvPr id="302" name="CustomShape 34"/>
            <p:cNvSpPr/>
            <p:nvPr/>
          </p:nvSpPr>
          <p:spPr>
            <a:xfrm>
              <a:off x="3204000" y="4812840"/>
              <a:ext cx="849240" cy="384840"/>
            </a:xfrm>
            <a:prstGeom prst="roundRect">
              <a:avLst>
                <a:gd name="adj" fmla="val 16667"/>
              </a:avLst>
            </a:prstGeom>
            <a:ln w="31680">
              <a:solidFill>
                <a:schemeClr val="accent5">
                  <a:lumMod val="75000"/>
                </a:schemeClr>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CLF2</a:t>
              </a:r>
              <a:endParaRPr b="0" lang="en-US" sz="1800" spc="-1" strike="noStrike">
                <a:latin typeface="Arial"/>
              </a:endParaRPr>
            </a:p>
          </p:txBody>
        </p:sp>
        <p:sp>
          <p:nvSpPr>
            <p:cNvPr id="303" name="CustomShape 35"/>
            <p:cNvSpPr/>
            <p:nvPr/>
          </p:nvSpPr>
          <p:spPr>
            <a:xfrm>
              <a:off x="3205440" y="5515200"/>
              <a:ext cx="849240" cy="384840"/>
            </a:xfrm>
            <a:prstGeom prst="roundRect">
              <a:avLst>
                <a:gd name="adj" fmla="val 16667"/>
              </a:avLst>
            </a:prstGeom>
            <a:ln w="31680">
              <a:solidFill>
                <a:srgbClr val="7030a0"/>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CLF1</a:t>
              </a:r>
              <a:endParaRPr b="0" lang="en-US" sz="1800" spc="-1" strike="noStrike">
                <a:latin typeface="Arial"/>
              </a:endParaRPr>
            </a:p>
          </p:txBody>
        </p:sp>
        <p:grpSp>
          <p:nvGrpSpPr>
            <p:cNvPr id="304" name="Group 36"/>
            <p:cNvGrpSpPr/>
            <p:nvPr/>
          </p:nvGrpSpPr>
          <p:grpSpPr>
            <a:xfrm>
              <a:off x="3605760" y="5223240"/>
              <a:ext cx="45360" cy="228240"/>
              <a:chOff x="3605760" y="5223240"/>
              <a:chExt cx="45360" cy="228240"/>
            </a:xfrm>
          </p:grpSpPr>
          <p:sp>
            <p:nvSpPr>
              <p:cNvPr id="305" name="CustomShape 37"/>
              <p:cNvSpPr/>
              <p:nvPr/>
            </p:nvSpPr>
            <p:spPr>
              <a:xfrm flipH="1">
                <a:off x="3605760" y="5223240"/>
                <a:ext cx="45360" cy="45360"/>
              </a:xfrm>
              <a:prstGeom prst="ellipse">
                <a:avLst/>
              </a:prstGeom>
              <a:ln/>
            </p:spPr>
            <p:style>
              <a:lnRef idx="3">
                <a:schemeClr val="lt1"/>
              </a:lnRef>
              <a:fillRef idx="1">
                <a:schemeClr val="accent1"/>
              </a:fillRef>
              <a:effectRef idx="1">
                <a:schemeClr val="accent1"/>
              </a:effectRef>
              <a:fontRef idx="minor"/>
            </p:style>
          </p:sp>
          <p:sp>
            <p:nvSpPr>
              <p:cNvPr id="306" name="CustomShape 38"/>
              <p:cNvSpPr/>
              <p:nvPr/>
            </p:nvSpPr>
            <p:spPr>
              <a:xfrm flipH="1">
                <a:off x="3605760" y="5284440"/>
                <a:ext cx="45360" cy="45360"/>
              </a:xfrm>
              <a:prstGeom prst="ellipse">
                <a:avLst/>
              </a:prstGeom>
              <a:ln/>
            </p:spPr>
            <p:style>
              <a:lnRef idx="3">
                <a:schemeClr val="lt1"/>
              </a:lnRef>
              <a:fillRef idx="1">
                <a:schemeClr val="accent1"/>
              </a:fillRef>
              <a:effectRef idx="1">
                <a:schemeClr val="accent1"/>
              </a:effectRef>
              <a:fontRef idx="minor"/>
            </p:style>
          </p:sp>
          <p:sp>
            <p:nvSpPr>
              <p:cNvPr id="307" name="CustomShape 39"/>
              <p:cNvSpPr/>
              <p:nvPr/>
            </p:nvSpPr>
            <p:spPr>
              <a:xfrm flipH="1">
                <a:off x="3605760" y="5348160"/>
                <a:ext cx="45360" cy="45360"/>
              </a:xfrm>
              <a:prstGeom prst="ellipse">
                <a:avLst/>
              </a:prstGeom>
              <a:ln/>
            </p:spPr>
            <p:style>
              <a:lnRef idx="3">
                <a:schemeClr val="lt1"/>
              </a:lnRef>
              <a:fillRef idx="1">
                <a:schemeClr val="accent1"/>
              </a:fillRef>
              <a:effectRef idx="1">
                <a:schemeClr val="accent1"/>
              </a:effectRef>
              <a:fontRef idx="minor"/>
            </p:style>
          </p:sp>
          <p:sp>
            <p:nvSpPr>
              <p:cNvPr id="308" name="CustomShape 40"/>
              <p:cNvSpPr/>
              <p:nvPr/>
            </p:nvSpPr>
            <p:spPr>
              <a:xfrm flipH="1">
                <a:off x="3605760" y="5406120"/>
                <a:ext cx="45360" cy="45360"/>
              </a:xfrm>
              <a:prstGeom prst="ellipse">
                <a:avLst/>
              </a:prstGeom>
              <a:ln/>
            </p:spPr>
            <p:style>
              <a:lnRef idx="3">
                <a:schemeClr val="lt1"/>
              </a:lnRef>
              <a:fillRef idx="1">
                <a:schemeClr val="accent1"/>
              </a:fillRef>
              <a:effectRef idx="1">
                <a:schemeClr val="accent1"/>
              </a:effectRef>
              <a:fontRef idx="minor"/>
            </p:style>
          </p:sp>
        </p:grpSp>
        <p:sp>
          <p:nvSpPr>
            <p:cNvPr id="309" name="CustomShape 41"/>
            <p:cNvSpPr/>
            <p:nvPr/>
          </p:nvSpPr>
          <p:spPr>
            <a:xfrm>
              <a:off x="4277520" y="4150800"/>
              <a:ext cx="351360" cy="1748880"/>
            </a:xfrm>
            <a:prstGeom prst="roundRect">
              <a:avLst>
                <a:gd name="adj" fmla="val 16667"/>
              </a:avLst>
            </a:prstGeom>
            <a:ln/>
          </p:spPr>
          <p:style>
            <a:lnRef idx="2">
              <a:schemeClr val="accent1"/>
            </a:lnRef>
            <a:fillRef idx="1">
              <a:schemeClr val="lt1"/>
            </a:fillRef>
            <a:effectRef idx="0">
              <a:schemeClr val="accent1"/>
            </a:effectRef>
            <a:fontRef idx="minor"/>
          </p:style>
        </p:sp>
        <p:sp>
          <p:nvSpPr>
            <p:cNvPr id="310" name="CustomShape 42"/>
            <p:cNvSpPr/>
            <p:nvPr/>
          </p:nvSpPr>
          <p:spPr>
            <a:xfrm rot="16200000">
              <a:off x="3790800" y="4703760"/>
              <a:ext cx="13219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alibri"/>
                </a:rPr>
                <a:t>Ensemble</a:t>
              </a:r>
              <a:endParaRPr b="0" lang="en-US" sz="1800" spc="-1" strike="noStrike">
                <a:latin typeface="Arial"/>
              </a:endParaRPr>
            </a:p>
          </p:txBody>
        </p:sp>
        <p:sp>
          <p:nvSpPr>
            <p:cNvPr id="311" name="Line 43"/>
            <p:cNvSpPr/>
            <p:nvPr/>
          </p:nvSpPr>
          <p:spPr>
            <a:xfrm>
              <a:off x="4059360" y="4455000"/>
              <a:ext cx="232560" cy="0"/>
            </a:xfrm>
            <a:prstGeom prst="line">
              <a:avLst/>
            </a:prstGeom>
            <a:ln w="19080"/>
          </p:spPr>
          <p:style>
            <a:lnRef idx="1">
              <a:schemeClr val="accent1"/>
            </a:lnRef>
            <a:fillRef idx="0">
              <a:schemeClr val="accent1"/>
            </a:fillRef>
            <a:effectRef idx="0">
              <a:schemeClr val="accent1"/>
            </a:effectRef>
            <a:fontRef idx="minor"/>
          </p:style>
        </p:sp>
        <p:sp>
          <p:nvSpPr>
            <p:cNvPr id="312" name="Line 44"/>
            <p:cNvSpPr/>
            <p:nvPr/>
          </p:nvSpPr>
          <p:spPr>
            <a:xfrm>
              <a:off x="4053240" y="5005440"/>
              <a:ext cx="224280" cy="0"/>
            </a:xfrm>
            <a:prstGeom prst="line">
              <a:avLst/>
            </a:prstGeom>
            <a:ln w="19080"/>
          </p:spPr>
          <p:style>
            <a:lnRef idx="1">
              <a:schemeClr val="accent1"/>
            </a:lnRef>
            <a:fillRef idx="0">
              <a:schemeClr val="accent1"/>
            </a:fillRef>
            <a:effectRef idx="0">
              <a:schemeClr val="accent1"/>
            </a:effectRef>
            <a:fontRef idx="minor"/>
          </p:style>
        </p:sp>
        <p:sp>
          <p:nvSpPr>
            <p:cNvPr id="313" name="Line 45"/>
            <p:cNvSpPr/>
            <p:nvPr/>
          </p:nvSpPr>
          <p:spPr>
            <a:xfrm>
              <a:off x="4054680" y="5707440"/>
              <a:ext cx="222840" cy="0"/>
            </a:xfrm>
            <a:prstGeom prst="line">
              <a:avLst/>
            </a:prstGeom>
            <a:ln w="19080"/>
          </p:spPr>
          <p:style>
            <a:lnRef idx="1">
              <a:schemeClr val="accent1"/>
            </a:lnRef>
            <a:fillRef idx="0">
              <a:schemeClr val="accent1"/>
            </a:fillRef>
            <a:effectRef idx="0">
              <a:schemeClr val="accent1"/>
            </a:effectRef>
            <a:fontRef idx="minor"/>
          </p:style>
        </p:sp>
        <p:sp>
          <p:nvSpPr>
            <p:cNvPr id="314" name="CustomShape 46"/>
            <p:cNvSpPr/>
            <p:nvPr/>
          </p:nvSpPr>
          <p:spPr>
            <a:xfrm flipV="1">
              <a:off x="4629600" y="5052240"/>
              <a:ext cx="1810080" cy="13320"/>
            </a:xfrm>
            <a:custGeom>
              <a:avLst/>
              <a:gdLst/>
              <a:ahLst/>
              <a:rect l="l" t="t" r="r" b="b"/>
              <a:pathLst>
                <a:path w="21600" h="21600">
                  <a:moveTo>
                    <a:pt x="0" y="0"/>
                  </a:moveTo>
                  <a:lnTo>
                    <a:pt x="21600" y="21600"/>
                  </a:lnTo>
                </a:path>
              </a:pathLst>
            </a:custGeom>
            <a:noFill/>
            <a:ln w="12600">
              <a:tailEnd len="med" type="triangle" w="med"/>
            </a:ln>
          </p:spPr>
          <p:style>
            <a:lnRef idx="1">
              <a:schemeClr val="accent1"/>
            </a:lnRef>
            <a:fillRef idx="0">
              <a:schemeClr val="accent1"/>
            </a:fillRef>
            <a:effectRef idx="0">
              <a:schemeClr val="accent1"/>
            </a:effectRef>
            <a:fontRef idx="minor"/>
          </p:style>
        </p:sp>
      </p:grpSp>
      <p:grpSp>
        <p:nvGrpSpPr>
          <p:cNvPr id="315" name="Group 47"/>
          <p:cNvGrpSpPr/>
          <p:nvPr/>
        </p:nvGrpSpPr>
        <p:grpSpPr>
          <a:xfrm>
            <a:off x="6544440" y="6351480"/>
            <a:ext cx="378720" cy="317520"/>
            <a:chOff x="6544440" y="6351480"/>
            <a:chExt cx="378720" cy="317520"/>
          </a:xfrm>
        </p:grpSpPr>
        <p:sp>
          <p:nvSpPr>
            <p:cNvPr id="316" name="CustomShape 48"/>
            <p:cNvSpPr/>
            <p:nvPr/>
          </p:nvSpPr>
          <p:spPr>
            <a:xfrm>
              <a:off x="6544440" y="641664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1">
                <a:shade val="50000"/>
              </a:schemeClr>
            </a:lnRef>
            <a:fillRef idx="1">
              <a:schemeClr val="accent1"/>
            </a:fillRef>
            <a:effectRef idx="0">
              <a:schemeClr val="accent1"/>
            </a:effectRef>
            <a:fontRef idx="minor"/>
          </p:style>
        </p:sp>
        <p:sp>
          <p:nvSpPr>
            <p:cNvPr id="317" name="CustomShape 49"/>
            <p:cNvSpPr/>
            <p:nvPr/>
          </p:nvSpPr>
          <p:spPr>
            <a:xfrm>
              <a:off x="6650280" y="63514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1">
                <a:shade val="50000"/>
              </a:schemeClr>
            </a:lnRef>
            <a:fillRef idx="1">
              <a:schemeClr val="accent1"/>
            </a:fillRef>
            <a:effectRef idx="0">
              <a:schemeClr val="accent1"/>
            </a:effectRef>
            <a:fontRef idx="minor"/>
          </p:style>
        </p:sp>
      </p:grpSp>
      <p:grpSp>
        <p:nvGrpSpPr>
          <p:cNvPr id="318" name="Group 50"/>
          <p:cNvGrpSpPr/>
          <p:nvPr/>
        </p:nvGrpSpPr>
        <p:grpSpPr>
          <a:xfrm>
            <a:off x="7171200" y="6351480"/>
            <a:ext cx="378720" cy="317520"/>
            <a:chOff x="7171200" y="6351480"/>
            <a:chExt cx="378720" cy="317520"/>
          </a:xfrm>
        </p:grpSpPr>
        <p:sp>
          <p:nvSpPr>
            <p:cNvPr id="319" name="CustomShape 51"/>
            <p:cNvSpPr/>
            <p:nvPr/>
          </p:nvSpPr>
          <p:spPr>
            <a:xfrm>
              <a:off x="7171200" y="641664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a:solidFill>
                <a:srgbClr val="7030a0"/>
              </a:solidFill>
            </a:ln>
          </p:spPr>
          <p:style>
            <a:lnRef idx="2">
              <a:schemeClr val="accent6">
                <a:shade val="50000"/>
              </a:schemeClr>
            </a:lnRef>
            <a:fillRef idx="1">
              <a:schemeClr val="accent6"/>
            </a:fillRef>
            <a:effectRef idx="0">
              <a:schemeClr val="accent6"/>
            </a:effectRef>
            <a:fontRef idx="minor"/>
          </p:style>
        </p:sp>
        <p:sp>
          <p:nvSpPr>
            <p:cNvPr id="320" name="CustomShape 52"/>
            <p:cNvSpPr/>
            <p:nvPr/>
          </p:nvSpPr>
          <p:spPr>
            <a:xfrm>
              <a:off x="7277040" y="63514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a:solidFill>
                <a:srgbClr val="7030a0"/>
              </a:solidFill>
            </a:ln>
          </p:spPr>
          <p:style>
            <a:lnRef idx="2">
              <a:schemeClr val="accent6">
                <a:shade val="50000"/>
              </a:schemeClr>
            </a:lnRef>
            <a:fillRef idx="1">
              <a:schemeClr val="accent6"/>
            </a:fillRef>
            <a:effectRef idx="0">
              <a:schemeClr val="accent6"/>
            </a:effectRef>
            <a:fontRef idx="minor"/>
          </p:style>
        </p:sp>
      </p:grpSp>
      <p:sp>
        <p:nvSpPr>
          <p:cNvPr id="321" name="CustomShape 53"/>
          <p:cNvSpPr/>
          <p:nvPr/>
        </p:nvSpPr>
        <p:spPr>
          <a:xfrm>
            <a:off x="1446120" y="5052960"/>
            <a:ext cx="162936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22" name="CustomShape 54"/>
          <p:cNvSpPr/>
          <p:nvPr/>
        </p:nvSpPr>
        <p:spPr>
          <a:xfrm>
            <a:off x="7252560" y="5799240"/>
            <a:ext cx="5470560" cy="364680"/>
          </a:xfrm>
          <a:prstGeom prst="rect">
            <a:avLst/>
          </a:prstGeom>
          <a:noFill/>
          <a:ln>
            <a:noFill/>
          </a:ln>
        </p:spPr>
        <p:style>
          <a:lnRef idx="0"/>
          <a:fillRef idx="0"/>
          <a:effectRef idx="0"/>
          <a:fontRef idx="minor"/>
        </p:style>
        <p:txBody>
          <a:bodyPr wrap="none" lIns="90000" rIns="90000" tIns="45000" bIns="45000">
            <a:spAutoFit/>
          </a:bodyPr>
          <a:p>
            <a:pPr marL="285840" indent="-285480">
              <a:lnSpc>
                <a:spcPct val="100000"/>
              </a:lnSpc>
              <a:buClr>
                <a:srgbClr val="000000"/>
              </a:buClr>
              <a:buFont typeface="Arial"/>
              <a:buChar char="•"/>
            </a:pPr>
            <a:r>
              <a:rPr b="0" lang="de-DE" sz="1800" spc="-1" strike="noStrike">
                <a:solidFill>
                  <a:srgbClr val="000000"/>
                </a:solidFill>
                <a:latin typeface="Calibri"/>
              </a:rPr>
              <a:t>Using average of </a:t>
            </a:r>
            <a:r>
              <a:rPr b="0" lang="en-US" sz="1800" spc="-1" strike="noStrike">
                <a:solidFill>
                  <a:srgbClr val="212529"/>
                </a:solidFill>
                <a:latin typeface="-apple-system"/>
              </a:rPr>
              <a:t>predict_proba(</a:t>
            </a:r>
            <a:r>
              <a:rPr b="0" i="1" lang="en-US" sz="1800" spc="-1" strike="noStrike">
                <a:solidFill>
                  <a:srgbClr val="212529"/>
                </a:solidFill>
                <a:latin typeface="-apple-system"/>
              </a:rPr>
              <a:t>X</a:t>
            </a:r>
            <a:r>
              <a:rPr b="0" lang="en-US" sz="1800" spc="-1" strike="noStrike">
                <a:solidFill>
                  <a:srgbClr val="212529"/>
                </a:solidFill>
                <a:latin typeface="-apple-system"/>
              </a:rPr>
              <a:t>)</a:t>
            </a:r>
            <a:r>
              <a:rPr b="0" lang="en-US" sz="1800" spc="-1" strike="noStrike">
                <a:solidFill>
                  <a:srgbClr val="0563c1"/>
                </a:solidFill>
                <a:latin typeface="-apple-system"/>
                <a:hlinkClick r:id="rId3"/>
              </a:rPr>
              <a:t>[source]</a:t>
            </a:r>
            <a:r>
              <a:rPr b="0" lang="en-US" sz="1800" spc="-1" strike="noStrike">
                <a:solidFill>
                  <a:srgbClr val="0563c1"/>
                </a:solidFill>
                <a:latin typeface="-apple-system"/>
                <a:hlinkClick r:id="rId4"/>
              </a:rPr>
              <a:t>¶</a:t>
            </a:r>
            <a:endParaRPr b="0" lang="en-US" sz="1800" spc="-1" strike="noStrike">
              <a:latin typeface="Arial"/>
            </a:endParaRPr>
          </a:p>
        </p:txBody>
      </p:sp>
      <p:sp>
        <p:nvSpPr>
          <p:cNvPr id="323" name="TextShape 55"/>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324" name="TextShape 56"/>
          <p:cNvSpPr txBox="1"/>
          <p:nvPr/>
        </p:nvSpPr>
        <p:spPr>
          <a:xfrm>
            <a:off x="8610480" y="6356520"/>
            <a:ext cx="2742840" cy="364680"/>
          </a:xfrm>
          <a:prstGeom prst="rect">
            <a:avLst/>
          </a:prstGeom>
          <a:noFill/>
          <a:ln>
            <a:noFill/>
          </a:ln>
        </p:spPr>
        <p:txBody>
          <a:bodyPr anchor="ctr">
            <a:noAutofit/>
          </a:bodyPr>
          <a:p>
            <a:pPr algn="r">
              <a:lnSpc>
                <a:spcPct val="100000"/>
              </a:lnSpc>
            </a:pPr>
            <a:fld id="{8F4458F3-938A-49E9-A302-A0C0025C131D}"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TextShape 1"/>
          <p:cNvSpPr txBox="1"/>
          <p:nvPr/>
        </p:nvSpPr>
        <p:spPr>
          <a:xfrm>
            <a:off x="363240" y="-20052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Active Learning with </a:t>
            </a:r>
            <a:r>
              <a:rPr b="1" lang="en-US" sz="4400" spc="-1" strike="noStrike">
                <a:solidFill>
                  <a:srgbClr val="ff0000"/>
                </a:solidFill>
                <a:latin typeface="Calibri Light"/>
              </a:rPr>
              <a:t>SVM</a:t>
            </a:r>
            <a:endParaRPr b="0" lang="en-US" sz="4400" spc="-1" strike="noStrike">
              <a:solidFill>
                <a:srgbClr val="000000"/>
              </a:solidFill>
              <a:latin typeface="Calibri"/>
            </a:endParaRPr>
          </a:p>
        </p:txBody>
      </p:sp>
      <p:grpSp>
        <p:nvGrpSpPr>
          <p:cNvPr id="326" name="Group 2"/>
          <p:cNvGrpSpPr/>
          <p:nvPr/>
        </p:nvGrpSpPr>
        <p:grpSpPr>
          <a:xfrm>
            <a:off x="6899760" y="4915800"/>
            <a:ext cx="378720" cy="317880"/>
            <a:chOff x="6899760" y="4915800"/>
            <a:chExt cx="378720" cy="317880"/>
          </a:xfrm>
        </p:grpSpPr>
        <p:sp>
          <p:nvSpPr>
            <p:cNvPr id="327" name="CustomShape 3"/>
            <p:cNvSpPr/>
            <p:nvPr/>
          </p:nvSpPr>
          <p:spPr>
            <a:xfrm>
              <a:off x="6899760" y="498132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328" name="CustomShape 4"/>
            <p:cNvSpPr/>
            <p:nvPr/>
          </p:nvSpPr>
          <p:spPr>
            <a:xfrm>
              <a:off x="7005600" y="491580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329" name="CustomShape 5"/>
          <p:cNvSpPr/>
          <p:nvPr/>
        </p:nvSpPr>
        <p:spPr>
          <a:xfrm>
            <a:off x="2670840" y="378108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330" name="CustomShape 6"/>
          <p:cNvSpPr/>
          <p:nvPr/>
        </p:nvSpPr>
        <p:spPr>
          <a:xfrm>
            <a:off x="5392800" y="3979800"/>
            <a:ext cx="710280" cy="441360"/>
          </a:xfrm>
          <a:prstGeom prst="roundRect">
            <a:avLst>
              <a:gd name="adj" fmla="val 16667"/>
            </a:avLst>
          </a:prstGeom>
          <a:ln w="3168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de-DE" sz="1800" spc="-1" strike="noStrike">
                <a:solidFill>
                  <a:srgbClr val="000000"/>
                </a:solidFill>
                <a:latin typeface="Calibri"/>
              </a:rPr>
              <a:t>SVM</a:t>
            </a:r>
            <a:endParaRPr b="0" lang="en-US" sz="1800" spc="-1" strike="noStrike">
              <a:latin typeface="Arial"/>
            </a:endParaRPr>
          </a:p>
        </p:txBody>
      </p:sp>
      <p:sp>
        <p:nvSpPr>
          <p:cNvPr id="331" name="CustomShape 7"/>
          <p:cNvSpPr/>
          <p:nvPr/>
        </p:nvSpPr>
        <p:spPr>
          <a:xfrm flipV="1">
            <a:off x="3731760" y="4200480"/>
            <a:ext cx="1660680" cy="151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32" name="CustomShape 8"/>
          <p:cNvSpPr/>
          <p:nvPr/>
        </p:nvSpPr>
        <p:spPr>
          <a:xfrm>
            <a:off x="6103440" y="4200840"/>
            <a:ext cx="713520" cy="18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pic>
        <p:nvPicPr>
          <p:cNvPr id="333" name="Picture 2" descr="33,559 BEST Admin Icon IMAGES, STOCK PHOTOS &amp;amp; VECTORS | Adobe Stock"/>
          <p:cNvPicPr/>
          <p:nvPr/>
        </p:nvPicPr>
        <p:blipFill>
          <a:blip r:embed="rId1"/>
          <a:srcRect l="33839" t="15814" r="33327" b="16240"/>
          <a:stretch/>
        </p:blipFill>
        <p:spPr>
          <a:xfrm>
            <a:off x="10248120" y="3793680"/>
            <a:ext cx="630000" cy="782640"/>
          </a:xfrm>
          <a:prstGeom prst="rect">
            <a:avLst/>
          </a:prstGeom>
          <a:ln>
            <a:noFill/>
          </a:ln>
        </p:spPr>
      </p:pic>
      <p:sp>
        <p:nvSpPr>
          <p:cNvPr id="334" name="CustomShape 9"/>
          <p:cNvSpPr/>
          <p:nvPr/>
        </p:nvSpPr>
        <p:spPr>
          <a:xfrm flipV="1">
            <a:off x="8766720" y="4185000"/>
            <a:ext cx="1481040" cy="172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35" name="CustomShape 10"/>
          <p:cNvSpPr/>
          <p:nvPr/>
        </p:nvSpPr>
        <p:spPr>
          <a:xfrm>
            <a:off x="5337000" y="279072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336" name="CustomShape 11"/>
          <p:cNvSpPr/>
          <p:nvPr/>
        </p:nvSpPr>
        <p:spPr>
          <a:xfrm>
            <a:off x="5744160" y="323244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37" name="CustomShape 12"/>
          <p:cNvSpPr/>
          <p:nvPr/>
        </p:nvSpPr>
        <p:spPr>
          <a:xfrm flipV="1" rot="16200000">
            <a:off x="7652520" y="881640"/>
            <a:ext cx="1002600" cy="4818960"/>
          </a:xfrm>
          <a:prstGeom prst="bentConnector3">
            <a:avLst>
              <a:gd name="adj1" fmla="val 122791"/>
            </a:avLst>
          </a:prstGeom>
          <a:noFill/>
          <a:ln>
            <a:tailEnd len="med" type="triangle" w="med"/>
          </a:ln>
        </p:spPr>
        <p:style>
          <a:lnRef idx="1">
            <a:schemeClr val="accent1"/>
          </a:lnRef>
          <a:fillRef idx="0">
            <a:schemeClr val="accent1"/>
          </a:fillRef>
          <a:effectRef idx="0">
            <a:schemeClr val="accent1"/>
          </a:effectRef>
          <a:fontRef idx="minor"/>
        </p:style>
      </p:sp>
      <p:sp>
        <p:nvSpPr>
          <p:cNvPr id="338" name="CustomShape 13"/>
          <p:cNvSpPr/>
          <p:nvPr/>
        </p:nvSpPr>
        <p:spPr>
          <a:xfrm>
            <a:off x="8712000" y="231264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339" name="CustomShape 14"/>
          <p:cNvSpPr/>
          <p:nvPr/>
        </p:nvSpPr>
        <p:spPr>
          <a:xfrm rot="16200000">
            <a:off x="5173200" y="340272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340" name="CustomShape 15"/>
          <p:cNvSpPr/>
          <p:nvPr/>
        </p:nvSpPr>
        <p:spPr>
          <a:xfrm>
            <a:off x="5447160" y="491580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341" name="CustomShape 16"/>
          <p:cNvSpPr/>
          <p:nvPr/>
        </p:nvSpPr>
        <p:spPr>
          <a:xfrm flipH="1">
            <a:off x="5744160" y="4421520"/>
            <a:ext cx="3600" cy="4939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42" name="CustomShape 17"/>
          <p:cNvSpPr/>
          <p:nvPr/>
        </p:nvSpPr>
        <p:spPr>
          <a:xfrm>
            <a:off x="6041160" y="513648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43" name="CustomShape 18"/>
          <p:cNvSpPr/>
          <p:nvPr/>
        </p:nvSpPr>
        <p:spPr>
          <a:xfrm>
            <a:off x="6060240" y="491940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sp>
        <p:nvSpPr>
          <p:cNvPr id="344" name="CustomShape 19"/>
          <p:cNvSpPr/>
          <p:nvPr/>
        </p:nvSpPr>
        <p:spPr>
          <a:xfrm>
            <a:off x="363240" y="1229400"/>
            <a:ext cx="573264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(Sampling of top datapoints closest to the hyperplane) : </a:t>
            </a:r>
            <a:r>
              <a:rPr b="1" lang="en-US" sz="1600" spc="-1" strike="noStrike" u="sng">
                <a:solidFill>
                  <a:srgbClr val="0563c1"/>
                </a:solidFill>
                <a:uFillTx/>
                <a:latin typeface="Calibri"/>
                <a:hlinkClick r:id="rId2"/>
              </a:rPr>
              <a:t>Use</a:t>
            </a:r>
            <a:r>
              <a:rPr b="1" lang="en-US" sz="1600" spc="-1" strike="noStrike">
                <a:solidFill>
                  <a:srgbClr val="000000"/>
                </a:solidFill>
                <a:latin typeface="Calibri"/>
              </a:rPr>
              <a:t> decision Function. Closest to Hyperplane(</a:t>
            </a:r>
            <a:r>
              <a:rPr b="1" lang="en-US" sz="1600" spc="-1" strike="noStrike">
                <a:solidFill>
                  <a:srgbClr val="000000"/>
                </a:solidFill>
                <a:latin typeface="Calibri"/>
                <a:hlinkClick r:id="rId3"/>
              </a:rPr>
              <a:t>ref</a:t>
            </a:r>
            <a:r>
              <a:rPr b="1" lang="en-US" sz="1600" spc="-1" strike="noStrike">
                <a:solidFill>
                  <a:srgbClr val="000000"/>
                </a:solidFill>
                <a:latin typeface="Calibri"/>
              </a:rPr>
              <a:t>)</a:t>
            </a:r>
            <a:endParaRPr b="0" lang="en-US" sz="1600" spc="-1" strike="noStrike">
              <a:latin typeface="Arial"/>
            </a:endParaRPr>
          </a:p>
          <a:p>
            <a:pPr>
              <a:lnSpc>
                <a:spcPct val="100000"/>
              </a:lnSpc>
            </a:pPr>
            <a:r>
              <a:rPr b="1" lang="en-US" sz="1600" spc="-1" strike="noStrike">
                <a:solidFill>
                  <a:srgbClr val="000000"/>
                </a:solidFill>
                <a:latin typeface="Calibri"/>
              </a:rPr>
              <a:t>(Hyperplane hashing</a:t>
            </a:r>
            <a:r>
              <a:rPr b="1" lang="en-US" sz="1600" spc="-1" strike="noStrike" u="sng">
                <a:solidFill>
                  <a:srgbClr val="000000"/>
                </a:solidFill>
                <a:uFillTx/>
                <a:latin typeface="Calibri"/>
              </a:rPr>
              <a:t> </a:t>
            </a:r>
            <a:r>
              <a:rPr b="1" lang="en-US" sz="1600" spc="-1" strike="noStrike" u="sng">
                <a:solidFill>
                  <a:srgbClr val="000000"/>
                </a:solidFill>
                <a:uFillTx/>
                <a:latin typeface="Calibri"/>
                <a:hlinkClick r:id="rId4"/>
              </a:rPr>
              <a:t>ref</a:t>
            </a:r>
            <a:r>
              <a:rPr b="1" lang="en-US" sz="1600" spc="-1" strike="noStrike">
                <a:solidFill>
                  <a:srgbClr val="000000"/>
                </a:solidFill>
                <a:latin typeface="Calibri"/>
              </a:rPr>
              <a:t>)</a:t>
            </a:r>
            <a:endParaRPr b="0" lang="en-US" sz="1600" spc="-1" strike="noStrike">
              <a:latin typeface="Arial"/>
            </a:endParaRPr>
          </a:p>
        </p:txBody>
      </p:sp>
      <p:grpSp>
        <p:nvGrpSpPr>
          <p:cNvPr id="345" name="Group 20"/>
          <p:cNvGrpSpPr/>
          <p:nvPr/>
        </p:nvGrpSpPr>
        <p:grpSpPr>
          <a:xfrm>
            <a:off x="4057200" y="3579120"/>
            <a:ext cx="929160" cy="859680"/>
            <a:chOff x="4057200" y="3579120"/>
            <a:chExt cx="929160" cy="859680"/>
          </a:xfrm>
        </p:grpSpPr>
        <p:pic>
          <p:nvPicPr>
            <p:cNvPr id="346" name="Picture 4" descr="Batch Icons - Download Free Vector Icons | Noun Project"/>
            <p:cNvPicPr/>
            <p:nvPr/>
          </p:nvPicPr>
          <p:blipFill>
            <a:blip r:embed="rId5"/>
            <a:stretch/>
          </p:blipFill>
          <p:spPr>
            <a:xfrm>
              <a:off x="4286520" y="3579120"/>
              <a:ext cx="470520" cy="470520"/>
            </a:xfrm>
            <a:prstGeom prst="rect">
              <a:avLst/>
            </a:prstGeom>
            <a:ln>
              <a:noFill/>
            </a:ln>
          </p:spPr>
        </p:pic>
        <p:sp>
          <p:nvSpPr>
            <p:cNvPr id="347" name="CustomShape 21"/>
            <p:cNvSpPr/>
            <p:nvPr/>
          </p:nvSpPr>
          <p:spPr>
            <a:xfrm>
              <a:off x="4057200" y="398412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pic>
        <p:nvPicPr>
          <p:cNvPr id="348" name="Picture 2" descr="enter image description here"/>
          <p:cNvPicPr/>
          <p:nvPr/>
        </p:nvPicPr>
        <p:blipFill>
          <a:blip r:embed="rId6"/>
          <a:stretch/>
        </p:blipFill>
        <p:spPr>
          <a:xfrm>
            <a:off x="6817320" y="3533400"/>
            <a:ext cx="1949040" cy="1338840"/>
          </a:xfrm>
          <a:prstGeom prst="rect">
            <a:avLst/>
          </a:prstGeom>
          <a:ln>
            <a:noFill/>
          </a:ln>
        </p:spPr>
      </p:pic>
      <p:sp>
        <p:nvSpPr>
          <p:cNvPr id="349" name="CustomShape 22"/>
          <p:cNvSpPr/>
          <p:nvPr/>
        </p:nvSpPr>
        <p:spPr>
          <a:xfrm>
            <a:off x="8766720" y="3976560"/>
            <a:ext cx="16365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Take closet samples</a:t>
            </a:r>
            <a:endParaRPr b="0" lang="en-US" sz="1200" spc="-1" strike="noStrike">
              <a:latin typeface="Arial"/>
            </a:endParaRPr>
          </a:p>
        </p:txBody>
      </p:sp>
      <p:sp>
        <p:nvSpPr>
          <p:cNvPr id="350" name="TextShape 2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351" name="TextShape 24"/>
          <p:cNvSpPr txBox="1"/>
          <p:nvPr/>
        </p:nvSpPr>
        <p:spPr>
          <a:xfrm>
            <a:off x="8610480" y="6356520"/>
            <a:ext cx="2742840" cy="364680"/>
          </a:xfrm>
          <a:prstGeom prst="rect">
            <a:avLst/>
          </a:prstGeom>
          <a:noFill/>
          <a:ln>
            <a:noFill/>
          </a:ln>
        </p:spPr>
        <p:txBody>
          <a:bodyPr anchor="ctr">
            <a:noAutofit/>
          </a:bodyPr>
          <a:p>
            <a:pPr algn="r">
              <a:lnSpc>
                <a:spcPct val="100000"/>
              </a:lnSpc>
            </a:pPr>
            <a:fld id="{7ACD3BEE-8AFF-4B51-9D70-79EAE9A305F2}"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TextShape 1"/>
          <p:cNvSpPr txBox="1"/>
          <p:nvPr/>
        </p:nvSpPr>
        <p:spPr>
          <a:xfrm>
            <a:off x="363240" y="-200520"/>
            <a:ext cx="10515240" cy="1325160"/>
          </a:xfrm>
          <a:prstGeom prst="rect">
            <a:avLst/>
          </a:prstGeom>
          <a:noFill/>
          <a:ln>
            <a:noFill/>
          </a:ln>
        </p:spPr>
        <p:txBody>
          <a:bodyPr anchor="ctr">
            <a:noAutofit/>
          </a:bodyPr>
          <a:p>
            <a:pPr>
              <a:lnSpc>
                <a:spcPct val="90000"/>
              </a:lnSpc>
            </a:pPr>
            <a:r>
              <a:rPr b="0" lang="en-US" sz="4400" spc="-1" strike="noStrike">
                <a:solidFill>
                  <a:srgbClr val="000000"/>
                </a:solidFill>
                <a:latin typeface="Calibri Light"/>
              </a:rPr>
              <a:t>Deep Active Learning with </a:t>
            </a:r>
            <a:r>
              <a:rPr b="1" lang="en-US" sz="4400" spc="-1" strike="noStrike">
                <a:solidFill>
                  <a:srgbClr val="ff0000"/>
                </a:solidFill>
                <a:latin typeface="Calibri Light"/>
              </a:rPr>
              <a:t>CNN: Retraining</a:t>
            </a:r>
            <a:endParaRPr b="0" lang="en-US" sz="4400" spc="-1" strike="noStrike">
              <a:solidFill>
                <a:srgbClr val="000000"/>
              </a:solidFill>
              <a:latin typeface="Calibri"/>
            </a:endParaRPr>
          </a:p>
        </p:txBody>
      </p:sp>
      <p:grpSp>
        <p:nvGrpSpPr>
          <p:cNvPr id="353" name="Group 2"/>
          <p:cNvGrpSpPr/>
          <p:nvPr/>
        </p:nvGrpSpPr>
        <p:grpSpPr>
          <a:xfrm>
            <a:off x="8131320" y="6297840"/>
            <a:ext cx="378720" cy="317880"/>
            <a:chOff x="8131320" y="6297840"/>
            <a:chExt cx="378720" cy="317880"/>
          </a:xfrm>
        </p:grpSpPr>
        <p:sp>
          <p:nvSpPr>
            <p:cNvPr id="354" name="CustomShape 3"/>
            <p:cNvSpPr/>
            <p:nvPr/>
          </p:nvSpPr>
          <p:spPr>
            <a:xfrm>
              <a:off x="8131320" y="636336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355" name="CustomShape 4"/>
            <p:cNvSpPr/>
            <p:nvPr/>
          </p:nvSpPr>
          <p:spPr>
            <a:xfrm>
              <a:off x="8237160" y="629784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356" name="CustomShape 5"/>
          <p:cNvSpPr/>
          <p:nvPr/>
        </p:nvSpPr>
        <p:spPr>
          <a:xfrm>
            <a:off x="3915720" y="510660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357" name="CustomShape 6"/>
          <p:cNvSpPr/>
          <p:nvPr/>
        </p:nvSpPr>
        <p:spPr>
          <a:xfrm flipV="1">
            <a:off x="4977000" y="5531400"/>
            <a:ext cx="1393560" cy="9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58" name="CustomShape 7"/>
          <p:cNvSpPr/>
          <p:nvPr/>
        </p:nvSpPr>
        <p:spPr>
          <a:xfrm flipV="1">
            <a:off x="7869600" y="5519880"/>
            <a:ext cx="427680" cy="1224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pic>
        <p:nvPicPr>
          <p:cNvPr id="359" name="Picture 2" descr="33,559 BEST Admin Icon IMAGES, STOCK PHOTOS &amp;amp; VECTORS | Adobe Stock"/>
          <p:cNvPicPr/>
          <p:nvPr/>
        </p:nvPicPr>
        <p:blipFill>
          <a:blip r:embed="rId1"/>
          <a:srcRect l="33839" t="15814" r="33327" b="16240"/>
          <a:stretch/>
        </p:blipFill>
        <p:spPr>
          <a:xfrm>
            <a:off x="11517840" y="5127480"/>
            <a:ext cx="630000" cy="782640"/>
          </a:xfrm>
          <a:prstGeom prst="rect">
            <a:avLst/>
          </a:prstGeom>
          <a:ln>
            <a:noFill/>
          </a:ln>
        </p:spPr>
      </p:pic>
      <p:sp>
        <p:nvSpPr>
          <p:cNvPr id="360" name="CustomShape 8"/>
          <p:cNvSpPr/>
          <p:nvPr/>
        </p:nvSpPr>
        <p:spPr>
          <a:xfrm flipV="1">
            <a:off x="9290520" y="5518440"/>
            <a:ext cx="68292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361" name="Group 9"/>
          <p:cNvGrpSpPr/>
          <p:nvPr/>
        </p:nvGrpSpPr>
        <p:grpSpPr>
          <a:xfrm>
            <a:off x="8297640" y="5084640"/>
            <a:ext cx="992520" cy="905040"/>
            <a:chOff x="8297640" y="5084640"/>
            <a:chExt cx="992520" cy="905040"/>
          </a:xfrm>
        </p:grpSpPr>
        <p:sp>
          <p:nvSpPr>
            <p:cNvPr id="362" name="CustomShape 10"/>
            <p:cNvSpPr/>
            <p:nvPr/>
          </p:nvSpPr>
          <p:spPr>
            <a:xfrm>
              <a:off x="8297640" y="5084640"/>
              <a:ext cx="992520" cy="870120"/>
            </a:xfrm>
            <a:prstGeom prst="rect">
              <a:avLst/>
            </a:prstGeom>
            <a:ln w="25560"/>
          </p:spPr>
          <p:style>
            <a:lnRef idx="2">
              <a:schemeClr val="accent1"/>
            </a:lnRef>
            <a:fillRef idx="1">
              <a:schemeClr val="lt1"/>
            </a:fillRef>
            <a:effectRef idx="0">
              <a:schemeClr val="accent1"/>
            </a:effectRef>
            <a:fontRef idx="minor"/>
          </p:style>
        </p:sp>
        <p:sp>
          <p:nvSpPr>
            <p:cNvPr id="363" name="CustomShape 11"/>
            <p:cNvSpPr/>
            <p:nvPr/>
          </p:nvSpPr>
          <p:spPr>
            <a:xfrm>
              <a:off x="8297640" y="541008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364" name="CustomShape 12"/>
            <p:cNvSpPr/>
            <p:nvPr/>
          </p:nvSpPr>
          <p:spPr>
            <a:xfrm>
              <a:off x="8297640" y="508464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365" name="CustomShape 13"/>
          <p:cNvSpPr/>
          <p:nvPr/>
        </p:nvSpPr>
        <p:spPr>
          <a:xfrm flipV="1" rot="16200000">
            <a:off x="8442360" y="3052800"/>
            <a:ext cx="1027440" cy="304092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366" name="CustomShape 14"/>
          <p:cNvSpPr/>
          <p:nvPr/>
        </p:nvSpPr>
        <p:spPr>
          <a:xfrm>
            <a:off x="7951320" y="554616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367" name="CustomShape 15"/>
          <p:cNvSpPr/>
          <p:nvPr/>
        </p:nvSpPr>
        <p:spPr>
          <a:xfrm>
            <a:off x="7961040" y="510660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368" name="CustomShape 16"/>
          <p:cNvSpPr/>
          <p:nvPr/>
        </p:nvSpPr>
        <p:spPr>
          <a:xfrm>
            <a:off x="9973800" y="508788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369" name="CustomShape 17"/>
          <p:cNvSpPr/>
          <p:nvPr/>
        </p:nvSpPr>
        <p:spPr>
          <a:xfrm flipV="1">
            <a:off x="10979640" y="5518080"/>
            <a:ext cx="5378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70" name="CustomShape 18"/>
          <p:cNvSpPr/>
          <p:nvPr/>
        </p:nvSpPr>
        <p:spPr>
          <a:xfrm>
            <a:off x="10692000" y="532980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371" name="CustomShape 19"/>
          <p:cNvSpPr/>
          <p:nvPr/>
        </p:nvSpPr>
        <p:spPr>
          <a:xfrm>
            <a:off x="10311120" y="504576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372" name="CustomShape 20"/>
          <p:cNvSpPr/>
          <p:nvPr/>
        </p:nvSpPr>
        <p:spPr>
          <a:xfrm>
            <a:off x="6621120" y="383904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373" name="CustomShape 21"/>
          <p:cNvSpPr/>
          <p:nvPr/>
        </p:nvSpPr>
        <p:spPr>
          <a:xfrm>
            <a:off x="7028280" y="428076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74" name="CustomShape 22"/>
          <p:cNvSpPr/>
          <p:nvPr/>
        </p:nvSpPr>
        <p:spPr>
          <a:xfrm flipV="1" rot="16200000">
            <a:off x="8786520" y="2080800"/>
            <a:ext cx="1288080" cy="4804560"/>
          </a:xfrm>
          <a:prstGeom prst="bentConnector3">
            <a:avLst>
              <a:gd name="adj1" fmla="val 117745"/>
            </a:avLst>
          </a:prstGeom>
          <a:noFill/>
          <a:ln>
            <a:tailEnd len="med" type="triangle" w="med"/>
          </a:ln>
        </p:spPr>
        <p:style>
          <a:lnRef idx="1">
            <a:schemeClr val="accent1"/>
          </a:lnRef>
          <a:fillRef idx="0">
            <a:schemeClr val="accent1"/>
          </a:fillRef>
          <a:effectRef idx="0">
            <a:schemeClr val="accent1"/>
          </a:effectRef>
          <a:fontRef idx="minor"/>
        </p:style>
      </p:sp>
      <p:sp>
        <p:nvSpPr>
          <p:cNvPr id="375" name="CustomShape 23"/>
          <p:cNvSpPr/>
          <p:nvPr/>
        </p:nvSpPr>
        <p:spPr>
          <a:xfrm>
            <a:off x="9943560" y="358056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376" name="CustomShape 24"/>
          <p:cNvSpPr/>
          <p:nvPr/>
        </p:nvSpPr>
        <p:spPr>
          <a:xfrm rot="16200000">
            <a:off x="6491160" y="441792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377" name="CustomShape 25"/>
          <p:cNvSpPr/>
          <p:nvPr/>
        </p:nvSpPr>
        <p:spPr>
          <a:xfrm>
            <a:off x="6678720" y="629784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378" name="CustomShape 26"/>
          <p:cNvSpPr/>
          <p:nvPr/>
        </p:nvSpPr>
        <p:spPr>
          <a:xfrm>
            <a:off x="6975720" y="5997600"/>
            <a:ext cx="360" cy="2998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79" name="CustomShape 27"/>
          <p:cNvSpPr/>
          <p:nvPr/>
        </p:nvSpPr>
        <p:spPr>
          <a:xfrm>
            <a:off x="7272720" y="651852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80" name="CustomShape 28"/>
          <p:cNvSpPr/>
          <p:nvPr/>
        </p:nvSpPr>
        <p:spPr>
          <a:xfrm>
            <a:off x="7291800" y="630144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grpSp>
        <p:nvGrpSpPr>
          <p:cNvPr id="381" name="Group 29"/>
          <p:cNvGrpSpPr/>
          <p:nvPr/>
        </p:nvGrpSpPr>
        <p:grpSpPr>
          <a:xfrm>
            <a:off x="11109600" y="2731680"/>
            <a:ext cx="378720" cy="317880"/>
            <a:chOff x="11109600" y="2731680"/>
            <a:chExt cx="378720" cy="317880"/>
          </a:xfrm>
        </p:grpSpPr>
        <p:sp>
          <p:nvSpPr>
            <p:cNvPr id="382" name="CustomShape 30"/>
            <p:cNvSpPr/>
            <p:nvPr/>
          </p:nvSpPr>
          <p:spPr>
            <a:xfrm>
              <a:off x="11109600" y="279720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383" name="CustomShape 31"/>
            <p:cNvSpPr/>
            <p:nvPr/>
          </p:nvSpPr>
          <p:spPr>
            <a:xfrm>
              <a:off x="11215440" y="27316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384" name="CustomShape 32"/>
          <p:cNvSpPr/>
          <p:nvPr/>
        </p:nvSpPr>
        <p:spPr>
          <a:xfrm>
            <a:off x="4054320" y="108720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385" name="CustomShape 33"/>
          <p:cNvSpPr/>
          <p:nvPr/>
        </p:nvSpPr>
        <p:spPr>
          <a:xfrm flipV="1">
            <a:off x="5115600" y="1503720"/>
            <a:ext cx="957960" cy="18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86" name="CustomShape 34"/>
          <p:cNvSpPr/>
          <p:nvPr/>
        </p:nvSpPr>
        <p:spPr>
          <a:xfrm>
            <a:off x="7952760" y="128340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387" name="CustomShape 35"/>
          <p:cNvSpPr/>
          <p:nvPr/>
        </p:nvSpPr>
        <p:spPr>
          <a:xfrm>
            <a:off x="8359920" y="1725120"/>
            <a:ext cx="360" cy="6991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88" name="CustomShape 36"/>
          <p:cNvSpPr/>
          <p:nvPr/>
        </p:nvSpPr>
        <p:spPr>
          <a:xfrm>
            <a:off x="6692760" y="127044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389" name="CustomShape 37"/>
          <p:cNvSpPr/>
          <p:nvPr/>
        </p:nvSpPr>
        <p:spPr>
          <a:xfrm rot="16200000">
            <a:off x="7771320" y="1916280"/>
            <a:ext cx="9133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Re-training</a:t>
            </a:r>
            <a:endParaRPr b="0" lang="en-US" sz="1000" spc="-1" strike="noStrike">
              <a:latin typeface="Arial"/>
            </a:endParaRPr>
          </a:p>
        </p:txBody>
      </p:sp>
      <p:sp>
        <p:nvSpPr>
          <p:cNvPr id="390" name="CustomShape 38"/>
          <p:cNvSpPr/>
          <p:nvPr/>
        </p:nvSpPr>
        <p:spPr>
          <a:xfrm>
            <a:off x="9669960" y="272196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391" name="CustomShape 39"/>
          <p:cNvSpPr/>
          <p:nvPr/>
        </p:nvSpPr>
        <p:spPr>
          <a:xfrm>
            <a:off x="9282600" y="2942640"/>
            <a:ext cx="38736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92" name="CustomShape 40"/>
          <p:cNvSpPr/>
          <p:nvPr/>
        </p:nvSpPr>
        <p:spPr>
          <a:xfrm>
            <a:off x="10263960" y="294264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93" name="CustomShape 41"/>
          <p:cNvSpPr/>
          <p:nvPr/>
        </p:nvSpPr>
        <p:spPr>
          <a:xfrm>
            <a:off x="10270080" y="273528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pic>
        <p:nvPicPr>
          <p:cNvPr id="394" name="Picture 2" descr="33,559 BEST Admin Icon IMAGES, STOCK PHOTOS &amp;amp; VECTORS | Adobe Stock"/>
          <p:cNvPicPr/>
          <p:nvPr/>
        </p:nvPicPr>
        <p:blipFill>
          <a:blip r:embed="rId2"/>
          <a:srcRect l="33839" t="15814" r="33327" b="16240"/>
          <a:stretch/>
        </p:blipFill>
        <p:spPr>
          <a:xfrm>
            <a:off x="6073920" y="1112760"/>
            <a:ext cx="630000" cy="782640"/>
          </a:xfrm>
          <a:prstGeom prst="rect">
            <a:avLst/>
          </a:prstGeom>
          <a:ln>
            <a:noFill/>
          </a:ln>
        </p:spPr>
      </p:pic>
      <p:grpSp>
        <p:nvGrpSpPr>
          <p:cNvPr id="395" name="Group 42"/>
          <p:cNvGrpSpPr/>
          <p:nvPr/>
        </p:nvGrpSpPr>
        <p:grpSpPr>
          <a:xfrm>
            <a:off x="5230080" y="928080"/>
            <a:ext cx="929160" cy="859680"/>
            <a:chOff x="5230080" y="928080"/>
            <a:chExt cx="929160" cy="859680"/>
          </a:xfrm>
        </p:grpSpPr>
        <p:pic>
          <p:nvPicPr>
            <p:cNvPr id="396" name="Picture 4" descr="Batch Icons - Download Free Vector Icons | Noun Project"/>
            <p:cNvPicPr/>
            <p:nvPr/>
          </p:nvPicPr>
          <p:blipFill>
            <a:blip r:embed="rId3"/>
            <a:stretch/>
          </p:blipFill>
          <p:spPr>
            <a:xfrm>
              <a:off x="5459400" y="928080"/>
              <a:ext cx="470520" cy="470520"/>
            </a:xfrm>
            <a:prstGeom prst="rect">
              <a:avLst/>
            </a:prstGeom>
            <a:ln>
              <a:noFill/>
            </a:ln>
          </p:spPr>
        </p:pic>
        <p:sp>
          <p:nvSpPr>
            <p:cNvPr id="397" name="CustomShape 43"/>
            <p:cNvSpPr/>
            <p:nvPr/>
          </p:nvSpPr>
          <p:spPr>
            <a:xfrm>
              <a:off x="5230080" y="133308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sp>
        <p:nvSpPr>
          <p:cNvPr id="398" name="CustomShape 44"/>
          <p:cNvSpPr/>
          <p:nvPr/>
        </p:nvSpPr>
        <p:spPr>
          <a:xfrm>
            <a:off x="6704280" y="1504080"/>
            <a:ext cx="124812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399" name="Line 45"/>
          <p:cNvSpPr/>
          <p:nvPr/>
        </p:nvSpPr>
        <p:spPr>
          <a:xfrm>
            <a:off x="0" y="3429000"/>
            <a:ext cx="12480840" cy="0"/>
          </a:xfrm>
          <a:prstGeom prst="line">
            <a:avLst/>
          </a:prstGeom>
          <a:ln w="28440">
            <a:solidFill>
              <a:srgbClr val="ff0000"/>
            </a:solidFill>
            <a:prstDash val="dash"/>
            <a:round/>
          </a:ln>
        </p:spPr>
        <p:style>
          <a:lnRef idx="0"/>
          <a:fillRef idx="0"/>
          <a:effectRef idx="0"/>
          <a:fontRef idx="minor"/>
        </p:style>
      </p:sp>
      <p:sp>
        <p:nvSpPr>
          <p:cNvPr id="400" name="CustomShape 46"/>
          <p:cNvSpPr/>
          <p:nvPr/>
        </p:nvSpPr>
        <p:spPr>
          <a:xfrm>
            <a:off x="271080" y="1165680"/>
            <a:ext cx="339696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Passive Learning (Random Sampling)</a:t>
            </a:r>
            <a:endParaRPr b="0" lang="en-US" sz="1600" spc="-1" strike="noStrike">
              <a:latin typeface="Arial"/>
            </a:endParaRPr>
          </a:p>
        </p:txBody>
      </p:sp>
      <p:sp>
        <p:nvSpPr>
          <p:cNvPr id="401" name="CustomShape 47"/>
          <p:cNvSpPr/>
          <p:nvPr/>
        </p:nvSpPr>
        <p:spPr>
          <a:xfrm flipH="1" flipV="1">
            <a:off x="4583880" y="1087200"/>
            <a:ext cx="6856920" cy="1939680"/>
          </a:xfrm>
          <a:prstGeom prst="bentConnector4">
            <a:avLst>
              <a:gd name="adj1" fmla="val -3334"/>
              <a:gd name="adj2" fmla="val 111782"/>
            </a:avLst>
          </a:prstGeom>
          <a:noFill/>
          <a:ln>
            <a:tailEnd len="med" type="triangle" w="med"/>
          </a:ln>
        </p:spPr>
        <p:style>
          <a:lnRef idx="1">
            <a:schemeClr val="accent1"/>
          </a:lnRef>
          <a:fillRef idx="0">
            <a:schemeClr val="accent1"/>
          </a:fillRef>
          <a:effectRef idx="0">
            <a:schemeClr val="accent1"/>
          </a:effectRef>
          <a:fontRef idx="minor"/>
        </p:style>
      </p:sp>
      <p:sp>
        <p:nvSpPr>
          <p:cNvPr id="402" name="CustomShape 48"/>
          <p:cNvSpPr/>
          <p:nvPr/>
        </p:nvSpPr>
        <p:spPr>
          <a:xfrm>
            <a:off x="281520" y="3684960"/>
            <a:ext cx="362052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(Uncertainty Sampling)</a:t>
            </a:r>
            <a:endParaRPr b="0" lang="en-US" sz="1600" spc="-1" strike="noStrike">
              <a:latin typeface="Arial"/>
            </a:endParaRPr>
          </a:p>
        </p:txBody>
      </p:sp>
      <p:grpSp>
        <p:nvGrpSpPr>
          <p:cNvPr id="403" name="Group 49"/>
          <p:cNvGrpSpPr/>
          <p:nvPr/>
        </p:nvGrpSpPr>
        <p:grpSpPr>
          <a:xfrm>
            <a:off x="5029560" y="4880880"/>
            <a:ext cx="929160" cy="859680"/>
            <a:chOff x="5029560" y="4880880"/>
            <a:chExt cx="929160" cy="859680"/>
          </a:xfrm>
        </p:grpSpPr>
        <p:pic>
          <p:nvPicPr>
            <p:cNvPr id="404" name="Picture 4" descr="Batch Icons - Download Free Vector Icons | Noun Project"/>
            <p:cNvPicPr/>
            <p:nvPr/>
          </p:nvPicPr>
          <p:blipFill>
            <a:blip r:embed="rId4"/>
            <a:stretch/>
          </p:blipFill>
          <p:spPr>
            <a:xfrm>
              <a:off x="5258880" y="4880880"/>
              <a:ext cx="470520" cy="470520"/>
            </a:xfrm>
            <a:prstGeom prst="rect">
              <a:avLst/>
            </a:prstGeom>
            <a:ln>
              <a:noFill/>
            </a:ln>
          </p:spPr>
        </p:pic>
        <p:sp>
          <p:nvSpPr>
            <p:cNvPr id="405" name="CustomShape 50"/>
            <p:cNvSpPr/>
            <p:nvPr/>
          </p:nvSpPr>
          <p:spPr>
            <a:xfrm>
              <a:off x="5029560" y="528588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pic>
        <p:nvPicPr>
          <p:cNvPr id="406" name="Picture 2" descr="Neural Network Icons - Download Free Vector Icons | Noun Project"/>
          <p:cNvPicPr/>
          <p:nvPr/>
        </p:nvPicPr>
        <p:blipFill>
          <a:blip r:embed="rId5"/>
          <a:stretch/>
        </p:blipFill>
        <p:spPr>
          <a:xfrm>
            <a:off x="7645680" y="2124000"/>
            <a:ext cx="1636560" cy="1636560"/>
          </a:xfrm>
          <a:prstGeom prst="rect">
            <a:avLst/>
          </a:prstGeom>
          <a:ln>
            <a:noFill/>
          </a:ln>
        </p:spPr>
      </p:pic>
      <p:pic>
        <p:nvPicPr>
          <p:cNvPr id="407" name="Picture 2" descr="Neural Network Icons - Download Free Vector Icons | Noun Project"/>
          <p:cNvPicPr/>
          <p:nvPr/>
        </p:nvPicPr>
        <p:blipFill>
          <a:blip r:embed="rId6"/>
          <a:srcRect l="4466" t="16459" r="3969" b="17012"/>
          <a:stretch/>
        </p:blipFill>
        <p:spPr>
          <a:xfrm>
            <a:off x="6370560" y="4987800"/>
            <a:ext cx="1498320" cy="1088640"/>
          </a:xfrm>
          <a:prstGeom prst="rect">
            <a:avLst/>
          </a:prstGeom>
          <a:ln>
            <a:noFill/>
          </a:ln>
        </p:spPr>
      </p:pic>
      <p:sp>
        <p:nvSpPr>
          <p:cNvPr id="408" name="CustomShape 51"/>
          <p:cNvSpPr/>
          <p:nvPr/>
        </p:nvSpPr>
        <p:spPr>
          <a:xfrm>
            <a:off x="108000" y="4161240"/>
            <a:ext cx="4060080" cy="91332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de-DE" sz="1800" spc="-1" strike="noStrike">
                <a:solidFill>
                  <a:srgbClr val="000000"/>
                </a:solidFill>
                <a:latin typeface="Calibri"/>
              </a:rPr>
              <a:t>Two predict options in TF</a:t>
            </a:r>
            <a:endParaRPr b="0" lang="en-US" sz="1800" spc="-1" strike="noStrike">
              <a:latin typeface="Arial"/>
            </a:endParaRPr>
          </a:p>
          <a:p>
            <a:pPr marL="343080" indent="-342720">
              <a:lnSpc>
                <a:spcPct val="100000"/>
              </a:lnSpc>
              <a:buClr>
                <a:srgbClr val="000000"/>
              </a:buClr>
              <a:buFont typeface="Calibri Light"/>
              <a:buAutoNum type="arabicPeriod"/>
            </a:pPr>
            <a:r>
              <a:rPr b="0" lang="de-DE" sz="1800" spc="-1" strike="noStrike">
                <a:solidFill>
                  <a:srgbClr val="000000"/>
                </a:solidFill>
                <a:latin typeface="Calibri"/>
              </a:rPr>
              <a:t>Model.predict: gives probbility </a:t>
            </a:r>
            <a:endParaRPr b="0" lang="en-US" sz="1800" spc="-1" strike="noStrike">
              <a:latin typeface="Arial"/>
            </a:endParaRPr>
          </a:p>
          <a:p>
            <a:pPr marL="343080" indent="-342720">
              <a:lnSpc>
                <a:spcPct val="100000"/>
              </a:lnSpc>
              <a:buClr>
                <a:srgbClr val="000000"/>
              </a:buClr>
              <a:buFont typeface="Calibri Light"/>
              <a:buAutoNum type="arabicPeriod"/>
            </a:pPr>
            <a:r>
              <a:rPr b="0" lang="de-DE" sz="1800" spc="-1" strike="noStrike">
                <a:solidFill>
                  <a:srgbClr val="000000"/>
                </a:solidFill>
                <a:latin typeface="Calibri"/>
              </a:rPr>
              <a:t>Model.predict_classes</a:t>
            </a:r>
            <a:endParaRPr b="0" lang="en-US" sz="1800" spc="-1" strike="noStrike">
              <a:latin typeface="Arial"/>
            </a:endParaRPr>
          </a:p>
        </p:txBody>
      </p:sp>
      <p:sp>
        <p:nvSpPr>
          <p:cNvPr id="409" name="TextShape 52"/>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410" name="TextShape 53"/>
          <p:cNvSpPr txBox="1"/>
          <p:nvPr/>
        </p:nvSpPr>
        <p:spPr>
          <a:xfrm>
            <a:off x="8610480" y="6356520"/>
            <a:ext cx="2742840" cy="364680"/>
          </a:xfrm>
          <a:prstGeom prst="rect">
            <a:avLst/>
          </a:prstGeom>
          <a:noFill/>
          <a:ln>
            <a:noFill/>
          </a:ln>
        </p:spPr>
        <p:txBody>
          <a:bodyPr anchor="ctr">
            <a:noAutofit/>
          </a:bodyPr>
          <a:p>
            <a:pPr algn="r">
              <a:lnSpc>
                <a:spcPct val="100000"/>
              </a:lnSpc>
            </a:pPr>
            <a:fld id="{F47D2AA6-5AEF-497B-85C1-932DB6918D8C}"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TextShape 1"/>
          <p:cNvSpPr txBox="1"/>
          <p:nvPr/>
        </p:nvSpPr>
        <p:spPr>
          <a:xfrm>
            <a:off x="363240" y="-200520"/>
            <a:ext cx="10515240" cy="1325160"/>
          </a:xfrm>
          <a:prstGeom prst="rect">
            <a:avLst/>
          </a:prstGeom>
          <a:noFill/>
          <a:ln>
            <a:noFill/>
          </a:ln>
        </p:spPr>
        <p:txBody>
          <a:bodyPr anchor="ctr">
            <a:normAutofit/>
          </a:bodyPr>
          <a:p>
            <a:pPr>
              <a:lnSpc>
                <a:spcPct val="90000"/>
              </a:lnSpc>
            </a:pPr>
            <a:r>
              <a:rPr b="0" lang="en-US" sz="4200" spc="-1" strike="noStrike">
                <a:solidFill>
                  <a:srgbClr val="000000"/>
                </a:solidFill>
                <a:latin typeface="Calibri Light"/>
              </a:rPr>
              <a:t>Deep Active Learning with </a:t>
            </a:r>
            <a:r>
              <a:rPr b="1" lang="en-US" sz="4200" spc="-1" strike="noStrike">
                <a:solidFill>
                  <a:srgbClr val="ff0000"/>
                </a:solidFill>
                <a:latin typeface="Calibri Light"/>
              </a:rPr>
              <a:t>CNN</a:t>
            </a:r>
            <a:r>
              <a:rPr b="0" lang="en-US" sz="4200" spc="-1" strike="noStrike">
                <a:solidFill>
                  <a:srgbClr val="000000"/>
                </a:solidFill>
                <a:latin typeface="Calibri Light"/>
              </a:rPr>
              <a:t>: </a:t>
            </a:r>
            <a:r>
              <a:rPr b="1" lang="en-US" sz="4200" spc="-1" strike="noStrike">
                <a:solidFill>
                  <a:srgbClr val="ff0000"/>
                </a:solidFill>
                <a:latin typeface="Calibri Light"/>
              </a:rPr>
              <a:t>Batch Training</a:t>
            </a:r>
            <a:endParaRPr b="0" lang="en-US" sz="4200" spc="-1" strike="noStrike">
              <a:solidFill>
                <a:srgbClr val="000000"/>
              </a:solidFill>
              <a:latin typeface="Calibri"/>
            </a:endParaRPr>
          </a:p>
        </p:txBody>
      </p:sp>
      <p:grpSp>
        <p:nvGrpSpPr>
          <p:cNvPr id="412" name="Group 2"/>
          <p:cNvGrpSpPr/>
          <p:nvPr/>
        </p:nvGrpSpPr>
        <p:grpSpPr>
          <a:xfrm>
            <a:off x="8519400" y="6297840"/>
            <a:ext cx="378720" cy="317880"/>
            <a:chOff x="8519400" y="6297840"/>
            <a:chExt cx="378720" cy="317880"/>
          </a:xfrm>
        </p:grpSpPr>
        <p:sp>
          <p:nvSpPr>
            <p:cNvPr id="413" name="CustomShape 3"/>
            <p:cNvSpPr/>
            <p:nvPr/>
          </p:nvSpPr>
          <p:spPr>
            <a:xfrm>
              <a:off x="8519400" y="636336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414" name="CustomShape 4"/>
            <p:cNvSpPr/>
            <p:nvPr/>
          </p:nvSpPr>
          <p:spPr>
            <a:xfrm>
              <a:off x="8625240" y="629784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415" name="CustomShape 5"/>
          <p:cNvSpPr/>
          <p:nvPr/>
        </p:nvSpPr>
        <p:spPr>
          <a:xfrm>
            <a:off x="4757400" y="509112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416" name="CustomShape 6"/>
          <p:cNvSpPr/>
          <p:nvPr/>
        </p:nvSpPr>
        <p:spPr>
          <a:xfrm>
            <a:off x="5818320" y="5526360"/>
            <a:ext cx="939960" cy="57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17" name="CustomShape 7"/>
          <p:cNvSpPr/>
          <p:nvPr/>
        </p:nvSpPr>
        <p:spPr>
          <a:xfrm>
            <a:off x="8257320" y="5532480"/>
            <a:ext cx="33840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pic>
        <p:nvPicPr>
          <p:cNvPr id="418" name="Picture 2" descr="33,559 BEST Admin Icon IMAGES, STOCK PHOTOS &amp;amp; VECTORS | Adobe Stock"/>
          <p:cNvPicPr/>
          <p:nvPr/>
        </p:nvPicPr>
        <p:blipFill>
          <a:blip r:embed="rId1"/>
          <a:srcRect l="33839" t="15814" r="33327" b="16240"/>
          <a:stretch/>
        </p:blipFill>
        <p:spPr>
          <a:xfrm>
            <a:off x="11517840" y="5127480"/>
            <a:ext cx="630000" cy="782640"/>
          </a:xfrm>
          <a:prstGeom prst="rect">
            <a:avLst/>
          </a:prstGeom>
          <a:ln>
            <a:noFill/>
          </a:ln>
        </p:spPr>
      </p:pic>
      <p:sp>
        <p:nvSpPr>
          <p:cNvPr id="419" name="CustomShape 8"/>
          <p:cNvSpPr/>
          <p:nvPr/>
        </p:nvSpPr>
        <p:spPr>
          <a:xfrm flipV="1">
            <a:off x="9590760" y="5518440"/>
            <a:ext cx="382680" cy="10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420" name="Group 9"/>
          <p:cNvGrpSpPr/>
          <p:nvPr/>
        </p:nvGrpSpPr>
        <p:grpSpPr>
          <a:xfrm>
            <a:off x="8597880" y="5085720"/>
            <a:ext cx="992520" cy="905040"/>
            <a:chOff x="8597880" y="5085720"/>
            <a:chExt cx="992520" cy="905040"/>
          </a:xfrm>
        </p:grpSpPr>
        <p:sp>
          <p:nvSpPr>
            <p:cNvPr id="421" name="CustomShape 10"/>
            <p:cNvSpPr/>
            <p:nvPr/>
          </p:nvSpPr>
          <p:spPr>
            <a:xfrm>
              <a:off x="8597880" y="5085720"/>
              <a:ext cx="992520" cy="870120"/>
            </a:xfrm>
            <a:prstGeom prst="rect">
              <a:avLst/>
            </a:prstGeom>
            <a:ln w="25560"/>
          </p:spPr>
          <p:style>
            <a:lnRef idx="2">
              <a:schemeClr val="accent1"/>
            </a:lnRef>
            <a:fillRef idx="1">
              <a:schemeClr val="lt1"/>
            </a:fillRef>
            <a:effectRef idx="0">
              <a:schemeClr val="accent1"/>
            </a:effectRef>
            <a:fontRef idx="minor"/>
          </p:style>
        </p:sp>
        <p:sp>
          <p:nvSpPr>
            <p:cNvPr id="422" name="CustomShape 11"/>
            <p:cNvSpPr/>
            <p:nvPr/>
          </p:nvSpPr>
          <p:spPr>
            <a:xfrm>
              <a:off x="8597880" y="541116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423" name="CustomShape 12"/>
            <p:cNvSpPr/>
            <p:nvPr/>
          </p:nvSpPr>
          <p:spPr>
            <a:xfrm>
              <a:off x="8597880" y="508572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424" name="CustomShape 13"/>
          <p:cNvSpPr/>
          <p:nvPr/>
        </p:nvSpPr>
        <p:spPr>
          <a:xfrm flipV="1" rot="16200000">
            <a:off x="8636400" y="3246840"/>
            <a:ext cx="1027440" cy="265320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425" name="CustomShape 14"/>
          <p:cNvSpPr/>
          <p:nvPr/>
        </p:nvSpPr>
        <p:spPr>
          <a:xfrm>
            <a:off x="8251560" y="554724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426" name="CustomShape 15"/>
          <p:cNvSpPr/>
          <p:nvPr/>
        </p:nvSpPr>
        <p:spPr>
          <a:xfrm>
            <a:off x="8261280" y="510768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427" name="CustomShape 16"/>
          <p:cNvSpPr/>
          <p:nvPr/>
        </p:nvSpPr>
        <p:spPr>
          <a:xfrm>
            <a:off x="9973800" y="508788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428" name="CustomShape 17"/>
          <p:cNvSpPr/>
          <p:nvPr/>
        </p:nvSpPr>
        <p:spPr>
          <a:xfrm flipV="1">
            <a:off x="10979640" y="5518080"/>
            <a:ext cx="5378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29" name="CustomShape 18"/>
          <p:cNvSpPr/>
          <p:nvPr/>
        </p:nvSpPr>
        <p:spPr>
          <a:xfrm>
            <a:off x="10692000" y="532980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430" name="CustomShape 19"/>
          <p:cNvSpPr/>
          <p:nvPr/>
        </p:nvSpPr>
        <p:spPr>
          <a:xfrm>
            <a:off x="10311120" y="504576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431" name="CustomShape 20"/>
          <p:cNvSpPr/>
          <p:nvPr/>
        </p:nvSpPr>
        <p:spPr>
          <a:xfrm>
            <a:off x="7008840" y="383904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432" name="CustomShape 21"/>
          <p:cNvSpPr/>
          <p:nvPr/>
        </p:nvSpPr>
        <p:spPr>
          <a:xfrm>
            <a:off x="7416000" y="428076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33" name="CustomShape 22"/>
          <p:cNvSpPr/>
          <p:nvPr/>
        </p:nvSpPr>
        <p:spPr>
          <a:xfrm flipV="1" rot="16200000">
            <a:off x="8980560" y="2274840"/>
            <a:ext cx="1288080" cy="4416480"/>
          </a:xfrm>
          <a:prstGeom prst="bentConnector3">
            <a:avLst>
              <a:gd name="adj1" fmla="val 117745"/>
            </a:avLst>
          </a:prstGeom>
          <a:noFill/>
          <a:ln>
            <a:tailEnd len="med" type="triangle" w="med"/>
          </a:ln>
        </p:spPr>
        <p:style>
          <a:lnRef idx="1">
            <a:schemeClr val="accent1"/>
          </a:lnRef>
          <a:fillRef idx="0">
            <a:schemeClr val="accent1"/>
          </a:fillRef>
          <a:effectRef idx="0">
            <a:schemeClr val="accent1"/>
          </a:effectRef>
          <a:fontRef idx="minor"/>
        </p:style>
      </p:sp>
      <p:sp>
        <p:nvSpPr>
          <p:cNvPr id="434" name="CustomShape 23"/>
          <p:cNvSpPr/>
          <p:nvPr/>
        </p:nvSpPr>
        <p:spPr>
          <a:xfrm>
            <a:off x="9943560" y="358056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435" name="CustomShape 24"/>
          <p:cNvSpPr/>
          <p:nvPr/>
        </p:nvSpPr>
        <p:spPr>
          <a:xfrm>
            <a:off x="7066800" y="629784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436" name="CustomShape 25"/>
          <p:cNvSpPr/>
          <p:nvPr/>
        </p:nvSpPr>
        <p:spPr>
          <a:xfrm>
            <a:off x="7363800" y="5997600"/>
            <a:ext cx="360" cy="2998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37" name="CustomShape 26"/>
          <p:cNvSpPr/>
          <p:nvPr/>
        </p:nvSpPr>
        <p:spPr>
          <a:xfrm>
            <a:off x="7660800" y="651852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38" name="CustomShape 27"/>
          <p:cNvSpPr/>
          <p:nvPr/>
        </p:nvSpPr>
        <p:spPr>
          <a:xfrm>
            <a:off x="7679880" y="630144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grpSp>
        <p:nvGrpSpPr>
          <p:cNvPr id="439" name="Group 28"/>
          <p:cNvGrpSpPr/>
          <p:nvPr/>
        </p:nvGrpSpPr>
        <p:grpSpPr>
          <a:xfrm>
            <a:off x="11109600" y="2731680"/>
            <a:ext cx="378720" cy="317880"/>
            <a:chOff x="11109600" y="2731680"/>
            <a:chExt cx="378720" cy="317880"/>
          </a:xfrm>
        </p:grpSpPr>
        <p:sp>
          <p:nvSpPr>
            <p:cNvPr id="440" name="CustomShape 29"/>
            <p:cNvSpPr/>
            <p:nvPr/>
          </p:nvSpPr>
          <p:spPr>
            <a:xfrm>
              <a:off x="11109600" y="279720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441" name="CustomShape 30"/>
            <p:cNvSpPr/>
            <p:nvPr/>
          </p:nvSpPr>
          <p:spPr>
            <a:xfrm>
              <a:off x="11215440" y="27316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442" name="CustomShape 31"/>
          <p:cNvSpPr/>
          <p:nvPr/>
        </p:nvSpPr>
        <p:spPr>
          <a:xfrm>
            <a:off x="4054320" y="108720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443" name="CustomShape 32"/>
          <p:cNvSpPr/>
          <p:nvPr/>
        </p:nvSpPr>
        <p:spPr>
          <a:xfrm flipV="1">
            <a:off x="5115600" y="1503720"/>
            <a:ext cx="968400" cy="18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44" name="CustomShape 33"/>
          <p:cNvSpPr/>
          <p:nvPr/>
        </p:nvSpPr>
        <p:spPr>
          <a:xfrm>
            <a:off x="7952760" y="1283400"/>
            <a:ext cx="813960" cy="44136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445" name="CustomShape 34"/>
          <p:cNvSpPr/>
          <p:nvPr/>
        </p:nvSpPr>
        <p:spPr>
          <a:xfrm>
            <a:off x="8359920" y="1725120"/>
            <a:ext cx="360" cy="69912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46" name="CustomShape 35"/>
          <p:cNvSpPr/>
          <p:nvPr/>
        </p:nvSpPr>
        <p:spPr>
          <a:xfrm>
            <a:off x="6692760" y="127044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447" name="CustomShape 36"/>
          <p:cNvSpPr/>
          <p:nvPr/>
        </p:nvSpPr>
        <p:spPr>
          <a:xfrm rot="16200000">
            <a:off x="7758000" y="1866960"/>
            <a:ext cx="913320" cy="3949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000" spc="-1" strike="noStrike">
                <a:solidFill>
                  <a:srgbClr val="ff0000"/>
                </a:solidFill>
                <a:latin typeface="Calibri"/>
              </a:rPr>
              <a:t>Batch Training</a:t>
            </a:r>
            <a:endParaRPr b="0" lang="en-US" sz="1000" spc="-1" strike="noStrike">
              <a:latin typeface="Arial"/>
            </a:endParaRPr>
          </a:p>
        </p:txBody>
      </p:sp>
      <p:sp>
        <p:nvSpPr>
          <p:cNvPr id="448" name="CustomShape 37"/>
          <p:cNvSpPr/>
          <p:nvPr/>
        </p:nvSpPr>
        <p:spPr>
          <a:xfrm>
            <a:off x="9669960" y="272196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449" name="CustomShape 38"/>
          <p:cNvSpPr/>
          <p:nvPr/>
        </p:nvSpPr>
        <p:spPr>
          <a:xfrm>
            <a:off x="9282600" y="2942640"/>
            <a:ext cx="38736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50" name="CustomShape 39"/>
          <p:cNvSpPr/>
          <p:nvPr/>
        </p:nvSpPr>
        <p:spPr>
          <a:xfrm>
            <a:off x="10263960" y="294264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51" name="CustomShape 40"/>
          <p:cNvSpPr/>
          <p:nvPr/>
        </p:nvSpPr>
        <p:spPr>
          <a:xfrm>
            <a:off x="10270080" y="273528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pic>
        <p:nvPicPr>
          <p:cNvPr id="452" name="Picture 2" descr="33,559 BEST Admin Icon IMAGES, STOCK PHOTOS &amp;amp; VECTORS | Adobe Stock"/>
          <p:cNvPicPr/>
          <p:nvPr/>
        </p:nvPicPr>
        <p:blipFill>
          <a:blip r:embed="rId2"/>
          <a:srcRect l="33839" t="15814" r="33327" b="16240"/>
          <a:stretch/>
        </p:blipFill>
        <p:spPr>
          <a:xfrm>
            <a:off x="6084360" y="1112760"/>
            <a:ext cx="630000" cy="782640"/>
          </a:xfrm>
          <a:prstGeom prst="rect">
            <a:avLst/>
          </a:prstGeom>
          <a:ln>
            <a:noFill/>
          </a:ln>
        </p:spPr>
      </p:pic>
      <p:grpSp>
        <p:nvGrpSpPr>
          <p:cNvPr id="453" name="Group 41"/>
          <p:cNvGrpSpPr/>
          <p:nvPr/>
        </p:nvGrpSpPr>
        <p:grpSpPr>
          <a:xfrm>
            <a:off x="5230080" y="928080"/>
            <a:ext cx="929160" cy="859680"/>
            <a:chOff x="5230080" y="928080"/>
            <a:chExt cx="929160" cy="859680"/>
          </a:xfrm>
        </p:grpSpPr>
        <p:pic>
          <p:nvPicPr>
            <p:cNvPr id="454" name="Picture 4" descr="Batch Icons - Download Free Vector Icons | Noun Project"/>
            <p:cNvPicPr/>
            <p:nvPr/>
          </p:nvPicPr>
          <p:blipFill>
            <a:blip r:embed="rId3"/>
            <a:stretch/>
          </p:blipFill>
          <p:spPr>
            <a:xfrm>
              <a:off x="5459400" y="928080"/>
              <a:ext cx="470520" cy="470520"/>
            </a:xfrm>
            <a:prstGeom prst="rect">
              <a:avLst/>
            </a:prstGeom>
            <a:ln>
              <a:noFill/>
            </a:ln>
          </p:spPr>
        </p:pic>
        <p:sp>
          <p:nvSpPr>
            <p:cNvPr id="455" name="CustomShape 42"/>
            <p:cNvSpPr/>
            <p:nvPr/>
          </p:nvSpPr>
          <p:spPr>
            <a:xfrm>
              <a:off x="5230080" y="133308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sp>
        <p:nvSpPr>
          <p:cNvPr id="456" name="CustomShape 43"/>
          <p:cNvSpPr/>
          <p:nvPr/>
        </p:nvSpPr>
        <p:spPr>
          <a:xfrm>
            <a:off x="6714720" y="1504080"/>
            <a:ext cx="123768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57" name="Line 44"/>
          <p:cNvSpPr/>
          <p:nvPr/>
        </p:nvSpPr>
        <p:spPr>
          <a:xfrm>
            <a:off x="0" y="3429000"/>
            <a:ext cx="12191760" cy="0"/>
          </a:xfrm>
          <a:prstGeom prst="line">
            <a:avLst/>
          </a:prstGeom>
          <a:ln w="28440">
            <a:solidFill>
              <a:srgbClr val="ff0000"/>
            </a:solidFill>
            <a:prstDash val="dash"/>
            <a:round/>
          </a:ln>
        </p:spPr>
        <p:style>
          <a:lnRef idx="0"/>
          <a:fillRef idx="0"/>
          <a:effectRef idx="0"/>
          <a:fontRef idx="minor"/>
        </p:style>
      </p:sp>
      <p:sp>
        <p:nvSpPr>
          <p:cNvPr id="458" name="CustomShape 45"/>
          <p:cNvSpPr/>
          <p:nvPr/>
        </p:nvSpPr>
        <p:spPr>
          <a:xfrm>
            <a:off x="271080" y="1165680"/>
            <a:ext cx="339696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Passive Learning (Random Sampling)</a:t>
            </a:r>
            <a:endParaRPr b="0" lang="en-US" sz="1600" spc="-1" strike="noStrike">
              <a:latin typeface="Arial"/>
            </a:endParaRPr>
          </a:p>
        </p:txBody>
      </p:sp>
      <p:sp>
        <p:nvSpPr>
          <p:cNvPr id="459" name="CustomShape 46"/>
          <p:cNvSpPr/>
          <p:nvPr/>
        </p:nvSpPr>
        <p:spPr>
          <a:xfrm flipH="1" flipV="1">
            <a:off x="4583880" y="1087200"/>
            <a:ext cx="6856920" cy="1939680"/>
          </a:xfrm>
          <a:prstGeom prst="bentConnector4">
            <a:avLst>
              <a:gd name="adj1" fmla="val -3334"/>
              <a:gd name="adj2" fmla="val 111782"/>
            </a:avLst>
          </a:prstGeom>
          <a:noFill/>
          <a:ln>
            <a:tailEnd len="med" type="triangle" w="med"/>
          </a:ln>
        </p:spPr>
        <p:style>
          <a:lnRef idx="1">
            <a:schemeClr val="accent1"/>
          </a:lnRef>
          <a:fillRef idx="0">
            <a:schemeClr val="accent1"/>
          </a:fillRef>
          <a:effectRef idx="0">
            <a:schemeClr val="accent1"/>
          </a:effectRef>
          <a:fontRef idx="minor"/>
        </p:style>
      </p:sp>
      <p:sp>
        <p:nvSpPr>
          <p:cNvPr id="460" name="CustomShape 47"/>
          <p:cNvSpPr/>
          <p:nvPr/>
        </p:nvSpPr>
        <p:spPr>
          <a:xfrm>
            <a:off x="281520" y="3684960"/>
            <a:ext cx="362052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(Uncertainty Sampling)</a:t>
            </a:r>
            <a:endParaRPr b="0" lang="en-US" sz="1600" spc="-1" strike="noStrike">
              <a:latin typeface="Arial"/>
            </a:endParaRPr>
          </a:p>
        </p:txBody>
      </p:sp>
      <p:grpSp>
        <p:nvGrpSpPr>
          <p:cNvPr id="461" name="Group 48"/>
          <p:cNvGrpSpPr/>
          <p:nvPr/>
        </p:nvGrpSpPr>
        <p:grpSpPr>
          <a:xfrm>
            <a:off x="5823720" y="4864320"/>
            <a:ext cx="929160" cy="859680"/>
            <a:chOff x="5823720" y="4864320"/>
            <a:chExt cx="929160" cy="859680"/>
          </a:xfrm>
        </p:grpSpPr>
        <p:pic>
          <p:nvPicPr>
            <p:cNvPr id="462" name="Picture 4" descr="Batch Icons - Download Free Vector Icons | Noun Project"/>
            <p:cNvPicPr/>
            <p:nvPr/>
          </p:nvPicPr>
          <p:blipFill>
            <a:blip r:embed="rId4"/>
            <a:stretch/>
          </p:blipFill>
          <p:spPr>
            <a:xfrm>
              <a:off x="6053040" y="4864320"/>
              <a:ext cx="470520" cy="470520"/>
            </a:xfrm>
            <a:prstGeom prst="rect">
              <a:avLst/>
            </a:prstGeom>
            <a:ln>
              <a:noFill/>
            </a:ln>
          </p:spPr>
        </p:pic>
        <p:sp>
          <p:nvSpPr>
            <p:cNvPr id="463" name="CustomShape 49"/>
            <p:cNvSpPr/>
            <p:nvPr/>
          </p:nvSpPr>
          <p:spPr>
            <a:xfrm>
              <a:off x="5823720" y="526932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pic>
        <p:nvPicPr>
          <p:cNvPr id="464" name="Picture 2" descr="Neural Network Icons - Download Free Vector Icons | Noun Project"/>
          <p:cNvPicPr/>
          <p:nvPr/>
        </p:nvPicPr>
        <p:blipFill>
          <a:blip r:embed="rId5"/>
          <a:stretch/>
        </p:blipFill>
        <p:spPr>
          <a:xfrm>
            <a:off x="7645680" y="2124000"/>
            <a:ext cx="1636560" cy="1636560"/>
          </a:xfrm>
          <a:prstGeom prst="rect">
            <a:avLst/>
          </a:prstGeom>
          <a:ln>
            <a:noFill/>
          </a:ln>
        </p:spPr>
      </p:pic>
      <p:pic>
        <p:nvPicPr>
          <p:cNvPr id="465" name="Picture 2" descr="Neural Network Icons - Download Free Vector Icons | Noun Project"/>
          <p:cNvPicPr/>
          <p:nvPr/>
        </p:nvPicPr>
        <p:blipFill>
          <a:blip r:embed="rId6"/>
          <a:srcRect l="4466" t="16459" r="3969" b="17012"/>
          <a:stretch/>
        </p:blipFill>
        <p:spPr>
          <a:xfrm>
            <a:off x="6758640" y="4987800"/>
            <a:ext cx="1498320" cy="1088640"/>
          </a:xfrm>
          <a:prstGeom prst="rect">
            <a:avLst/>
          </a:prstGeom>
          <a:ln>
            <a:noFill/>
          </a:ln>
        </p:spPr>
      </p:pic>
      <p:sp>
        <p:nvSpPr>
          <p:cNvPr id="466" name="CustomShape 50"/>
          <p:cNvSpPr/>
          <p:nvPr/>
        </p:nvSpPr>
        <p:spPr>
          <a:xfrm rot="16200000">
            <a:off x="6791400" y="4422600"/>
            <a:ext cx="913320" cy="3949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000" spc="-1" strike="noStrike">
                <a:solidFill>
                  <a:srgbClr val="ff0000"/>
                </a:solidFill>
                <a:latin typeface="Calibri"/>
              </a:rPr>
              <a:t>Batch Training</a:t>
            </a:r>
            <a:endParaRPr b="0" lang="en-US" sz="1000" spc="-1" strike="noStrike">
              <a:latin typeface="Arial"/>
            </a:endParaRPr>
          </a:p>
        </p:txBody>
      </p:sp>
      <p:pic>
        <p:nvPicPr>
          <p:cNvPr id="467" name="Picture 8" descr=""/>
          <p:cNvPicPr/>
          <p:nvPr/>
        </p:nvPicPr>
        <p:blipFill>
          <a:blip r:embed="rId7"/>
          <a:stretch/>
        </p:blipFill>
        <p:spPr>
          <a:xfrm>
            <a:off x="52920" y="4749480"/>
            <a:ext cx="4512600" cy="1866240"/>
          </a:xfrm>
          <a:prstGeom prst="rect">
            <a:avLst/>
          </a:prstGeom>
          <a:ln>
            <a:noFill/>
          </a:ln>
        </p:spPr>
      </p:pic>
      <p:sp>
        <p:nvSpPr>
          <p:cNvPr id="468" name="CustomShape 51"/>
          <p:cNvSpPr/>
          <p:nvPr/>
        </p:nvSpPr>
        <p:spPr>
          <a:xfrm>
            <a:off x="807840" y="6589440"/>
            <a:ext cx="2323080" cy="3942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LinBiolinumT"/>
              </a:rPr>
              <a:t>Paper: A Survey of Deep Active Learning</a:t>
            </a:r>
            <a:endParaRPr b="0" lang="en-US" sz="1000" spc="-1" strike="noStrike">
              <a:latin typeface="Arial"/>
            </a:endParaRPr>
          </a:p>
        </p:txBody>
      </p:sp>
      <p:sp>
        <p:nvSpPr>
          <p:cNvPr id="469" name="CustomShape 52"/>
          <p:cNvSpPr/>
          <p:nvPr/>
        </p:nvSpPr>
        <p:spPr>
          <a:xfrm>
            <a:off x="44280" y="2094480"/>
            <a:ext cx="515232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de-DE" sz="1800" spc="-1" strike="noStrike">
                <a:solidFill>
                  <a:srgbClr val="000000"/>
                </a:solidFill>
                <a:latin typeface="Calibri"/>
              </a:rPr>
              <a:t>Use model.train_on_batch (data, label), </a:t>
            </a:r>
            <a:r>
              <a:rPr b="0" lang="de-DE" sz="1800" spc="-1" strike="noStrike" u="sng">
                <a:solidFill>
                  <a:srgbClr val="0563c1"/>
                </a:solidFill>
                <a:uFillTx/>
                <a:latin typeface="Calibri"/>
                <a:hlinkClick r:id="rId8"/>
              </a:rPr>
              <a:t>ref</a:t>
            </a:r>
            <a:r>
              <a:rPr b="0" lang="de-DE" sz="1800" spc="-1" strike="noStrike">
                <a:solidFill>
                  <a:srgbClr val="000000"/>
                </a:solidFill>
                <a:latin typeface="Calibri"/>
              </a:rPr>
              <a:t> </a:t>
            </a:r>
            <a:endParaRPr b="0" lang="en-US" sz="1800" spc="-1" strike="noStrike">
              <a:latin typeface="Arial"/>
            </a:endParaRPr>
          </a:p>
        </p:txBody>
      </p:sp>
      <p:sp>
        <p:nvSpPr>
          <p:cNvPr id="470" name="CustomShape 53"/>
          <p:cNvSpPr/>
          <p:nvPr/>
        </p:nvSpPr>
        <p:spPr>
          <a:xfrm>
            <a:off x="-5760" y="4143600"/>
            <a:ext cx="515232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de-DE" sz="1800" spc="-1" strike="noStrike">
                <a:solidFill>
                  <a:srgbClr val="000000"/>
                </a:solidFill>
                <a:latin typeface="Calibri"/>
              </a:rPr>
              <a:t>Use model.train_on_batch (data, label), </a:t>
            </a:r>
            <a:r>
              <a:rPr b="0" lang="de-DE" sz="1800" spc="-1" strike="noStrike" u="sng">
                <a:solidFill>
                  <a:srgbClr val="0563c1"/>
                </a:solidFill>
                <a:uFillTx/>
                <a:latin typeface="Calibri"/>
                <a:hlinkClick r:id="rId9"/>
              </a:rPr>
              <a:t>ref</a:t>
            </a:r>
            <a:r>
              <a:rPr b="0" lang="de-DE" sz="1800" spc="-1" strike="noStrike">
                <a:solidFill>
                  <a:srgbClr val="000000"/>
                </a:solidFill>
                <a:latin typeface="Calibri"/>
              </a:rPr>
              <a:t> </a:t>
            </a:r>
            <a:endParaRPr b="0" lang="en-US" sz="1800" spc="-1" strike="noStrike">
              <a:latin typeface="Arial"/>
            </a:endParaRPr>
          </a:p>
        </p:txBody>
      </p:sp>
      <p:sp>
        <p:nvSpPr>
          <p:cNvPr id="471" name="TextShape 54"/>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472" name="TextShape 55"/>
          <p:cNvSpPr txBox="1"/>
          <p:nvPr/>
        </p:nvSpPr>
        <p:spPr>
          <a:xfrm>
            <a:off x="8610480" y="6356520"/>
            <a:ext cx="2742840" cy="364680"/>
          </a:xfrm>
          <a:prstGeom prst="rect">
            <a:avLst/>
          </a:prstGeom>
          <a:noFill/>
          <a:ln>
            <a:noFill/>
          </a:ln>
        </p:spPr>
        <p:txBody>
          <a:bodyPr anchor="ctr">
            <a:noAutofit/>
          </a:bodyPr>
          <a:p>
            <a:pPr algn="r">
              <a:lnSpc>
                <a:spcPct val="100000"/>
              </a:lnSpc>
            </a:pPr>
            <a:fld id="{84FB4FF2-D5D6-4CE5-A503-5358EA5AF336}"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TextShape 1"/>
          <p:cNvSpPr txBox="1"/>
          <p:nvPr/>
        </p:nvSpPr>
        <p:spPr>
          <a:xfrm>
            <a:off x="363240" y="-200520"/>
            <a:ext cx="10515240" cy="1325160"/>
          </a:xfrm>
          <a:prstGeom prst="rect">
            <a:avLst/>
          </a:prstGeom>
          <a:noFill/>
          <a:ln>
            <a:noFill/>
          </a:ln>
        </p:spPr>
        <p:txBody>
          <a:bodyPr anchor="ctr">
            <a:normAutofit/>
          </a:bodyPr>
          <a:p>
            <a:pPr>
              <a:lnSpc>
                <a:spcPct val="90000"/>
              </a:lnSpc>
            </a:pPr>
            <a:r>
              <a:rPr b="0" lang="en-US" sz="4200" spc="-1" strike="noStrike">
                <a:solidFill>
                  <a:srgbClr val="000000"/>
                </a:solidFill>
                <a:latin typeface="Calibri Light"/>
              </a:rPr>
              <a:t>Deep Active Learning with CNN: </a:t>
            </a:r>
            <a:r>
              <a:rPr b="1" lang="en-US" sz="4200" spc="-1" strike="noStrike">
                <a:solidFill>
                  <a:srgbClr val="ff0000"/>
                </a:solidFill>
                <a:latin typeface="Calibri Light"/>
              </a:rPr>
              <a:t>Clustering</a:t>
            </a:r>
            <a:endParaRPr b="0" lang="en-US" sz="4200" spc="-1" strike="noStrike">
              <a:solidFill>
                <a:srgbClr val="000000"/>
              </a:solidFill>
              <a:latin typeface="Calibri"/>
            </a:endParaRPr>
          </a:p>
        </p:txBody>
      </p:sp>
      <p:grpSp>
        <p:nvGrpSpPr>
          <p:cNvPr id="474" name="Group 2"/>
          <p:cNvGrpSpPr/>
          <p:nvPr/>
        </p:nvGrpSpPr>
        <p:grpSpPr>
          <a:xfrm>
            <a:off x="4769640" y="4814280"/>
            <a:ext cx="378720" cy="317520"/>
            <a:chOff x="4769640" y="4814280"/>
            <a:chExt cx="378720" cy="317520"/>
          </a:xfrm>
        </p:grpSpPr>
        <p:sp>
          <p:nvSpPr>
            <p:cNvPr id="475" name="CustomShape 3"/>
            <p:cNvSpPr/>
            <p:nvPr/>
          </p:nvSpPr>
          <p:spPr>
            <a:xfrm>
              <a:off x="4769640" y="487944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476" name="CustomShape 4"/>
            <p:cNvSpPr/>
            <p:nvPr/>
          </p:nvSpPr>
          <p:spPr>
            <a:xfrm>
              <a:off x="4875480" y="481428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477" name="CustomShape 5"/>
          <p:cNvSpPr/>
          <p:nvPr/>
        </p:nvSpPr>
        <p:spPr>
          <a:xfrm>
            <a:off x="424800" y="361008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478" name="CustomShape 6"/>
          <p:cNvSpPr/>
          <p:nvPr/>
        </p:nvSpPr>
        <p:spPr>
          <a:xfrm>
            <a:off x="1485720" y="4044960"/>
            <a:ext cx="1522800" cy="324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79" name="CustomShape 7"/>
          <p:cNvSpPr/>
          <p:nvPr/>
        </p:nvSpPr>
        <p:spPr>
          <a:xfrm>
            <a:off x="4507920" y="4048920"/>
            <a:ext cx="33840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80" name="CustomShape 8"/>
          <p:cNvSpPr/>
          <p:nvPr/>
        </p:nvSpPr>
        <p:spPr>
          <a:xfrm flipV="1">
            <a:off x="5841360" y="4034880"/>
            <a:ext cx="382680" cy="10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481" name="Group 9"/>
          <p:cNvGrpSpPr/>
          <p:nvPr/>
        </p:nvGrpSpPr>
        <p:grpSpPr>
          <a:xfrm>
            <a:off x="4848120" y="3601800"/>
            <a:ext cx="992520" cy="905040"/>
            <a:chOff x="4848120" y="3601800"/>
            <a:chExt cx="992520" cy="905040"/>
          </a:xfrm>
        </p:grpSpPr>
        <p:sp>
          <p:nvSpPr>
            <p:cNvPr id="482" name="CustomShape 10"/>
            <p:cNvSpPr/>
            <p:nvPr/>
          </p:nvSpPr>
          <p:spPr>
            <a:xfrm>
              <a:off x="4848120" y="3601800"/>
              <a:ext cx="992520" cy="870120"/>
            </a:xfrm>
            <a:prstGeom prst="rect">
              <a:avLst/>
            </a:prstGeom>
            <a:ln w="25560"/>
          </p:spPr>
          <p:style>
            <a:lnRef idx="2">
              <a:schemeClr val="accent1"/>
            </a:lnRef>
            <a:fillRef idx="1">
              <a:schemeClr val="lt1"/>
            </a:fillRef>
            <a:effectRef idx="0">
              <a:schemeClr val="accent1"/>
            </a:effectRef>
            <a:fontRef idx="minor"/>
          </p:style>
        </p:sp>
        <p:sp>
          <p:nvSpPr>
            <p:cNvPr id="483" name="CustomShape 11"/>
            <p:cNvSpPr/>
            <p:nvPr/>
          </p:nvSpPr>
          <p:spPr>
            <a:xfrm>
              <a:off x="4848120" y="392724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484" name="CustomShape 12"/>
            <p:cNvSpPr/>
            <p:nvPr/>
          </p:nvSpPr>
          <p:spPr>
            <a:xfrm>
              <a:off x="4848120" y="360180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485" name="CustomShape 13"/>
          <p:cNvSpPr/>
          <p:nvPr/>
        </p:nvSpPr>
        <p:spPr>
          <a:xfrm flipV="1" rot="16200000">
            <a:off x="4835160" y="1711800"/>
            <a:ext cx="1130400" cy="265320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486" name="CustomShape 14"/>
          <p:cNvSpPr/>
          <p:nvPr/>
        </p:nvSpPr>
        <p:spPr>
          <a:xfrm>
            <a:off x="4502160" y="406368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487" name="CustomShape 15"/>
          <p:cNvSpPr/>
          <p:nvPr/>
        </p:nvSpPr>
        <p:spPr>
          <a:xfrm>
            <a:off x="4511520" y="362376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488" name="CustomShape 16"/>
          <p:cNvSpPr/>
          <p:nvPr/>
        </p:nvSpPr>
        <p:spPr>
          <a:xfrm>
            <a:off x="6224400" y="360396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489" name="CustomShape 17"/>
          <p:cNvSpPr/>
          <p:nvPr/>
        </p:nvSpPr>
        <p:spPr>
          <a:xfrm>
            <a:off x="7229880" y="4035600"/>
            <a:ext cx="84708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90" name="CustomShape 18"/>
          <p:cNvSpPr/>
          <p:nvPr/>
        </p:nvSpPr>
        <p:spPr>
          <a:xfrm>
            <a:off x="6933240" y="389232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491" name="CustomShape 19"/>
          <p:cNvSpPr/>
          <p:nvPr/>
        </p:nvSpPr>
        <p:spPr>
          <a:xfrm>
            <a:off x="6561360" y="360828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492" name="CustomShape 20"/>
          <p:cNvSpPr/>
          <p:nvPr/>
        </p:nvSpPr>
        <p:spPr>
          <a:xfrm>
            <a:off x="3259440" y="2149560"/>
            <a:ext cx="813960" cy="64692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493" name="CustomShape 21"/>
          <p:cNvSpPr/>
          <p:nvPr/>
        </p:nvSpPr>
        <p:spPr>
          <a:xfrm>
            <a:off x="3666600" y="279684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94" name="CustomShape 22"/>
          <p:cNvSpPr/>
          <p:nvPr/>
        </p:nvSpPr>
        <p:spPr>
          <a:xfrm flipV="1" rot="16200000">
            <a:off x="8592480" y="1078920"/>
            <a:ext cx="2049840" cy="307944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495" name="CustomShape 23"/>
          <p:cNvSpPr/>
          <p:nvPr/>
        </p:nvSpPr>
        <p:spPr>
          <a:xfrm>
            <a:off x="9677880" y="137340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496" name="CustomShape 24"/>
          <p:cNvSpPr/>
          <p:nvPr/>
        </p:nvSpPr>
        <p:spPr>
          <a:xfrm>
            <a:off x="3317040" y="481428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497" name="CustomShape 25"/>
          <p:cNvSpPr/>
          <p:nvPr/>
        </p:nvSpPr>
        <p:spPr>
          <a:xfrm>
            <a:off x="3614040" y="4513680"/>
            <a:ext cx="360" cy="2998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98" name="CustomShape 26"/>
          <p:cNvSpPr/>
          <p:nvPr/>
        </p:nvSpPr>
        <p:spPr>
          <a:xfrm>
            <a:off x="3911040" y="503496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499" name="CustomShape 27"/>
          <p:cNvSpPr/>
          <p:nvPr/>
        </p:nvSpPr>
        <p:spPr>
          <a:xfrm>
            <a:off x="3930120" y="481752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sp>
        <p:nvSpPr>
          <p:cNvPr id="500" name="CustomShape 28"/>
          <p:cNvSpPr/>
          <p:nvPr/>
        </p:nvSpPr>
        <p:spPr>
          <a:xfrm>
            <a:off x="363240" y="1116720"/>
            <a:ext cx="362052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(Uncertainty Sampling)</a:t>
            </a:r>
            <a:endParaRPr b="0" lang="en-US" sz="1600" spc="-1" strike="noStrike">
              <a:latin typeface="Arial"/>
            </a:endParaRPr>
          </a:p>
        </p:txBody>
      </p:sp>
      <p:grpSp>
        <p:nvGrpSpPr>
          <p:cNvPr id="501" name="Group 29"/>
          <p:cNvGrpSpPr/>
          <p:nvPr/>
        </p:nvGrpSpPr>
        <p:grpSpPr>
          <a:xfrm>
            <a:off x="1527480" y="3381480"/>
            <a:ext cx="929160" cy="859680"/>
            <a:chOff x="1527480" y="3381480"/>
            <a:chExt cx="929160" cy="859680"/>
          </a:xfrm>
        </p:grpSpPr>
        <p:pic>
          <p:nvPicPr>
            <p:cNvPr id="502" name="Picture 4" descr="Batch Icons - Download Free Vector Icons | Noun Project"/>
            <p:cNvPicPr/>
            <p:nvPr/>
          </p:nvPicPr>
          <p:blipFill>
            <a:blip r:embed="rId1"/>
            <a:stretch/>
          </p:blipFill>
          <p:spPr>
            <a:xfrm>
              <a:off x="1756800" y="3381480"/>
              <a:ext cx="470520" cy="470520"/>
            </a:xfrm>
            <a:prstGeom prst="rect">
              <a:avLst/>
            </a:prstGeom>
            <a:ln>
              <a:noFill/>
            </a:ln>
          </p:spPr>
        </p:pic>
        <p:sp>
          <p:nvSpPr>
            <p:cNvPr id="503" name="CustomShape 30"/>
            <p:cNvSpPr/>
            <p:nvPr/>
          </p:nvSpPr>
          <p:spPr>
            <a:xfrm>
              <a:off x="1527480" y="378648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Batch=500</a:t>
              </a:r>
              <a:endParaRPr b="0" lang="en-US" sz="1200" spc="-1" strike="noStrike">
                <a:latin typeface="Arial"/>
              </a:endParaRPr>
            </a:p>
          </p:txBody>
        </p:sp>
      </p:grpSp>
      <p:pic>
        <p:nvPicPr>
          <p:cNvPr id="504" name="Picture 2" descr="Neural Network Icons - Download Free Vector Icons | Noun Project"/>
          <p:cNvPicPr/>
          <p:nvPr/>
        </p:nvPicPr>
        <p:blipFill>
          <a:blip r:embed="rId2"/>
          <a:srcRect l="4466" t="16459" r="3969" b="17012"/>
          <a:stretch/>
        </p:blipFill>
        <p:spPr>
          <a:xfrm>
            <a:off x="3008880" y="3504240"/>
            <a:ext cx="1498320" cy="1088640"/>
          </a:xfrm>
          <a:prstGeom prst="rect">
            <a:avLst/>
          </a:prstGeom>
          <a:ln>
            <a:noFill/>
          </a:ln>
        </p:spPr>
      </p:pic>
      <p:sp>
        <p:nvSpPr>
          <p:cNvPr id="505" name="CustomShape 31"/>
          <p:cNvSpPr/>
          <p:nvPr/>
        </p:nvSpPr>
        <p:spPr>
          <a:xfrm rot="16200000">
            <a:off x="3042000" y="2939040"/>
            <a:ext cx="913320" cy="3949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000" spc="-1" strike="noStrike">
                <a:solidFill>
                  <a:srgbClr val="ff0000"/>
                </a:solidFill>
                <a:latin typeface="Calibri"/>
              </a:rPr>
              <a:t>Batch Training</a:t>
            </a:r>
            <a:endParaRPr b="0" lang="en-US" sz="1000" spc="-1" strike="noStrike">
              <a:latin typeface="Arial"/>
            </a:endParaRPr>
          </a:p>
        </p:txBody>
      </p:sp>
      <p:pic>
        <p:nvPicPr>
          <p:cNvPr id="506" name="Picture 2" descr="33,559 BEST Admin Icon IMAGES, STOCK PHOTOS &amp;amp; VECTORS | Adobe Stock"/>
          <p:cNvPicPr/>
          <p:nvPr/>
        </p:nvPicPr>
        <p:blipFill>
          <a:blip r:embed="rId3"/>
          <a:srcRect l="33839" t="15814" r="33327" b="16240"/>
          <a:stretch/>
        </p:blipFill>
        <p:spPr>
          <a:xfrm>
            <a:off x="10842120" y="3643920"/>
            <a:ext cx="630000" cy="782640"/>
          </a:xfrm>
          <a:prstGeom prst="rect">
            <a:avLst/>
          </a:prstGeom>
          <a:ln>
            <a:noFill/>
          </a:ln>
        </p:spPr>
      </p:pic>
      <p:pic>
        <p:nvPicPr>
          <p:cNvPr id="507" name="Picture 2" descr="Overview of Cluster Analysis and Dirichlet Process Mixture Models"/>
          <p:cNvPicPr/>
          <p:nvPr/>
        </p:nvPicPr>
        <p:blipFill>
          <a:blip r:embed="rId4"/>
          <a:srcRect l="6211" t="12421" r="7930" b="6210"/>
          <a:stretch/>
        </p:blipFill>
        <p:spPr>
          <a:xfrm>
            <a:off x="8077320" y="3418200"/>
            <a:ext cx="1446840" cy="1234440"/>
          </a:xfrm>
          <a:prstGeom prst="rect">
            <a:avLst/>
          </a:prstGeom>
          <a:ln cap="sq" w="38160">
            <a:solidFill>
              <a:srgbClr val="000000"/>
            </a:solidFill>
            <a:miter/>
          </a:ln>
          <a:effectLst>
            <a:outerShdw algn="tl" blurRad="50800" dir="2700000" dist="37674" rotWithShape="0">
              <a:srgbClr val="000000">
                <a:alpha val="43000"/>
              </a:srgbClr>
            </a:outerShdw>
          </a:effectLst>
        </p:spPr>
      </p:pic>
      <p:sp>
        <p:nvSpPr>
          <p:cNvPr id="508" name="CustomShape 32"/>
          <p:cNvSpPr/>
          <p:nvPr/>
        </p:nvSpPr>
        <p:spPr>
          <a:xfrm>
            <a:off x="7210440" y="3804480"/>
            <a:ext cx="8816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200" spc="-1" strike="noStrike">
                <a:solidFill>
                  <a:srgbClr val="ff0000"/>
                </a:solidFill>
                <a:latin typeface="Calibri"/>
              </a:rPr>
              <a:t>Clustering</a:t>
            </a:r>
            <a:endParaRPr b="0" lang="en-US" sz="1200" spc="-1" strike="noStrike">
              <a:latin typeface="Arial"/>
            </a:endParaRPr>
          </a:p>
        </p:txBody>
      </p:sp>
      <p:sp>
        <p:nvSpPr>
          <p:cNvPr id="509" name="CustomShape 33"/>
          <p:cNvSpPr/>
          <p:nvPr/>
        </p:nvSpPr>
        <p:spPr>
          <a:xfrm>
            <a:off x="9524520" y="4035600"/>
            <a:ext cx="1317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10" name="CustomShape 34"/>
          <p:cNvSpPr/>
          <p:nvPr/>
        </p:nvSpPr>
        <p:spPr>
          <a:xfrm>
            <a:off x="9589320" y="3457800"/>
            <a:ext cx="1188720" cy="6372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choose the centroid points</a:t>
            </a:r>
            <a:endParaRPr b="0" lang="en-US" sz="1200" spc="-1" strike="noStrike">
              <a:latin typeface="Arial"/>
            </a:endParaRPr>
          </a:p>
        </p:txBody>
      </p:sp>
      <p:sp>
        <p:nvSpPr>
          <p:cNvPr id="511" name="CustomShape 35"/>
          <p:cNvSpPr/>
          <p:nvPr/>
        </p:nvSpPr>
        <p:spPr>
          <a:xfrm>
            <a:off x="1690200" y="5960880"/>
            <a:ext cx="917676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de-DE" sz="1800" spc="-1" strike="noStrike">
                <a:solidFill>
                  <a:srgbClr val="ff0000"/>
                </a:solidFill>
                <a:latin typeface="Calibri"/>
              </a:rPr>
              <a:t>Question</a:t>
            </a:r>
            <a:r>
              <a:rPr b="0" lang="de-DE" sz="1800" spc="-1" strike="noStrike">
                <a:solidFill>
                  <a:srgbClr val="000000"/>
                </a:solidFill>
                <a:latin typeface="Calibri"/>
              </a:rPr>
              <a:t>: How to optimitze the number of questions to Oracle? Clustering + label propagation</a:t>
            </a:r>
            <a:endParaRPr b="0" lang="en-US" sz="1800" spc="-1" strike="noStrike">
              <a:latin typeface="Arial"/>
            </a:endParaRPr>
          </a:p>
        </p:txBody>
      </p:sp>
      <p:sp>
        <p:nvSpPr>
          <p:cNvPr id="512" name="CustomShape 36"/>
          <p:cNvSpPr/>
          <p:nvPr/>
        </p:nvSpPr>
        <p:spPr>
          <a:xfrm>
            <a:off x="6726960" y="1357200"/>
            <a:ext cx="1350000" cy="472680"/>
          </a:xfrm>
          <a:prstGeom prst="rect">
            <a:avLst/>
          </a:prstGeom>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800" spc="-1" strike="noStrike">
                <a:solidFill>
                  <a:srgbClr val="000000"/>
                </a:solidFill>
                <a:latin typeface="Calibri"/>
              </a:rPr>
              <a:t>label propagation</a:t>
            </a:r>
            <a:endParaRPr b="0" lang="en-US" sz="1800" spc="-1" strike="noStrike">
              <a:latin typeface="Arial"/>
            </a:endParaRPr>
          </a:p>
        </p:txBody>
      </p:sp>
      <p:sp>
        <p:nvSpPr>
          <p:cNvPr id="513" name="CustomShape 37"/>
          <p:cNvSpPr/>
          <p:nvPr/>
        </p:nvSpPr>
        <p:spPr>
          <a:xfrm flipV="1" rot="10800000">
            <a:off x="3666600" y="1593360"/>
            <a:ext cx="3060360" cy="55548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514" name="TextShape 38"/>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515" name="TextShape 39"/>
          <p:cNvSpPr txBox="1"/>
          <p:nvPr/>
        </p:nvSpPr>
        <p:spPr>
          <a:xfrm>
            <a:off x="8610480" y="6356520"/>
            <a:ext cx="2742840" cy="364680"/>
          </a:xfrm>
          <a:prstGeom prst="rect">
            <a:avLst/>
          </a:prstGeom>
          <a:noFill/>
          <a:ln>
            <a:noFill/>
          </a:ln>
        </p:spPr>
        <p:txBody>
          <a:bodyPr anchor="ctr">
            <a:noAutofit/>
          </a:bodyPr>
          <a:p>
            <a:pPr algn="r">
              <a:lnSpc>
                <a:spcPct val="100000"/>
              </a:lnSpc>
            </a:pPr>
            <a:fld id="{9CF235FA-E3E7-4485-8627-F774629508EC}"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TextShape 1"/>
          <p:cNvSpPr txBox="1"/>
          <p:nvPr/>
        </p:nvSpPr>
        <p:spPr>
          <a:xfrm>
            <a:off x="363240" y="-200520"/>
            <a:ext cx="10515240" cy="1325160"/>
          </a:xfrm>
          <a:prstGeom prst="rect">
            <a:avLst/>
          </a:prstGeom>
          <a:noFill/>
          <a:ln>
            <a:noFill/>
          </a:ln>
        </p:spPr>
        <p:txBody>
          <a:bodyPr anchor="ctr">
            <a:normAutofit/>
          </a:bodyPr>
          <a:p>
            <a:pPr>
              <a:lnSpc>
                <a:spcPct val="90000"/>
              </a:lnSpc>
            </a:pPr>
            <a:r>
              <a:rPr b="0" lang="en-US" sz="4200" spc="-1" strike="noStrike">
                <a:solidFill>
                  <a:srgbClr val="000000"/>
                </a:solidFill>
                <a:latin typeface="Calibri Light"/>
              </a:rPr>
              <a:t>Deep Active Learning with CNN: </a:t>
            </a:r>
            <a:r>
              <a:rPr b="1" lang="en-US" sz="4200" spc="-1" strike="noStrike">
                <a:solidFill>
                  <a:srgbClr val="ff0000"/>
                </a:solidFill>
                <a:latin typeface="Calibri Light"/>
              </a:rPr>
              <a:t>Clustering</a:t>
            </a:r>
            <a:endParaRPr b="0" lang="en-US" sz="4200" spc="-1" strike="noStrike">
              <a:solidFill>
                <a:srgbClr val="000000"/>
              </a:solidFill>
              <a:latin typeface="Calibri"/>
            </a:endParaRPr>
          </a:p>
        </p:txBody>
      </p:sp>
      <p:grpSp>
        <p:nvGrpSpPr>
          <p:cNvPr id="517" name="Group 2"/>
          <p:cNvGrpSpPr/>
          <p:nvPr/>
        </p:nvGrpSpPr>
        <p:grpSpPr>
          <a:xfrm>
            <a:off x="8066880" y="4928760"/>
            <a:ext cx="378720" cy="317880"/>
            <a:chOff x="8066880" y="4928760"/>
            <a:chExt cx="378720" cy="317880"/>
          </a:xfrm>
        </p:grpSpPr>
        <p:sp>
          <p:nvSpPr>
            <p:cNvPr id="518" name="CustomShape 3"/>
            <p:cNvSpPr/>
            <p:nvPr/>
          </p:nvSpPr>
          <p:spPr>
            <a:xfrm>
              <a:off x="8066880" y="4994280"/>
              <a:ext cx="332280" cy="252360"/>
            </a:xfrm>
            <a:custGeom>
              <a:avLst/>
              <a:gdLst/>
              <a:ahLst/>
              <a:rect l="l" t="t" r="r" b="b"/>
              <a:pathLst>
                <a:path w="649769" h="647700">
                  <a:moveTo>
                    <a:pt x="59219" y="0"/>
                  </a:moveTo>
                  <a:lnTo>
                    <a:pt x="2069" y="0"/>
                  </a:lnTo>
                  <a:cubicBezTo>
                    <a:pt x="2069" y="215900"/>
                    <a:pt x="-2584" y="340284"/>
                    <a:pt x="2069" y="647700"/>
                  </a:cubicBezTo>
                  <a:lnTo>
                    <a:pt x="649769" y="647700"/>
                  </a:lnTo>
                  <a:lnTo>
                    <a:pt x="649769" y="590550"/>
                  </a:lnTo>
                  <a:lnTo>
                    <a:pt x="59219" y="590550"/>
                  </a:lnTo>
                  <a:lnTo>
                    <a:pt x="59219" y="0"/>
                  </a:lnTo>
                  <a:close/>
                </a:path>
              </a:pathLst>
            </a:custGeom>
            <a:ln/>
          </p:spPr>
          <p:style>
            <a:lnRef idx="2">
              <a:schemeClr val="accent6">
                <a:shade val="50000"/>
              </a:schemeClr>
            </a:lnRef>
            <a:fillRef idx="1">
              <a:schemeClr val="accent6"/>
            </a:fillRef>
            <a:effectRef idx="0">
              <a:schemeClr val="accent6"/>
            </a:effectRef>
            <a:fontRef idx="minor"/>
          </p:style>
        </p:sp>
        <p:sp>
          <p:nvSpPr>
            <p:cNvPr id="519" name="CustomShape 4"/>
            <p:cNvSpPr/>
            <p:nvPr/>
          </p:nvSpPr>
          <p:spPr>
            <a:xfrm>
              <a:off x="8172720" y="4928760"/>
              <a:ext cx="272880" cy="210600"/>
            </a:xfrm>
            <a:custGeom>
              <a:avLst/>
              <a:gdLst/>
              <a:ahLst/>
              <a:rect l="l" t="t" r="r" b="b"/>
              <a:pathLst>
                <a:path w="533400" h="540457">
                  <a:moveTo>
                    <a:pt x="4162" y="483308"/>
                  </a:moveTo>
                  <a:lnTo>
                    <a:pt x="0" y="483308"/>
                  </a:lnTo>
                  <a:lnTo>
                    <a:pt x="0" y="540458"/>
                  </a:lnTo>
                  <a:lnTo>
                    <a:pt x="4162" y="540458"/>
                  </a:lnTo>
                  <a:cubicBezTo>
                    <a:pt x="184185" y="540458"/>
                    <a:pt x="368275" y="505978"/>
                    <a:pt x="469992" y="97860"/>
                  </a:cubicBezTo>
                  <a:lnTo>
                    <a:pt x="533400" y="114614"/>
                  </a:lnTo>
                  <a:lnTo>
                    <a:pt x="466725" y="0"/>
                  </a:lnTo>
                  <a:lnTo>
                    <a:pt x="352082" y="66675"/>
                  </a:lnTo>
                  <a:lnTo>
                    <a:pt x="414738" y="83229"/>
                  </a:lnTo>
                  <a:cubicBezTo>
                    <a:pt x="315182" y="483232"/>
                    <a:pt x="135598" y="483308"/>
                    <a:pt x="4162" y="483308"/>
                  </a:cubicBezTo>
                  <a:close/>
                </a:path>
              </a:pathLst>
            </a:custGeom>
            <a:ln/>
          </p:spPr>
          <p:style>
            <a:lnRef idx="2">
              <a:schemeClr val="accent6">
                <a:shade val="50000"/>
              </a:schemeClr>
            </a:lnRef>
            <a:fillRef idx="1">
              <a:schemeClr val="accent6"/>
            </a:fillRef>
            <a:effectRef idx="0">
              <a:schemeClr val="accent6"/>
            </a:effectRef>
            <a:fontRef idx="minor"/>
          </p:style>
        </p:sp>
      </p:grpSp>
      <p:sp>
        <p:nvSpPr>
          <p:cNvPr id="520" name="CustomShape 5"/>
          <p:cNvSpPr/>
          <p:nvPr/>
        </p:nvSpPr>
        <p:spPr>
          <a:xfrm>
            <a:off x="141840" y="3612960"/>
            <a:ext cx="1060560" cy="870120"/>
          </a:xfrm>
          <a:prstGeom prst="flowChartMagneticDisk">
            <a:avLst/>
          </a:prstGeom>
          <a:ln w="31680">
            <a:solidFill>
              <a:srgbClr val="7030a0"/>
            </a:solidFill>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b="0" lang="en-US" sz="1400" spc="-1" strike="noStrike">
                <a:solidFill>
                  <a:srgbClr val="000000"/>
                </a:solidFill>
                <a:latin typeface="Calibri"/>
              </a:rPr>
              <a:t>Unlabeled</a:t>
            </a:r>
            <a:r>
              <a:rPr b="0" lang="de-DE" sz="1400" spc="-1" strike="noStrike">
                <a:solidFill>
                  <a:srgbClr val="000000"/>
                </a:solidFill>
                <a:latin typeface="Calibri"/>
              </a:rPr>
              <a:t> Data</a:t>
            </a:r>
            <a:endParaRPr b="0" lang="en-US" sz="1400" spc="-1" strike="noStrike">
              <a:latin typeface="Arial"/>
            </a:endParaRPr>
          </a:p>
        </p:txBody>
      </p:sp>
      <p:sp>
        <p:nvSpPr>
          <p:cNvPr id="521" name="CustomShape 6"/>
          <p:cNvSpPr/>
          <p:nvPr/>
        </p:nvSpPr>
        <p:spPr>
          <a:xfrm flipV="1">
            <a:off x="1203120" y="4030560"/>
            <a:ext cx="1116000" cy="162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22" name="CustomShape 7"/>
          <p:cNvSpPr/>
          <p:nvPr/>
        </p:nvSpPr>
        <p:spPr>
          <a:xfrm>
            <a:off x="7804080" y="4119480"/>
            <a:ext cx="33840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23" name="CustomShape 8"/>
          <p:cNvSpPr/>
          <p:nvPr/>
        </p:nvSpPr>
        <p:spPr>
          <a:xfrm flipV="1">
            <a:off x="9138600" y="4149360"/>
            <a:ext cx="382680" cy="10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grpSp>
        <p:nvGrpSpPr>
          <p:cNvPr id="524" name="Group 9"/>
          <p:cNvGrpSpPr/>
          <p:nvPr/>
        </p:nvGrpSpPr>
        <p:grpSpPr>
          <a:xfrm>
            <a:off x="8145720" y="3716640"/>
            <a:ext cx="992520" cy="905040"/>
            <a:chOff x="8145720" y="3716640"/>
            <a:chExt cx="992520" cy="905040"/>
          </a:xfrm>
        </p:grpSpPr>
        <p:sp>
          <p:nvSpPr>
            <p:cNvPr id="525" name="CustomShape 10"/>
            <p:cNvSpPr/>
            <p:nvPr/>
          </p:nvSpPr>
          <p:spPr>
            <a:xfrm>
              <a:off x="8145720" y="3716640"/>
              <a:ext cx="992520" cy="870120"/>
            </a:xfrm>
            <a:prstGeom prst="rect">
              <a:avLst/>
            </a:prstGeom>
            <a:ln w="25560"/>
          </p:spPr>
          <p:style>
            <a:lnRef idx="2">
              <a:schemeClr val="accent1"/>
            </a:lnRef>
            <a:fillRef idx="1">
              <a:schemeClr val="lt1"/>
            </a:fillRef>
            <a:effectRef idx="0">
              <a:schemeClr val="accent1"/>
            </a:effectRef>
            <a:fontRef idx="minor"/>
          </p:style>
        </p:sp>
        <p:sp>
          <p:nvSpPr>
            <p:cNvPr id="526" name="CustomShape 11"/>
            <p:cNvSpPr/>
            <p:nvPr/>
          </p:nvSpPr>
          <p:spPr>
            <a:xfrm>
              <a:off x="8145720" y="4042080"/>
              <a:ext cx="992520" cy="579600"/>
            </a:xfrm>
            <a:prstGeom prst="rect">
              <a:avLst/>
            </a:prstGeom>
            <a:ln/>
          </p:spPr>
          <p:style>
            <a:lnRef idx="2">
              <a:schemeClr val="accent2">
                <a:shade val="50000"/>
              </a:schemeClr>
            </a:lnRef>
            <a:fillRef idx="1">
              <a:schemeClr val="accent2"/>
            </a:fillRef>
            <a:effectRef idx="0">
              <a:schemeClr val="accent2"/>
            </a:effectRef>
            <a:fontRef idx="minor"/>
          </p:style>
        </p:sp>
        <p:sp>
          <p:nvSpPr>
            <p:cNvPr id="527" name="CustomShape 12"/>
            <p:cNvSpPr/>
            <p:nvPr/>
          </p:nvSpPr>
          <p:spPr>
            <a:xfrm>
              <a:off x="8145720" y="3716640"/>
              <a:ext cx="992520" cy="361080"/>
            </a:xfrm>
            <a:prstGeom prst="rect">
              <a:avLst/>
            </a:prstGeom>
            <a:ln/>
          </p:spPr>
          <p:style>
            <a:lnRef idx="2">
              <a:schemeClr val="accent6">
                <a:shade val="50000"/>
              </a:schemeClr>
            </a:lnRef>
            <a:fillRef idx="1">
              <a:schemeClr val="accent6"/>
            </a:fillRef>
            <a:effectRef idx="0">
              <a:schemeClr val="accent6"/>
            </a:effectRef>
            <a:fontRef idx="minor"/>
          </p:style>
        </p:sp>
      </p:grpSp>
      <p:sp>
        <p:nvSpPr>
          <p:cNvPr id="528" name="CustomShape 13"/>
          <p:cNvSpPr/>
          <p:nvPr/>
        </p:nvSpPr>
        <p:spPr>
          <a:xfrm flipV="1" rot="16200000">
            <a:off x="8132760" y="1826640"/>
            <a:ext cx="1130400" cy="2653200"/>
          </a:xfrm>
          <a:prstGeom prst="bentConnector2">
            <a:avLst/>
          </a:prstGeom>
          <a:noFill/>
          <a:ln>
            <a:tailEnd len="med" type="triangle" w="med"/>
          </a:ln>
        </p:spPr>
        <p:style>
          <a:lnRef idx="1">
            <a:schemeClr val="accent1"/>
          </a:lnRef>
          <a:fillRef idx="0">
            <a:schemeClr val="accent1"/>
          </a:fillRef>
          <a:effectRef idx="0">
            <a:schemeClr val="accent1"/>
          </a:effectRef>
          <a:fontRef idx="minor"/>
        </p:style>
      </p:sp>
      <p:sp>
        <p:nvSpPr>
          <p:cNvPr id="529" name="CustomShape 14"/>
          <p:cNvSpPr/>
          <p:nvPr/>
        </p:nvSpPr>
        <p:spPr>
          <a:xfrm>
            <a:off x="7799400" y="417816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Less confidence</a:t>
            </a:r>
            <a:endParaRPr b="0" lang="en-US" sz="1200" spc="-1" strike="noStrike">
              <a:latin typeface="Arial"/>
            </a:endParaRPr>
          </a:p>
        </p:txBody>
      </p:sp>
      <p:sp>
        <p:nvSpPr>
          <p:cNvPr id="530" name="CustomShape 15"/>
          <p:cNvSpPr/>
          <p:nvPr/>
        </p:nvSpPr>
        <p:spPr>
          <a:xfrm>
            <a:off x="7808760" y="3738600"/>
            <a:ext cx="1660680" cy="272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200" spc="-1" strike="noStrike">
                <a:solidFill>
                  <a:srgbClr val="000000"/>
                </a:solidFill>
                <a:latin typeface="Calibri"/>
              </a:rPr>
              <a:t>High confidence</a:t>
            </a:r>
            <a:endParaRPr b="0" lang="en-US" sz="1200" spc="-1" strike="noStrike">
              <a:latin typeface="Arial"/>
            </a:endParaRPr>
          </a:p>
        </p:txBody>
      </p:sp>
      <p:sp>
        <p:nvSpPr>
          <p:cNvPr id="531" name="CustomShape 16"/>
          <p:cNvSpPr/>
          <p:nvPr/>
        </p:nvSpPr>
        <p:spPr>
          <a:xfrm>
            <a:off x="9521640" y="3718800"/>
            <a:ext cx="1005120" cy="862560"/>
          </a:xfrm>
          <a:prstGeom prst="flowChartDecision">
            <a:avLst/>
          </a:prstGeom>
          <a:ln/>
        </p:spPr>
        <p:style>
          <a:lnRef idx="2">
            <a:schemeClr val="accent1"/>
          </a:lnRef>
          <a:fillRef idx="1">
            <a:schemeClr val="lt1"/>
          </a:fillRef>
          <a:effectRef idx="0">
            <a:schemeClr val="accent1"/>
          </a:effectRef>
          <a:fontRef idx="minor"/>
        </p:style>
        <p:txBody>
          <a:bodyPr lIns="90000" rIns="90000" tIns="45000" bIns="45000" anchor="ctr">
            <a:noAutofit/>
          </a:bodyPr>
          <a:p>
            <a:pPr algn="ctr">
              <a:lnSpc>
                <a:spcPct val="100000"/>
              </a:lnSpc>
            </a:pPr>
            <a:r>
              <a:rPr b="0" lang="de-DE" sz="1000" spc="-1" strike="noStrike">
                <a:solidFill>
                  <a:srgbClr val="000000"/>
                </a:solidFill>
                <a:latin typeface="Calibri"/>
              </a:rPr>
              <a:t>C &gt; T?</a:t>
            </a:r>
            <a:endParaRPr b="0" lang="en-US" sz="1000" spc="-1" strike="noStrike">
              <a:latin typeface="Arial"/>
            </a:endParaRPr>
          </a:p>
        </p:txBody>
      </p:sp>
      <p:sp>
        <p:nvSpPr>
          <p:cNvPr id="532" name="CustomShape 17"/>
          <p:cNvSpPr/>
          <p:nvPr/>
        </p:nvSpPr>
        <p:spPr>
          <a:xfrm>
            <a:off x="10527120" y="4150080"/>
            <a:ext cx="89208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33" name="CustomShape 18"/>
          <p:cNvSpPr/>
          <p:nvPr/>
        </p:nvSpPr>
        <p:spPr>
          <a:xfrm>
            <a:off x="10230480" y="400716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No</a:t>
            </a:r>
            <a:endParaRPr b="0" lang="en-US" sz="1200" spc="-1" strike="noStrike">
              <a:latin typeface="Arial"/>
            </a:endParaRPr>
          </a:p>
        </p:txBody>
      </p:sp>
      <p:sp>
        <p:nvSpPr>
          <p:cNvPr id="534" name="CustomShape 19"/>
          <p:cNvSpPr/>
          <p:nvPr/>
        </p:nvSpPr>
        <p:spPr>
          <a:xfrm>
            <a:off x="9858960" y="3722760"/>
            <a:ext cx="59004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Yes</a:t>
            </a:r>
            <a:endParaRPr b="0" lang="en-US" sz="1200" spc="-1" strike="noStrike">
              <a:latin typeface="Arial"/>
            </a:endParaRPr>
          </a:p>
        </p:txBody>
      </p:sp>
      <p:sp>
        <p:nvSpPr>
          <p:cNvPr id="535" name="CustomShape 20"/>
          <p:cNvSpPr/>
          <p:nvPr/>
        </p:nvSpPr>
        <p:spPr>
          <a:xfrm>
            <a:off x="6556680" y="2264400"/>
            <a:ext cx="813960" cy="646920"/>
          </a:xfrm>
          <a:prstGeom prst="flowChartMagneticDisk">
            <a:avLst/>
          </a:prstGeom>
          <a:ln w="22320"/>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0" lang="en-US" sz="1200" spc="-1" strike="noStrike">
                <a:solidFill>
                  <a:srgbClr val="000000"/>
                </a:solidFill>
                <a:latin typeface="Calibri"/>
              </a:rPr>
              <a:t>Labeled</a:t>
            </a:r>
            <a:r>
              <a:rPr b="0" lang="de-DE" sz="1200" spc="-1" strike="noStrike">
                <a:solidFill>
                  <a:srgbClr val="000000"/>
                </a:solidFill>
                <a:latin typeface="Calibri"/>
              </a:rPr>
              <a:t> Data</a:t>
            </a:r>
            <a:endParaRPr b="0" lang="en-US" sz="1200" spc="-1" strike="noStrike">
              <a:latin typeface="Arial"/>
            </a:endParaRPr>
          </a:p>
        </p:txBody>
      </p:sp>
      <p:sp>
        <p:nvSpPr>
          <p:cNvPr id="536" name="CustomShape 21"/>
          <p:cNvSpPr/>
          <p:nvPr/>
        </p:nvSpPr>
        <p:spPr>
          <a:xfrm>
            <a:off x="6963840" y="2911680"/>
            <a:ext cx="3600" cy="74700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37" name="CustomShape 22"/>
          <p:cNvSpPr/>
          <p:nvPr/>
        </p:nvSpPr>
        <p:spPr>
          <a:xfrm flipV="1" rot="16200000">
            <a:off x="8602560" y="626040"/>
            <a:ext cx="1494000" cy="4770720"/>
          </a:xfrm>
          <a:prstGeom prst="bentConnector3">
            <a:avLst>
              <a:gd name="adj1" fmla="val 115297"/>
            </a:avLst>
          </a:prstGeom>
          <a:noFill/>
          <a:ln>
            <a:tailEnd len="med" type="triangle" w="med"/>
          </a:ln>
        </p:spPr>
        <p:style>
          <a:lnRef idx="1">
            <a:schemeClr val="accent1"/>
          </a:lnRef>
          <a:fillRef idx="0">
            <a:schemeClr val="accent1"/>
          </a:fillRef>
          <a:effectRef idx="0">
            <a:schemeClr val="accent1"/>
          </a:effectRef>
          <a:fontRef idx="minor"/>
        </p:style>
      </p:sp>
      <p:sp>
        <p:nvSpPr>
          <p:cNvPr id="538" name="CustomShape 23"/>
          <p:cNvSpPr/>
          <p:nvPr/>
        </p:nvSpPr>
        <p:spPr>
          <a:xfrm>
            <a:off x="9858960" y="1837800"/>
            <a:ext cx="1636560" cy="272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Labeled by expert</a:t>
            </a:r>
            <a:endParaRPr b="0" lang="en-US" sz="1200" spc="-1" strike="noStrike">
              <a:latin typeface="Arial"/>
            </a:endParaRPr>
          </a:p>
        </p:txBody>
      </p:sp>
      <p:sp>
        <p:nvSpPr>
          <p:cNvPr id="539" name="CustomShape 24"/>
          <p:cNvSpPr/>
          <p:nvPr/>
        </p:nvSpPr>
        <p:spPr>
          <a:xfrm>
            <a:off x="6614640" y="4928760"/>
            <a:ext cx="593640" cy="441360"/>
          </a:xfrm>
          <a:prstGeom prst="flowChartMagneticDisk">
            <a:avLst/>
          </a:prstGeom>
          <a:solidFill>
            <a:srgbClr val="ff0000"/>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ctr">
              <a:lnSpc>
                <a:spcPct val="100000"/>
              </a:lnSpc>
            </a:pPr>
            <a:r>
              <a:rPr b="0" lang="de-DE" sz="1400" spc="-1" strike="noStrike">
                <a:solidFill>
                  <a:srgbClr val="ffffff"/>
                </a:solidFill>
                <a:latin typeface="Calibri"/>
              </a:rPr>
              <a:t>Test</a:t>
            </a:r>
            <a:endParaRPr b="0" lang="en-US" sz="1400" spc="-1" strike="noStrike">
              <a:latin typeface="Arial"/>
            </a:endParaRPr>
          </a:p>
        </p:txBody>
      </p:sp>
      <p:sp>
        <p:nvSpPr>
          <p:cNvPr id="540" name="CustomShape 25"/>
          <p:cNvSpPr/>
          <p:nvPr/>
        </p:nvSpPr>
        <p:spPr>
          <a:xfrm>
            <a:off x="6911280" y="4628520"/>
            <a:ext cx="360" cy="2998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41" name="CustomShape 26"/>
          <p:cNvSpPr/>
          <p:nvPr/>
        </p:nvSpPr>
        <p:spPr>
          <a:xfrm>
            <a:off x="7208280" y="5149800"/>
            <a:ext cx="858240" cy="36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sp>
        <p:nvSpPr>
          <p:cNvPr id="542" name="CustomShape 27"/>
          <p:cNvSpPr/>
          <p:nvPr/>
        </p:nvSpPr>
        <p:spPr>
          <a:xfrm>
            <a:off x="7227720" y="4932360"/>
            <a:ext cx="7142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200" spc="-1" strike="noStrike">
                <a:solidFill>
                  <a:srgbClr val="000000"/>
                </a:solidFill>
                <a:latin typeface="Calibri"/>
              </a:rPr>
              <a:t>Evaluate</a:t>
            </a:r>
            <a:endParaRPr b="0" lang="en-US" sz="1200" spc="-1" strike="noStrike">
              <a:latin typeface="Arial"/>
            </a:endParaRPr>
          </a:p>
        </p:txBody>
      </p:sp>
      <p:sp>
        <p:nvSpPr>
          <p:cNvPr id="543" name="CustomShape 28"/>
          <p:cNvSpPr/>
          <p:nvPr/>
        </p:nvSpPr>
        <p:spPr>
          <a:xfrm>
            <a:off x="363240" y="1116720"/>
            <a:ext cx="362052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600" spc="-1" strike="noStrike">
                <a:solidFill>
                  <a:srgbClr val="000000"/>
                </a:solidFill>
                <a:latin typeface="Calibri"/>
              </a:rPr>
              <a:t>Active Learning (Uncertainty Sampling)</a:t>
            </a:r>
            <a:endParaRPr b="0" lang="en-US" sz="1600" spc="-1" strike="noStrike">
              <a:latin typeface="Arial"/>
            </a:endParaRPr>
          </a:p>
        </p:txBody>
      </p:sp>
      <p:grpSp>
        <p:nvGrpSpPr>
          <p:cNvPr id="544" name="Group 29"/>
          <p:cNvGrpSpPr/>
          <p:nvPr/>
        </p:nvGrpSpPr>
        <p:grpSpPr>
          <a:xfrm>
            <a:off x="1211760" y="3283560"/>
            <a:ext cx="929160" cy="915120"/>
            <a:chOff x="1211760" y="3283560"/>
            <a:chExt cx="929160" cy="915120"/>
          </a:xfrm>
        </p:grpSpPr>
        <p:pic>
          <p:nvPicPr>
            <p:cNvPr id="545" name="Picture 4" descr="Batch Icons - Download Free Vector Icons | Noun Project"/>
            <p:cNvPicPr/>
            <p:nvPr/>
          </p:nvPicPr>
          <p:blipFill>
            <a:blip r:embed="rId1"/>
            <a:stretch/>
          </p:blipFill>
          <p:spPr>
            <a:xfrm>
              <a:off x="1450080" y="3283560"/>
              <a:ext cx="470520" cy="470520"/>
            </a:xfrm>
            <a:prstGeom prst="rect">
              <a:avLst/>
            </a:prstGeom>
            <a:ln>
              <a:noFill/>
            </a:ln>
          </p:spPr>
        </p:pic>
        <p:sp>
          <p:nvSpPr>
            <p:cNvPr id="546" name="CustomShape 30"/>
            <p:cNvSpPr/>
            <p:nvPr/>
          </p:nvSpPr>
          <p:spPr>
            <a:xfrm>
              <a:off x="1211760" y="3744000"/>
              <a:ext cx="92916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200" spc="-1" strike="noStrike">
                  <a:solidFill>
                    <a:srgbClr val="ff0000"/>
                  </a:solidFill>
                  <a:latin typeface="Calibri"/>
                </a:rPr>
                <a:t>Batch=5000</a:t>
              </a:r>
              <a:endParaRPr b="0" lang="en-US" sz="1200" spc="-1" strike="noStrike">
                <a:latin typeface="Arial"/>
              </a:endParaRPr>
            </a:p>
          </p:txBody>
        </p:sp>
      </p:grpSp>
      <p:pic>
        <p:nvPicPr>
          <p:cNvPr id="547" name="Picture 2" descr="Neural Network Icons - Download Free Vector Icons | Noun Project"/>
          <p:cNvPicPr/>
          <p:nvPr/>
        </p:nvPicPr>
        <p:blipFill>
          <a:blip r:embed="rId2"/>
          <a:srcRect l="4466" t="16459" r="3969" b="17012"/>
          <a:stretch/>
        </p:blipFill>
        <p:spPr>
          <a:xfrm>
            <a:off x="6305400" y="3575160"/>
            <a:ext cx="1498320" cy="1088640"/>
          </a:xfrm>
          <a:prstGeom prst="rect">
            <a:avLst/>
          </a:prstGeom>
          <a:ln>
            <a:noFill/>
          </a:ln>
        </p:spPr>
      </p:pic>
      <p:sp>
        <p:nvSpPr>
          <p:cNvPr id="548" name="CustomShape 31"/>
          <p:cNvSpPr/>
          <p:nvPr/>
        </p:nvSpPr>
        <p:spPr>
          <a:xfrm rot="16200000">
            <a:off x="6339240" y="3053520"/>
            <a:ext cx="913320" cy="3949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000" spc="-1" strike="noStrike">
                <a:solidFill>
                  <a:srgbClr val="ff0000"/>
                </a:solidFill>
                <a:latin typeface="Calibri"/>
              </a:rPr>
              <a:t>Batch Training</a:t>
            </a:r>
            <a:endParaRPr b="0" lang="en-US" sz="1000" spc="-1" strike="noStrike">
              <a:latin typeface="Arial"/>
            </a:endParaRPr>
          </a:p>
        </p:txBody>
      </p:sp>
      <p:pic>
        <p:nvPicPr>
          <p:cNvPr id="549" name="Picture 2" descr="33,559 BEST Admin Icon IMAGES, STOCK PHOTOS &amp;amp; VECTORS | Adobe Stock"/>
          <p:cNvPicPr/>
          <p:nvPr/>
        </p:nvPicPr>
        <p:blipFill>
          <a:blip r:embed="rId3"/>
          <a:srcRect l="33839" t="15814" r="33327" b="16240"/>
          <a:stretch/>
        </p:blipFill>
        <p:spPr>
          <a:xfrm>
            <a:off x="11419560" y="3758760"/>
            <a:ext cx="630000" cy="782640"/>
          </a:xfrm>
          <a:prstGeom prst="rect">
            <a:avLst/>
          </a:prstGeom>
          <a:ln>
            <a:noFill/>
          </a:ln>
        </p:spPr>
      </p:pic>
      <p:sp>
        <p:nvSpPr>
          <p:cNvPr id="550" name="CustomShape 32"/>
          <p:cNvSpPr/>
          <p:nvPr/>
        </p:nvSpPr>
        <p:spPr>
          <a:xfrm>
            <a:off x="2638800" y="3128400"/>
            <a:ext cx="881640" cy="45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200" spc="-1" strike="noStrike">
                <a:solidFill>
                  <a:srgbClr val="ff0000"/>
                </a:solidFill>
                <a:latin typeface="Calibri"/>
              </a:rPr>
              <a:t>Clustering</a:t>
            </a:r>
            <a:endParaRPr b="0" lang="en-US" sz="1200" spc="-1" strike="noStrike">
              <a:latin typeface="Arial"/>
            </a:endParaRPr>
          </a:p>
        </p:txBody>
      </p:sp>
      <p:sp>
        <p:nvSpPr>
          <p:cNvPr id="551" name="CustomShape 33"/>
          <p:cNvSpPr/>
          <p:nvPr/>
        </p:nvSpPr>
        <p:spPr>
          <a:xfrm>
            <a:off x="1211760" y="5868360"/>
            <a:ext cx="760788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TimesNewRoman"/>
              </a:rPr>
              <a:t>Compare number of query to the Oracle </a:t>
            </a:r>
            <a:endParaRPr b="0" lang="en-US" sz="1800" spc="-1" strike="noStrike">
              <a:latin typeface="Arial"/>
            </a:endParaRPr>
          </a:p>
          <a:p>
            <a:pPr>
              <a:lnSpc>
                <a:spcPct val="100000"/>
              </a:lnSpc>
            </a:pPr>
            <a:endParaRPr b="0" lang="en-US" sz="1800" spc="-1" strike="noStrike">
              <a:latin typeface="Arial"/>
            </a:endParaRPr>
          </a:p>
        </p:txBody>
      </p:sp>
      <p:pic>
        <p:nvPicPr>
          <p:cNvPr id="552" name="Picture 2" descr="Overview of Cluster Analysis and Dirichlet Process Mixture Models"/>
          <p:cNvPicPr/>
          <p:nvPr/>
        </p:nvPicPr>
        <p:blipFill>
          <a:blip r:embed="rId4"/>
          <a:srcRect l="6211" t="12421" r="7930" b="6210"/>
          <a:stretch/>
        </p:blipFill>
        <p:spPr>
          <a:xfrm>
            <a:off x="2319480" y="3413880"/>
            <a:ext cx="1446840" cy="1234440"/>
          </a:xfrm>
          <a:prstGeom prst="rect">
            <a:avLst/>
          </a:prstGeom>
          <a:ln cap="sq" w="38160">
            <a:solidFill>
              <a:srgbClr val="000000"/>
            </a:solidFill>
            <a:miter/>
          </a:ln>
          <a:effectLst>
            <a:outerShdw algn="tl" blurRad="50800" dir="2700000" dist="37674" rotWithShape="0">
              <a:srgbClr val="000000">
                <a:alpha val="43000"/>
              </a:srgbClr>
            </a:outerShdw>
          </a:effectLst>
        </p:spPr>
      </p:pic>
      <p:sp>
        <p:nvSpPr>
          <p:cNvPr id="553" name="CustomShape 34"/>
          <p:cNvSpPr/>
          <p:nvPr/>
        </p:nvSpPr>
        <p:spPr>
          <a:xfrm flipV="1">
            <a:off x="3766680" y="4014720"/>
            <a:ext cx="723240" cy="15480"/>
          </a:xfrm>
          <a:custGeom>
            <a:avLst/>
            <a:gdLst/>
            <a:ahLst/>
            <a:rect l="l" t="t" r="r" b="b"/>
            <a:pathLst>
              <a:path w="21600" h="21600">
                <a:moveTo>
                  <a:pt x="0" y="0"/>
                </a:moveTo>
                <a:lnTo>
                  <a:pt x="21600" y="21600"/>
                </a:lnTo>
              </a:path>
            </a:pathLst>
          </a:custGeom>
          <a:noFill/>
          <a:ln>
            <a:tailEnd len="med" type="triangle" w="med"/>
          </a:ln>
        </p:spPr>
        <p:style>
          <a:lnRef idx="1">
            <a:schemeClr val="accent1"/>
          </a:lnRef>
          <a:fillRef idx="0">
            <a:schemeClr val="accent1"/>
          </a:fillRef>
          <a:effectRef idx="0">
            <a:schemeClr val="accent1"/>
          </a:effectRef>
          <a:fontRef idx="minor"/>
        </p:style>
      </p:sp>
      <p:pic>
        <p:nvPicPr>
          <p:cNvPr id="554" name="Picture 2" descr="33,559 BEST Admin Icon IMAGES, STOCK PHOTOS &amp;amp; VECTORS | Adobe Stock"/>
          <p:cNvPicPr/>
          <p:nvPr/>
        </p:nvPicPr>
        <p:blipFill>
          <a:blip r:embed="rId5"/>
          <a:srcRect l="33839" t="15814" r="33327" b="16240"/>
          <a:stretch/>
        </p:blipFill>
        <p:spPr>
          <a:xfrm>
            <a:off x="4490280" y="3624120"/>
            <a:ext cx="630000" cy="782640"/>
          </a:xfrm>
          <a:prstGeom prst="rect">
            <a:avLst/>
          </a:prstGeom>
          <a:ln>
            <a:noFill/>
          </a:ln>
        </p:spPr>
      </p:pic>
      <p:sp>
        <p:nvSpPr>
          <p:cNvPr id="555" name="CustomShape 35"/>
          <p:cNvSpPr/>
          <p:nvPr/>
        </p:nvSpPr>
        <p:spPr>
          <a:xfrm flipV="1">
            <a:off x="5120640" y="2587680"/>
            <a:ext cx="1435320" cy="1427040"/>
          </a:xfrm>
          <a:prstGeom prst="bentConnector3">
            <a:avLst>
              <a:gd name="adj1" fmla="val 50000"/>
            </a:avLst>
          </a:prstGeom>
          <a:noFill/>
          <a:ln>
            <a:tailEnd len="med" type="triangle" w="med"/>
          </a:ln>
        </p:spPr>
        <p:style>
          <a:lnRef idx="1">
            <a:schemeClr val="accent1"/>
          </a:lnRef>
          <a:fillRef idx="0">
            <a:schemeClr val="accent1"/>
          </a:fillRef>
          <a:effectRef idx="0">
            <a:schemeClr val="accent1"/>
          </a:effectRef>
          <a:fontRef idx="minor"/>
        </p:style>
      </p:sp>
      <p:sp>
        <p:nvSpPr>
          <p:cNvPr id="556" name="TextShape 36"/>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557" name="TextShape 37"/>
          <p:cNvSpPr txBox="1"/>
          <p:nvPr/>
        </p:nvSpPr>
        <p:spPr>
          <a:xfrm>
            <a:off x="8610480" y="6356520"/>
            <a:ext cx="2742840" cy="364680"/>
          </a:xfrm>
          <a:prstGeom prst="rect">
            <a:avLst/>
          </a:prstGeom>
          <a:noFill/>
          <a:ln>
            <a:noFill/>
          </a:ln>
        </p:spPr>
        <p:txBody>
          <a:bodyPr anchor="ctr">
            <a:noAutofit/>
          </a:bodyPr>
          <a:p>
            <a:pPr algn="r">
              <a:lnSpc>
                <a:spcPct val="100000"/>
              </a:lnSpc>
            </a:pPr>
            <a:fld id="{F9B75408-A07F-462C-BA99-9A259C599D7B}"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Results</a:t>
            </a:r>
            <a:endParaRPr b="0" lang="en-US" sz="4400" spc="-1" strike="noStrike">
              <a:solidFill>
                <a:srgbClr val="000000"/>
              </a:solidFill>
              <a:latin typeface="Calibri"/>
            </a:endParaRPr>
          </a:p>
        </p:txBody>
      </p:sp>
      <p:grpSp>
        <p:nvGrpSpPr>
          <p:cNvPr id="559" name="Group 2"/>
          <p:cNvGrpSpPr/>
          <p:nvPr/>
        </p:nvGrpSpPr>
        <p:grpSpPr>
          <a:xfrm>
            <a:off x="6921000" y="579600"/>
            <a:ext cx="2310120" cy="1106640"/>
            <a:chOff x="6921000" y="579600"/>
            <a:chExt cx="2310120" cy="1106640"/>
          </a:xfrm>
        </p:grpSpPr>
        <p:grpSp>
          <p:nvGrpSpPr>
            <p:cNvPr id="560" name="Group 3"/>
            <p:cNvGrpSpPr/>
            <p:nvPr/>
          </p:nvGrpSpPr>
          <p:grpSpPr>
            <a:xfrm>
              <a:off x="7236360" y="579600"/>
              <a:ext cx="1994760" cy="849960"/>
              <a:chOff x="7236360" y="579600"/>
              <a:chExt cx="1994760" cy="849960"/>
            </a:xfrm>
          </p:grpSpPr>
          <p:sp>
            <p:nvSpPr>
              <p:cNvPr id="561" name="Line 4"/>
              <p:cNvSpPr/>
              <p:nvPr/>
            </p:nvSpPr>
            <p:spPr>
              <a:xfrm>
                <a:off x="7236360" y="579600"/>
                <a:ext cx="0" cy="849960"/>
              </a:xfrm>
              <a:prstGeom prst="line">
                <a:avLst/>
              </a:prstGeom>
              <a:ln/>
            </p:spPr>
            <p:style>
              <a:lnRef idx="3">
                <a:schemeClr val="accent1"/>
              </a:lnRef>
              <a:fillRef idx="0">
                <a:schemeClr val="accent1"/>
              </a:fillRef>
              <a:effectRef idx="2">
                <a:schemeClr val="accent1"/>
              </a:effectRef>
              <a:fontRef idx="minor"/>
            </p:style>
          </p:sp>
          <p:sp>
            <p:nvSpPr>
              <p:cNvPr id="562" name="Line 5"/>
              <p:cNvSpPr/>
              <p:nvPr/>
            </p:nvSpPr>
            <p:spPr>
              <a:xfrm flipH="1">
                <a:off x="7236360" y="1429560"/>
                <a:ext cx="1994760" cy="0"/>
              </a:xfrm>
              <a:prstGeom prst="line">
                <a:avLst/>
              </a:prstGeom>
              <a:ln/>
            </p:spPr>
            <p:style>
              <a:lnRef idx="3">
                <a:schemeClr val="accent1"/>
              </a:lnRef>
              <a:fillRef idx="0">
                <a:schemeClr val="accent1"/>
              </a:fillRef>
              <a:effectRef idx="2">
                <a:schemeClr val="accent1"/>
              </a:effectRef>
              <a:fontRef idx="minor"/>
            </p:style>
          </p:sp>
        </p:grpSp>
        <p:sp>
          <p:nvSpPr>
            <p:cNvPr id="563" name="CustomShape 6"/>
            <p:cNvSpPr/>
            <p:nvPr/>
          </p:nvSpPr>
          <p:spPr>
            <a:xfrm>
              <a:off x="7347240" y="625680"/>
              <a:ext cx="1726920" cy="618120"/>
            </a:xfrm>
            <a:custGeom>
              <a:avLst/>
              <a:gdLst/>
              <a:ahLst/>
              <a:rect l="l" t="t" r="r" b="b"/>
              <a:pathLst>
                <a:path w="1727200" h="618551">
                  <a:moveTo>
                    <a:pt x="0" y="0"/>
                  </a:moveTo>
                  <a:cubicBezTo>
                    <a:pt x="3079" y="18473"/>
                    <a:pt x="7801" y="36746"/>
                    <a:pt x="9237" y="55418"/>
                  </a:cubicBezTo>
                  <a:cubicBezTo>
                    <a:pt x="17044" y="156905"/>
                    <a:pt x="12610" y="259558"/>
                    <a:pt x="27709" y="360218"/>
                  </a:cubicBezTo>
                  <a:cubicBezTo>
                    <a:pt x="34787" y="407404"/>
                    <a:pt x="68057" y="429102"/>
                    <a:pt x="101600" y="452582"/>
                  </a:cubicBezTo>
                  <a:cubicBezTo>
                    <a:pt x="119788" y="465314"/>
                    <a:pt x="137161" y="479598"/>
                    <a:pt x="157019" y="489527"/>
                  </a:cubicBezTo>
                  <a:cubicBezTo>
                    <a:pt x="233057" y="527546"/>
                    <a:pt x="323422" y="557097"/>
                    <a:pt x="406400" y="572655"/>
                  </a:cubicBezTo>
                  <a:cubicBezTo>
                    <a:pt x="458198" y="582367"/>
                    <a:pt x="510835" y="587621"/>
                    <a:pt x="563419" y="591127"/>
                  </a:cubicBezTo>
                  <a:cubicBezTo>
                    <a:pt x="649489" y="596865"/>
                    <a:pt x="735831" y="597285"/>
                    <a:pt x="822037" y="600364"/>
                  </a:cubicBezTo>
                  <a:cubicBezTo>
                    <a:pt x="1161590" y="631231"/>
                    <a:pt x="966078" y="616969"/>
                    <a:pt x="1671782" y="600364"/>
                  </a:cubicBezTo>
                  <a:cubicBezTo>
                    <a:pt x="1694670" y="599825"/>
                    <a:pt x="1708619" y="591181"/>
                    <a:pt x="1727200" y="581891"/>
                  </a:cubicBezTo>
                </a:path>
              </a:pathLst>
            </a:custGeom>
            <a:noFill/>
            <a:ln/>
          </p:spPr>
          <p:style>
            <a:lnRef idx="2">
              <a:schemeClr val="accent6"/>
            </a:lnRef>
            <a:fillRef idx="0">
              <a:schemeClr val="accent6"/>
            </a:fillRef>
            <a:effectRef idx="1">
              <a:schemeClr val="accent6"/>
            </a:effectRef>
            <a:fontRef idx="minor"/>
          </p:style>
        </p:sp>
        <p:sp>
          <p:nvSpPr>
            <p:cNvPr id="564" name="CustomShape 7"/>
            <p:cNvSpPr/>
            <p:nvPr/>
          </p:nvSpPr>
          <p:spPr>
            <a:xfrm>
              <a:off x="7398000" y="625680"/>
              <a:ext cx="1726920" cy="437760"/>
            </a:xfrm>
            <a:custGeom>
              <a:avLst/>
              <a:gdLst/>
              <a:ahLst/>
              <a:rect l="l" t="t" r="r" b="b"/>
              <a:pathLst>
                <a:path w="1727200" h="618551">
                  <a:moveTo>
                    <a:pt x="0" y="0"/>
                  </a:moveTo>
                  <a:cubicBezTo>
                    <a:pt x="3079" y="18473"/>
                    <a:pt x="7801" y="36746"/>
                    <a:pt x="9237" y="55418"/>
                  </a:cubicBezTo>
                  <a:cubicBezTo>
                    <a:pt x="17044" y="156905"/>
                    <a:pt x="12610" y="259558"/>
                    <a:pt x="27709" y="360218"/>
                  </a:cubicBezTo>
                  <a:cubicBezTo>
                    <a:pt x="34787" y="407404"/>
                    <a:pt x="68057" y="429102"/>
                    <a:pt x="101600" y="452582"/>
                  </a:cubicBezTo>
                  <a:cubicBezTo>
                    <a:pt x="119788" y="465314"/>
                    <a:pt x="137161" y="479598"/>
                    <a:pt x="157019" y="489527"/>
                  </a:cubicBezTo>
                  <a:cubicBezTo>
                    <a:pt x="233057" y="527546"/>
                    <a:pt x="323422" y="557097"/>
                    <a:pt x="406400" y="572655"/>
                  </a:cubicBezTo>
                  <a:cubicBezTo>
                    <a:pt x="458198" y="582367"/>
                    <a:pt x="510835" y="587621"/>
                    <a:pt x="563419" y="591127"/>
                  </a:cubicBezTo>
                  <a:cubicBezTo>
                    <a:pt x="649489" y="596865"/>
                    <a:pt x="735831" y="597285"/>
                    <a:pt x="822037" y="600364"/>
                  </a:cubicBezTo>
                  <a:cubicBezTo>
                    <a:pt x="1161590" y="631231"/>
                    <a:pt x="966078" y="616969"/>
                    <a:pt x="1671782" y="600364"/>
                  </a:cubicBezTo>
                  <a:cubicBezTo>
                    <a:pt x="1694670" y="599825"/>
                    <a:pt x="1708619" y="591181"/>
                    <a:pt x="1727200" y="581891"/>
                  </a:cubicBezTo>
                </a:path>
              </a:pathLst>
            </a:custGeom>
            <a:noFill/>
            <a:ln>
              <a:solidFill>
                <a:srgbClr val="7030a0"/>
              </a:solidFill>
            </a:ln>
          </p:spPr>
          <p:style>
            <a:lnRef idx="2">
              <a:schemeClr val="accent6"/>
            </a:lnRef>
            <a:fillRef idx="0">
              <a:schemeClr val="accent6"/>
            </a:fillRef>
            <a:effectRef idx="1">
              <a:schemeClr val="accent6"/>
            </a:effectRef>
            <a:fontRef idx="minor"/>
          </p:style>
        </p:sp>
        <p:sp>
          <p:nvSpPr>
            <p:cNvPr id="565" name="CustomShape 8"/>
            <p:cNvSpPr/>
            <p:nvPr/>
          </p:nvSpPr>
          <p:spPr>
            <a:xfrm>
              <a:off x="7388640" y="1382760"/>
              <a:ext cx="1755360" cy="3034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Number of Labels</a:t>
              </a:r>
              <a:endParaRPr b="0" lang="en-US" sz="1400" spc="-1" strike="noStrike">
                <a:latin typeface="Arial"/>
              </a:endParaRPr>
            </a:p>
          </p:txBody>
        </p:sp>
        <p:sp>
          <p:nvSpPr>
            <p:cNvPr id="566" name="CustomShape 9"/>
            <p:cNvSpPr/>
            <p:nvPr/>
          </p:nvSpPr>
          <p:spPr>
            <a:xfrm rot="16200000">
              <a:off x="6764400" y="845280"/>
              <a:ext cx="615960" cy="30312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Error</a:t>
              </a:r>
              <a:endParaRPr b="0" lang="en-US" sz="1400" spc="-1" strike="noStrike">
                <a:latin typeface="Arial"/>
              </a:endParaRPr>
            </a:p>
          </p:txBody>
        </p:sp>
      </p:grpSp>
      <p:grpSp>
        <p:nvGrpSpPr>
          <p:cNvPr id="567" name="Group 10"/>
          <p:cNvGrpSpPr/>
          <p:nvPr/>
        </p:nvGrpSpPr>
        <p:grpSpPr>
          <a:xfrm>
            <a:off x="9495000" y="547920"/>
            <a:ext cx="2350080" cy="1185120"/>
            <a:chOff x="9495000" y="547920"/>
            <a:chExt cx="2350080" cy="1185120"/>
          </a:xfrm>
        </p:grpSpPr>
        <p:grpSp>
          <p:nvGrpSpPr>
            <p:cNvPr id="568" name="Group 11"/>
            <p:cNvGrpSpPr/>
            <p:nvPr/>
          </p:nvGrpSpPr>
          <p:grpSpPr>
            <a:xfrm>
              <a:off x="9810360" y="626040"/>
              <a:ext cx="1995120" cy="849960"/>
              <a:chOff x="9810360" y="626040"/>
              <a:chExt cx="1995120" cy="849960"/>
            </a:xfrm>
          </p:grpSpPr>
          <p:sp>
            <p:nvSpPr>
              <p:cNvPr id="569" name="Line 12"/>
              <p:cNvSpPr/>
              <p:nvPr/>
            </p:nvSpPr>
            <p:spPr>
              <a:xfrm>
                <a:off x="9810360" y="626040"/>
                <a:ext cx="0" cy="849960"/>
              </a:xfrm>
              <a:prstGeom prst="line">
                <a:avLst/>
              </a:prstGeom>
              <a:ln/>
            </p:spPr>
            <p:style>
              <a:lnRef idx="3">
                <a:schemeClr val="accent1"/>
              </a:lnRef>
              <a:fillRef idx="0">
                <a:schemeClr val="accent1"/>
              </a:fillRef>
              <a:effectRef idx="2">
                <a:schemeClr val="accent1"/>
              </a:effectRef>
              <a:fontRef idx="minor"/>
            </p:style>
          </p:sp>
          <p:sp>
            <p:nvSpPr>
              <p:cNvPr id="570" name="Line 13"/>
              <p:cNvSpPr/>
              <p:nvPr/>
            </p:nvSpPr>
            <p:spPr>
              <a:xfrm flipH="1">
                <a:off x="9810360" y="1476000"/>
                <a:ext cx="1995120" cy="0"/>
              </a:xfrm>
              <a:prstGeom prst="line">
                <a:avLst/>
              </a:prstGeom>
              <a:ln/>
            </p:spPr>
            <p:style>
              <a:lnRef idx="3">
                <a:schemeClr val="accent1"/>
              </a:lnRef>
              <a:fillRef idx="0">
                <a:schemeClr val="accent1"/>
              </a:fillRef>
              <a:effectRef idx="2">
                <a:schemeClr val="accent1"/>
              </a:effectRef>
              <a:fontRef idx="minor"/>
            </p:style>
          </p:sp>
        </p:grpSp>
        <p:sp>
          <p:nvSpPr>
            <p:cNvPr id="571" name="CustomShape 14"/>
            <p:cNvSpPr/>
            <p:nvPr/>
          </p:nvSpPr>
          <p:spPr>
            <a:xfrm>
              <a:off x="9958680" y="1429560"/>
              <a:ext cx="1886400" cy="3034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Number of Re-train</a:t>
              </a:r>
              <a:endParaRPr b="0" lang="en-US" sz="1400" spc="-1" strike="noStrike">
                <a:latin typeface="Arial"/>
              </a:endParaRPr>
            </a:p>
          </p:txBody>
        </p:sp>
        <p:sp>
          <p:nvSpPr>
            <p:cNvPr id="572" name="CustomShape 15"/>
            <p:cNvSpPr/>
            <p:nvPr/>
          </p:nvSpPr>
          <p:spPr>
            <a:xfrm rot="16200000">
              <a:off x="9150480" y="892440"/>
              <a:ext cx="992160" cy="30312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Accuracy</a:t>
              </a:r>
              <a:endParaRPr b="0" lang="en-US" sz="1400" spc="-1" strike="noStrike">
                <a:latin typeface="Arial"/>
              </a:endParaRPr>
            </a:p>
          </p:txBody>
        </p:sp>
      </p:grpSp>
      <p:sp>
        <p:nvSpPr>
          <p:cNvPr id="573" name="CustomShape 16"/>
          <p:cNvSpPr/>
          <p:nvPr/>
        </p:nvSpPr>
        <p:spPr>
          <a:xfrm>
            <a:off x="9951120" y="612720"/>
            <a:ext cx="1336320" cy="679320"/>
          </a:xfrm>
          <a:custGeom>
            <a:avLst/>
            <a:gdLst/>
            <a:ahLst/>
            <a:rect l="l" t="t" r="r" b="b"/>
            <a:pathLst>
              <a:path w="1336675" h="679626">
                <a:moveTo>
                  <a:pt x="0" y="676275"/>
                </a:moveTo>
                <a:cubicBezTo>
                  <a:pt x="71104" y="677501"/>
                  <a:pt x="201026" y="684750"/>
                  <a:pt x="282575" y="673100"/>
                </a:cubicBezTo>
                <a:cubicBezTo>
                  <a:pt x="309511" y="669252"/>
                  <a:pt x="334950" y="657425"/>
                  <a:pt x="361950" y="654050"/>
                </a:cubicBezTo>
                <a:lnTo>
                  <a:pt x="387350" y="650875"/>
                </a:lnTo>
                <a:cubicBezTo>
                  <a:pt x="398992" y="647700"/>
                  <a:pt x="410731" y="644863"/>
                  <a:pt x="422275" y="641350"/>
                </a:cubicBezTo>
                <a:cubicBezTo>
                  <a:pt x="435082" y="637452"/>
                  <a:pt x="447491" y="632284"/>
                  <a:pt x="460375" y="628650"/>
                </a:cubicBezTo>
                <a:cubicBezTo>
                  <a:pt x="488786" y="620637"/>
                  <a:pt x="517357" y="613152"/>
                  <a:pt x="546100" y="606425"/>
                </a:cubicBezTo>
                <a:cubicBezTo>
                  <a:pt x="648999" y="582342"/>
                  <a:pt x="572829" y="605982"/>
                  <a:pt x="647700" y="581025"/>
                </a:cubicBezTo>
                <a:cubicBezTo>
                  <a:pt x="658283" y="571500"/>
                  <a:pt x="668230" y="561216"/>
                  <a:pt x="679450" y="552450"/>
                </a:cubicBezTo>
                <a:cubicBezTo>
                  <a:pt x="702137" y="534726"/>
                  <a:pt x="726044" y="518621"/>
                  <a:pt x="749300" y="501650"/>
                </a:cubicBezTo>
                <a:cubicBezTo>
                  <a:pt x="765202" y="490046"/>
                  <a:pt x="780826" y="478054"/>
                  <a:pt x="796925" y="466725"/>
                </a:cubicBezTo>
                <a:cubicBezTo>
                  <a:pt x="809408" y="457941"/>
                  <a:pt x="823580" y="451424"/>
                  <a:pt x="835025" y="441325"/>
                </a:cubicBezTo>
                <a:cubicBezTo>
                  <a:pt x="853017" y="425450"/>
                  <a:pt x="872034" y="410666"/>
                  <a:pt x="889000" y="393700"/>
                </a:cubicBezTo>
                <a:cubicBezTo>
                  <a:pt x="904263" y="378437"/>
                  <a:pt x="937911" y="343065"/>
                  <a:pt x="955675" y="333375"/>
                </a:cubicBezTo>
                <a:cubicBezTo>
                  <a:pt x="967317" y="327025"/>
                  <a:pt x="979285" y="321240"/>
                  <a:pt x="990600" y="314325"/>
                </a:cubicBezTo>
                <a:cubicBezTo>
                  <a:pt x="998368" y="309578"/>
                  <a:pt x="1004961" y="303037"/>
                  <a:pt x="1012825" y="298450"/>
                </a:cubicBezTo>
                <a:cubicBezTo>
                  <a:pt x="1017748" y="295578"/>
                  <a:pt x="1023512" y="294458"/>
                  <a:pt x="1028700" y="292100"/>
                </a:cubicBezTo>
                <a:cubicBezTo>
                  <a:pt x="1071345" y="272716"/>
                  <a:pt x="1021351" y="292474"/>
                  <a:pt x="1073150" y="273050"/>
                </a:cubicBezTo>
                <a:cubicBezTo>
                  <a:pt x="1116011" y="236312"/>
                  <a:pt x="1074661" y="267736"/>
                  <a:pt x="1149350" y="231775"/>
                </a:cubicBezTo>
                <a:cubicBezTo>
                  <a:pt x="1155991" y="228577"/>
                  <a:pt x="1183937" y="212166"/>
                  <a:pt x="1193800" y="203200"/>
                </a:cubicBezTo>
                <a:cubicBezTo>
                  <a:pt x="1201552" y="196152"/>
                  <a:pt x="1209207" y="188930"/>
                  <a:pt x="1216025" y="180975"/>
                </a:cubicBezTo>
                <a:cubicBezTo>
                  <a:pt x="1221950" y="174063"/>
                  <a:pt x="1226438" y="166033"/>
                  <a:pt x="1231900" y="158750"/>
                </a:cubicBezTo>
                <a:cubicBezTo>
                  <a:pt x="1235966" y="153329"/>
                  <a:pt x="1240714" y="148427"/>
                  <a:pt x="1244600" y="142875"/>
                </a:cubicBezTo>
                <a:cubicBezTo>
                  <a:pt x="1248139" y="137819"/>
                  <a:pt x="1250376" y="131902"/>
                  <a:pt x="1254125" y="127000"/>
                </a:cubicBezTo>
                <a:cubicBezTo>
                  <a:pt x="1329149" y="28892"/>
                  <a:pt x="1257173" y="133883"/>
                  <a:pt x="1298575" y="63500"/>
                </a:cubicBezTo>
                <a:cubicBezTo>
                  <a:pt x="1304379" y="53633"/>
                  <a:pt x="1314005" y="45785"/>
                  <a:pt x="1317625" y="34925"/>
                </a:cubicBezTo>
                <a:cubicBezTo>
                  <a:pt x="1325071" y="12587"/>
                  <a:pt x="1315380" y="40163"/>
                  <a:pt x="1327150" y="12700"/>
                </a:cubicBezTo>
                <a:cubicBezTo>
                  <a:pt x="1328468" y="9624"/>
                  <a:pt x="1328317" y="5852"/>
                  <a:pt x="1330325" y="3175"/>
                </a:cubicBezTo>
                <a:cubicBezTo>
                  <a:pt x="1331745" y="1282"/>
                  <a:pt x="1334558" y="1058"/>
                  <a:pt x="1336675" y="0"/>
                </a:cubicBezTo>
              </a:path>
            </a:pathLst>
          </a:custGeom>
          <a:noFill/>
          <a:ln/>
        </p:spPr>
        <p:style>
          <a:lnRef idx="2">
            <a:schemeClr val="accent6"/>
          </a:lnRef>
          <a:fillRef idx="0">
            <a:schemeClr val="accent6"/>
          </a:fillRef>
          <a:effectRef idx="1">
            <a:schemeClr val="accent6"/>
          </a:effectRef>
          <a:fontRef idx="minor"/>
        </p:style>
      </p:sp>
      <p:sp>
        <p:nvSpPr>
          <p:cNvPr id="574" name="CustomShape 17"/>
          <p:cNvSpPr/>
          <p:nvPr/>
        </p:nvSpPr>
        <p:spPr>
          <a:xfrm>
            <a:off x="9951120" y="571680"/>
            <a:ext cx="1209240" cy="666360"/>
          </a:xfrm>
          <a:custGeom>
            <a:avLst/>
            <a:gdLst/>
            <a:ahLst/>
            <a:rect l="l" t="t" r="r" b="b"/>
            <a:pathLst>
              <a:path w="1209675" h="666750">
                <a:moveTo>
                  <a:pt x="0" y="666750"/>
                </a:moveTo>
                <a:cubicBezTo>
                  <a:pt x="11642" y="665692"/>
                  <a:pt x="23462" y="665868"/>
                  <a:pt x="34925" y="663575"/>
                </a:cubicBezTo>
                <a:cubicBezTo>
                  <a:pt x="44770" y="661606"/>
                  <a:pt x="53561" y="655470"/>
                  <a:pt x="63500" y="654050"/>
                </a:cubicBezTo>
                <a:cubicBezTo>
                  <a:pt x="83434" y="651202"/>
                  <a:pt x="103717" y="651933"/>
                  <a:pt x="123825" y="650875"/>
                </a:cubicBezTo>
                <a:cubicBezTo>
                  <a:pt x="153333" y="633170"/>
                  <a:pt x="145513" y="636301"/>
                  <a:pt x="196850" y="622300"/>
                </a:cubicBezTo>
                <a:cubicBezTo>
                  <a:pt x="208492" y="619125"/>
                  <a:pt x="220625" y="617389"/>
                  <a:pt x="231775" y="612775"/>
                </a:cubicBezTo>
                <a:cubicBezTo>
                  <a:pt x="251455" y="604631"/>
                  <a:pt x="271886" y="596979"/>
                  <a:pt x="288925" y="584200"/>
                </a:cubicBezTo>
                <a:cubicBezTo>
                  <a:pt x="293158" y="581025"/>
                  <a:pt x="296979" y="577209"/>
                  <a:pt x="301625" y="574675"/>
                </a:cubicBezTo>
                <a:cubicBezTo>
                  <a:pt x="313949" y="567953"/>
                  <a:pt x="336735" y="560839"/>
                  <a:pt x="349250" y="555625"/>
                </a:cubicBezTo>
                <a:cubicBezTo>
                  <a:pt x="353619" y="553805"/>
                  <a:pt x="357841" y="551623"/>
                  <a:pt x="361950" y="549275"/>
                </a:cubicBezTo>
                <a:cubicBezTo>
                  <a:pt x="365263" y="547382"/>
                  <a:pt x="367889" y="544229"/>
                  <a:pt x="371475" y="542925"/>
                </a:cubicBezTo>
                <a:cubicBezTo>
                  <a:pt x="379677" y="539943"/>
                  <a:pt x="388484" y="538973"/>
                  <a:pt x="396875" y="536575"/>
                </a:cubicBezTo>
                <a:cubicBezTo>
                  <a:pt x="403311" y="534736"/>
                  <a:pt x="409528" y="532193"/>
                  <a:pt x="415925" y="530225"/>
                </a:cubicBezTo>
                <a:cubicBezTo>
                  <a:pt x="423289" y="527959"/>
                  <a:pt x="431038" y="526838"/>
                  <a:pt x="438150" y="523875"/>
                </a:cubicBezTo>
                <a:cubicBezTo>
                  <a:pt x="518378" y="490447"/>
                  <a:pt x="462911" y="502970"/>
                  <a:pt x="533400" y="492125"/>
                </a:cubicBezTo>
                <a:cubicBezTo>
                  <a:pt x="538692" y="490008"/>
                  <a:pt x="544087" y="488133"/>
                  <a:pt x="549275" y="485775"/>
                </a:cubicBezTo>
                <a:cubicBezTo>
                  <a:pt x="555738" y="482837"/>
                  <a:pt x="561663" y="478704"/>
                  <a:pt x="568325" y="476250"/>
                </a:cubicBezTo>
                <a:cubicBezTo>
                  <a:pt x="598932" y="464974"/>
                  <a:pt x="619276" y="461317"/>
                  <a:pt x="650875" y="454025"/>
                </a:cubicBezTo>
                <a:cubicBezTo>
                  <a:pt x="683334" y="434550"/>
                  <a:pt x="650218" y="453273"/>
                  <a:pt x="682625" y="438150"/>
                </a:cubicBezTo>
                <a:cubicBezTo>
                  <a:pt x="693347" y="433146"/>
                  <a:pt x="703792" y="427567"/>
                  <a:pt x="714375" y="422275"/>
                </a:cubicBezTo>
                <a:cubicBezTo>
                  <a:pt x="718608" y="420158"/>
                  <a:pt x="722406" y="416703"/>
                  <a:pt x="727075" y="415925"/>
                </a:cubicBezTo>
                <a:lnTo>
                  <a:pt x="746125" y="412750"/>
                </a:lnTo>
                <a:lnTo>
                  <a:pt x="784225" y="396875"/>
                </a:lnTo>
                <a:lnTo>
                  <a:pt x="806450" y="387350"/>
                </a:lnTo>
                <a:cubicBezTo>
                  <a:pt x="838656" y="355144"/>
                  <a:pt x="810252" y="377380"/>
                  <a:pt x="847725" y="361950"/>
                </a:cubicBezTo>
                <a:cubicBezTo>
                  <a:pt x="858666" y="357445"/>
                  <a:pt x="868578" y="350685"/>
                  <a:pt x="879475" y="346075"/>
                </a:cubicBezTo>
                <a:cubicBezTo>
                  <a:pt x="916736" y="330311"/>
                  <a:pt x="927546" y="327844"/>
                  <a:pt x="962025" y="317500"/>
                </a:cubicBezTo>
                <a:cubicBezTo>
                  <a:pt x="966258" y="312208"/>
                  <a:pt x="970966" y="307264"/>
                  <a:pt x="974725" y="301625"/>
                </a:cubicBezTo>
                <a:cubicBezTo>
                  <a:pt x="977350" y="297687"/>
                  <a:pt x="978567" y="292939"/>
                  <a:pt x="981075" y="288925"/>
                </a:cubicBezTo>
                <a:cubicBezTo>
                  <a:pt x="983880" y="284438"/>
                  <a:pt x="987425" y="280458"/>
                  <a:pt x="990600" y="276225"/>
                </a:cubicBezTo>
                <a:cubicBezTo>
                  <a:pt x="991658" y="270933"/>
                  <a:pt x="991542" y="265263"/>
                  <a:pt x="993775" y="260350"/>
                </a:cubicBezTo>
                <a:cubicBezTo>
                  <a:pt x="1003405" y="239165"/>
                  <a:pt x="1004350" y="245754"/>
                  <a:pt x="1016000" y="231775"/>
                </a:cubicBezTo>
                <a:cubicBezTo>
                  <a:pt x="1018443" y="228844"/>
                  <a:pt x="1019652" y="224948"/>
                  <a:pt x="1022350" y="222250"/>
                </a:cubicBezTo>
                <a:cubicBezTo>
                  <a:pt x="1027142" y="217458"/>
                  <a:pt x="1033160" y="214052"/>
                  <a:pt x="1038225" y="209550"/>
                </a:cubicBezTo>
                <a:cubicBezTo>
                  <a:pt x="1048234" y="200653"/>
                  <a:pt x="1054720" y="190861"/>
                  <a:pt x="1066800" y="184150"/>
                </a:cubicBezTo>
                <a:cubicBezTo>
                  <a:pt x="1080046" y="176791"/>
                  <a:pt x="1094317" y="171450"/>
                  <a:pt x="1108075" y="165100"/>
                </a:cubicBezTo>
                <a:cubicBezTo>
                  <a:pt x="1111250" y="160867"/>
                  <a:pt x="1114665" y="156803"/>
                  <a:pt x="1117600" y="152400"/>
                </a:cubicBezTo>
                <a:cubicBezTo>
                  <a:pt x="1121023" y="147265"/>
                  <a:pt x="1122761" y="140889"/>
                  <a:pt x="1127125" y="136525"/>
                </a:cubicBezTo>
                <a:cubicBezTo>
                  <a:pt x="1133563" y="130087"/>
                  <a:pt x="1142660" y="126825"/>
                  <a:pt x="1149350" y="120650"/>
                </a:cubicBezTo>
                <a:cubicBezTo>
                  <a:pt x="1156520" y="114032"/>
                  <a:pt x="1162050" y="105833"/>
                  <a:pt x="1168400" y="98425"/>
                </a:cubicBezTo>
                <a:cubicBezTo>
                  <a:pt x="1170517" y="89958"/>
                  <a:pt x="1172352" y="81416"/>
                  <a:pt x="1174750" y="73025"/>
                </a:cubicBezTo>
                <a:cubicBezTo>
                  <a:pt x="1176867" y="65617"/>
                  <a:pt x="1179115" y="58245"/>
                  <a:pt x="1181100" y="50800"/>
                </a:cubicBezTo>
                <a:cubicBezTo>
                  <a:pt x="1184569" y="37793"/>
                  <a:pt x="1185732" y="23995"/>
                  <a:pt x="1193800" y="12700"/>
                </a:cubicBezTo>
                <a:cubicBezTo>
                  <a:pt x="1196410" y="9046"/>
                  <a:pt x="1199819" y="5980"/>
                  <a:pt x="1203325" y="3175"/>
                </a:cubicBezTo>
                <a:cubicBezTo>
                  <a:pt x="1205173" y="1697"/>
                  <a:pt x="1207558" y="1058"/>
                  <a:pt x="1209675" y="0"/>
                </a:cubicBezTo>
              </a:path>
            </a:pathLst>
          </a:custGeom>
          <a:noFill/>
          <a:ln>
            <a:solidFill>
              <a:srgbClr val="7030a0"/>
            </a:solidFill>
          </a:ln>
        </p:spPr>
        <p:style>
          <a:lnRef idx="2">
            <a:schemeClr val="accent1">
              <a:shade val="50000"/>
            </a:schemeClr>
          </a:lnRef>
          <a:fillRef idx="1">
            <a:schemeClr val="accent1"/>
          </a:fillRef>
          <a:effectRef idx="0">
            <a:schemeClr val="accent1"/>
          </a:effectRef>
          <a:fontRef idx="minor"/>
        </p:style>
      </p:sp>
      <p:grpSp>
        <p:nvGrpSpPr>
          <p:cNvPr id="575" name="Group 18"/>
          <p:cNvGrpSpPr/>
          <p:nvPr/>
        </p:nvGrpSpPr>
        <p:grpSpPr>
          <a:xfrm>
            <a:off x="7228800" y="2201400"/>
            <a:ext cx="2310120" cy="1185120"/>
            <a:chOff x="7228800" y="2201400"/>
            <a:chExt cx="2310120" cy="1185120"/>
          </a:xfrm>
        </p:grpSpPr>
        <p:grpSp>
          <p:nvGrpSpPr>
            <p:cNvPr id="576" name="Group 19"/>
            <p:cNvGrpSpPr/>
            <p:nvPr/>
          </p:nvGrpSpPr>
          <p:grpSpPr>
            <a:xfrm>
              <a:off x="7544160" y="2279880"/>
              <a:ext cx="1994760" cy="849600"/>
              <a:chOff x="7544160" y="2279880"/>
              <a:chExt cx="1994760" cy="849600"/>
            </a:xfrm>
          </p:grpSpPr>
          <p:sp>
            <p:nvSpPr>
              <p:cNvPr id="577" name="Line 20"/>
              <p:cNvSpPr/>
              <p:nvPr/>
            </p:nvSpPr>
            <p:spPr>
              <a:xfrm>
                <a:off x="7544160" y="2279880"/>
                <a:ext cx="0" cy="849600"/>
              </a:xfrm>
              <a:prstGeom prst="line">
                <a:avLst/>
              </a:prstGeom>
              <a:ln/>
            </p:spPr>
            <p:style>
              <a:lnRef idx="3">
                <a:schemeClr val="accent1"/>
              </a:lnRef>
              <a:fillRef idx="0">
                <a:schemeClr val="accent1"/>
              </a:fillRef>
              <a:effectRef idx="2">
                <a:schemeClr val="accent1"/>
              </a:effectRef>
              <a:fontRef idx="minor"/>
            </p:style>
          </p:sp>
          <p:sp>
            <p:nvSpPr>
              <p:cNvPr id="578" name="Line 21"/>
              <p:cNvSpPr/>
              <p:nvPr/>
            </p:nvSpPr>
            <p:spPr>
              <a:xfrm flipH="1">
                <a:off x="7544160" y="3129480"/>
                <a:ext cx="1994760" cy="0"/>
              </a:xfrm>
              <a:prstGeom prst="line">
                <a:avLst/>
              </a:prstGeom>
              <a:ln/>
            </p:spPr>
            <p:style>
              <a:lnRef idx="3">
                <a:schemeClr val="accent1"/>
              </a:lnRef>
              <a:fillRef idx="0">
                <a:schemeClr val="accent1"/>
              </a:fillRef>
              <a:effectRef idx="2">
                <a:schemeClr val="accent1"/>
              </a:effectRef>
              <a:fontRef idx="minor"/>
            </p:style>
          </p:sp>
        </p:grpSp>
        <p:sp>
          <p:nvSpPr>
            <p:cNvPr id="579" name="CustomShape 22"/>
            <p:cNvSpPr/>
            <p:nvPr/>
          </p:nvSpPr>
          <p:spPr>
            <a:xfrm>
              <a:off x="7740360" y="3083040"/>
              <a:ext cx="1257120" cy="3034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Expert Time</a:t>
              </a:r>
              <a:endParaRPr b="0" lang="en-US" sz="1400" spc="-1" strike="noStrike">
                <a:latin typeface="Arial"/>
              </a:endParaRPr>
            </a:p>
          </p:txBody>
        </p:sp>
        <p:sp>
          <p:nvSpPr>
            <p:cNvPr id="580" name="CustomShape 23"/>
            <p:cNvSpPr/>
            <p:nvPr/>
          </p:nvSpPr>
          <p:spPr>
            <a:xfrm rot="16200000">
              <a:off x="6884280" y="2545920"/>
              <a:ext cx="992160" cy="30312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Accuracy</a:t>
              </a:r>
              <a:endParaRPr b="0" lang="en-US" sz="1400" spc="-1" strike="noStrike">
                <a:latin typeface="Arial"/>
              </a:endParaRPr>
            </a:p>
          </p:txBody>
        </p:sp>
      </p:grpSp>
      <p:sp>
        <p:nvSpPr>
          <p:cNvPr id="581" name="CustomShape 24"/>
          <p:cNvSpPr/>
          <p:nvPr/>
        </p:nvSpPr>
        <p:spPr>
          <a:xfrm>
            <a:off x="7684560" y="2266560"/>
            <a:ext cx="1336320" cy="679320"/>
          </a:xfrm>
          <a:custGeom>
            <a:avLst/>
            <a:gdLst/>
            <a:ahLst/>
            <a:rect l="l" t="t" r="r" b="b"/>
            <a:pathLst>
              <a:path w="1336675" h="679626">
                <a:moveTo>
                  <a:pt x="0" y="676275"/>
                </a:moveTo>
                <a:cubicBezTo>
                  <a:pt x="71104" y="677501"/>
                  <a:pt x="201026" y="684750"/>
                  <a:pt x="282575" y="673100"/>
                </a:cubicBezTo>
                <a:cubicBezTo>
                  <a:pt x="309511" y="669252"/>
                  <a:pt x="334950" y="657425"/>
                  <a:pt x="361950" y="654050"/>
                </a:cubicBezTo>
                <a:lnTo>
                  <a:pt x="387350" y="650875"/>
                </a:lnTo>
                <a:cubicBezTo>
                  <a:pt x="398992" y="647700"/>
                  <a:pt x="410731" y="644863"/>
                  <a:pt x="422275" y="641350"/>
                </a:cubicBezTo>
                <a:cubicBezTo>
                  <a:pt x="435082" y="637452"/>
                  <a:pt x="447491" y="632284"/>
                  <a:pt x="460375" y="628650"/>
                </a:cubicBezTo>
                <a:cubicBezTo>
                  <a:pt x="488786" y="620637"/>
                  <a:pt x="517357" y="613152"/>
                  <a:pt x="546100" y="606425"/>
                </a:cubicBezTo>
                <a:cubicBezTo>
                  <a:pt x="648999" y="582342"/>
                  <a:pt x="572829" y="605982"/>
                  <a:pt x="647700" y="581025"/>
                </a:cubicBezTo>
                <a:cubicBezTo>
                  <a:pt x="658283" y="571500"/>
                  <a:pt x="668230" y="561216"/>
                  <a:pt x="679450" y="552450"/>
                </a:cubicBezTo>
                <a:cubicBezTo>
                  <a:pt x="702137" y="534726"/>
                  <a:pt x="726044" y="518621"/>
                  <a:pt x="749300" y="501650"/>
                </a:cubicBezTo>
                <a:cubicBezTo>
                  <a:pt x="765202" y="490046"/>
                  <a:pt x="780826" y="478054"/>
                  <a:pt x="796925" y="466725"/>
                </a:cubicBezTo>
                <a:cubicBezTo>
                  <a:pt x="809408" y="457941"/>
                  <a:pt x="823580" y="451424"/>
                  <a:pt x="835025" y="441325"/>
                </a:cubicBezTo>
                <a:cubicBezTo>
                  <a:pt x="853017" y="425450"/>
                  <a:pt x="872034" y="410666"/>
                  <a:pt x="889000" y="393700"/>
                </a:cubicBezTo>
                <a:cubicBezTo>
                  <a:pt x="904263" y="378437"/>
                  <a:pt x="937911" y="343065"/>
                  <a:pt x="955675" y="333375"/>
                </a:cubicBezTo>
                <a:cubicBezTo>
                  <a:pt x="967317" y="327025"/>
                  <a:pt x="979285" y="321240"/>
                  <a:pt x="990600" y="314325"/>
                </a:cubicBezTo>
                <a:cubicBezTo>
                  <a:pt x="998368" y="309578"/>
                  <a:pt x="1004961" y="303037"/>
                  <a:pt x="1012825" y="298450"/>
                </a:cubicBezTo>
                <a:cubicBezTo>
                  <a:pt x="1017748" y="295578"/>
                  <a:pt x="1023512" y="294458"/>
                  <a:pt x="1028700" y="292100"/>
                </a:cubicBezTo>
                <a:cubicBezTo>
                  <a:pt x="1071345" y="272716"/>
                  <a:pt x="1021351" y="292474"/>
                  <a:pt x="1073150" y="273050"/>
                </a:cubicBezTo>
                <a:cubicBezTo>
                  <a:pt x="1116011" y="236312"/>
                  <a:pt x="1074661" y="267736"/>
                  <a:pt x="1149350" y="231775"/>
                </a:cubicBezTo>
                <a:cubicBezTo>
                  <a:pt x="1155991" y="228577"/>
                  <a:pt x="1183937" y="212166"/>
                  <a:pt x="1193800" y="203200"/>
                </a:cubicBezTo>
                <a:cubicBezTo>
                  <a:pt x="1201552" y="196152"/>
                  <a:pt x="1209207" y="188930"/>
                  <a:pt x="1216025" y="180975"/>
                </a:cubicBezTo>
                <a:cubicBezTo>
                  <a:pt x="1221950" y="174063"/>
                  <a:pt x="1226438" y="166033"/>
                  <a:pt x="1231900" y="158750"/>
                </a:cubicBezTo>
                <a:cubicBezTo>
                  <a:pt x="1235966" y="153329"/>
                  <a:pt x="1240714" y="148427"/>
                  <a:pt x="1244600" y="142875"/>
                </a:cubicBezTo>
                <a:cubicBezTo>
                  <a:pt x="1248139" y="137819"/>
                  <a:pt x="1250376" y="131902"/>
                  <a:pt x="1254125" y="127000"/>
                </a:cubicBezTo>
                <a:cubicBezTo>
                  <a:pt x="1329149" y="28892"/>
                  <a:pt x="1257173" y="133883"/>
                  <a:pt x="1298575" y="63500"/>
                </a:cubicBezTo>
                <a:cubicBezTo>
                  <a:pt x="1304379" y="53633"/>
                  <a:pt x="1314005" y="45785"/>
                  <a:pt x="1317625" y="34925"/>
                </a:cubicBezTo>
                <a:cubicBezTo>
                  <a:pt x="1325071" y="12587"/>
                  <a:pt x="1315380" y="40163"/>
                  <a:pt x="1327150" y="12700"/>
                </a:cubicBezTo>
                <a:cubicBezTo>
                  <a:pt x="1328468" y="9624"/>
                  <a:pt x="1328317" y="5852"/>
                  <a:pt x="1330325" y="3175"/>
                </a:cubicBezTo>
                <a:cubicBezTo>
                  <a:pt x="1331745" y="1282"/>
                  <a:pt x="1334558" y="1058"/>
                  <a:pt x="1336675" y="0"/>
                </a:cubicBezTo>
              </a:path>
            </a:pathLst>
          </a:custGeom>
          <a:noFill/>
          <a:ln/>
        </p:spPr>
        <p:style>
          <a:lnRef idx="2">
            <a:schemeClr val="accent6"/>
          </a:lnRef>
          <a:fillRef idx="0">
            <a:schemeClr val="accent6"/>
          </a:fillRef>
          <a:effectRef idx="1">
            <a:schemeClr val="accent6"/>
          </a:effectRef>
          <a:fontRef idx="minor"/>
        </p:style>
      </p:sp>
      <p:sp>
        <p:nvSpPr>
          <p:cNvPr id="582" name="CustomShape 25"/>
          <p:cNvSpPr/>
          <p:nvPr/>
        </p:nvSpPr>
        <p:spPr>
          <a:xfrm>
            <a:off x="7684560" y="2225160"/>
            <a:ext cx="1209240" cy="666360"/>
          </a:xfrm>
          <a:custGeom>
            <a:avLst/>
            <a:gdLst/>
            <a:ahLst/>
            <a:rect l="l" t="t" r="r" b="b"/>
            <a:pathLst>
              <a:path w="1209675" h="666750">
                <a:moveTo>
                  <a:pt x="0" y="666750"/>
                </a:moveTo>
                <a:cubicBezTo>
                  <a:pt x="11642" y="665692"/>
                  <a:pt x="23462" y="665868"/>
                  <a:pt x="34925" y="663575"/>
                </a:cubicBezTo>
                <a:cubicBezTo>
                  <a:pt x="44770" y="661606"/>
                  <a:pt x="53561" y="655470"/>
                  <a:pt x="63500" y="654050"/>
                </a:cubicBezTo>
                <a:cubicBezTo>
                  <a:pt x="83434" y="651202"/>
                  <a:pt x="103717" y="651933"/>
                  <a:pt x="123825" y="650875"/>
                </a:cubicBezTo>
                <a:cubicBezTo>
                  <a:pt x="153333" y="633170"/>
                  <a:pt x="145513" y="636301"/>
                  <a:pt x="196850" y="622300"/>
                </a:cubicBezTo>
                <a:cubicBezTo>
                  <a:pt x="208492" y="619125"/>
                  <a:pt x="220625" y="617389"/>
                  <a:pt x="231775" y="612775"/>
                </a:cubicBezTo>
                <a:cubicBezTo>
                  <a:pt x="251455" y="604631"/>
                  <a:pt x="271886" y="596979"/>
                  <a:pt x="288925" y="584200"/>
                </a:cubicBezTo>
                <a:cubicBezTo>
                  <a:pt x="293158" y="581025"/>
                  <a:pt x="296979" y="577209"/>
                  <a:pt x="301625" y="574675"/>
                </a:cubicBezTo>
                <a:cubicBezTo>
                  <a:pt x="313949" y="567953"/>
                  <a:pt x="336735" y="560839"/>
                  <a:pt x="349250" y="555625"/>
                </a:cubicBezTo>
                <a:cubicBezTo>
                  <a:pt x="353619" y="553805"/>
                  <a:pt x="357841" y="551623"/>
                  <a:pt x="361950" y="549275"/>
                </a:cubicBezTo>
                <a:cubicBezTo>
                  <a:pt x="365263" y="547382"/>
                  <a:pt x="367889" y="544229"/>
                  <a:pt x="371475" y="542925"/>
                </a:cubicBezTo>
                <a:cubicBezTo>
                  <a:pt x="379677" y="539943"/>
                  <a:pt x="388484" y="538973"/>
                  <a:pt x="396875" y="536575"/>
                </a:cubicBezTo>
                <a:cubicBezTo>
                  <a:pt x="403311" y="534736"/>
                  <a:pt x="409528" y="532193"/>
                  <a:pt x="415925" y="530225"/>
                </a:cubicBezTo>
                <a:cubicBezTo>
                  <a:pt x="423289" y="527959"/>
                  <a:pt x="431038" y="526838"/>
                  <a:pt x="438150" y="523875"/>
                </a:cubicBezTo>
                <a:cubicBezTo>
                  <a:pt x="518378" y="490447"/>
                  <a:pt x="462911" y="502970"/>
                  <a:pt x="533400" y="492125"/>
                </a:cubicBezTo>
                <a:cubicBezTo>
                  <a:pt x="538692" y="490008"/>
                  <a:pt x="544087" y="488133"/>
                  <a:pt x="549275" y="485775"/>
                </a:cubicBezTo>
                <a:cubicBezTo>
                  <a:pt x="555738" y="482837"/>
                  <a:pt x="561663" y="478704"/>
                  <a:pt x="568325" y="476250"/>
                </a:cubicBezTo>
                <a:cubicBezTo>
                  <a:pt x="598932" y="464974"/>
                  <a:pt x="619276" y="461317"/>
                  <a:pt x="650875" y="454025"/>
                </a:cubicBezTo>
                <a:cubicBezTo>
                  <a:pt x="683334" y="434550"/>
                  <a:pt x="650218" y="453273"/>
                  <a:pt x="682625" y="438150"/>
                </a:cubicBezTo>
                <a:cubicBezTo>
                  <a:pt x="693347" y="433146"/>
                  <a:pt x="703792" y="427567"/>
                  <a:pt x="714375" y="422275"/>
                </a:cubicBezTo>
                <a:cubicBezTo>
                  <a:pt x="718608" y="420158"/>
                  <a:pt x="722406" y="416703"/>
                  <a:pt x="727075" y="415925"/>
                </a:cubicBezTo>
                <a:lnTo>
                  <a:pt x="746125" y="412750"/>
                </a:lnTo>
                <a:lnTo>
                  <a:pt x="784225" y="396875"/>
                </a:lnTo>
                <a:lnTo>
                  <a:pt x="806450" y="387350"/>
                </a:lnTo>
                <a:cubicBezTo>
                  <a:pt x="838656" y="355144"/>
                  <a:pt x="810252" y="377380"/>
                  <a:pt x="847725" y="361950"/>
                </a:cubicBezTo>
                <a:cubicBezTo>
                  <a:pt x="858666" y="357445"/>
                  <a:pt x="868578" y="350685"/>
                  <a:pt x="879475" y="346075"/>
                </a:cubicBezTo>
                <a:cubicBezTo>
                  <a:pt x="916736" y="330311"/>
                  <a:pt x="927546" y="327844"/>
                  <a:pt x="962025" y="317500"/>
                </a:cubicBezTo>
                <a:cubicBezTo>
                  <a:pt x="966258" y="312208"/>
                  <a:pt x="970966" y="307264"/>
                  <a:pt x="974725" y="301625"/>
                </a:cubicBezTo>
                <a:cubicBezTo>
                  <a:pt x="977350" y="297687"/>
                  <a:pt x="978567" y="292939"/>
                  <a:pt x="981075" y="288925"/>
                </a:cubicBezTo>
                <a:cubicBezTo>
                  <a:pt x="983880" y="284438"/>
                  <a:pt x="987425" y="280458"/>
                  <a:pt x="990600" y="276225"/>
                </a:cubicBezTo>
                <a:cubicBezTo>
                  <a:pt x="991658" y="270933"/>
                  <a:pt x="991542" y="265263"/>
                  <a:pt x="993775" y="260350"/>
                </a:cubicBezTo>
                <a:cubicBezTo>
                  <a:pt x="1003405" y="239165"/>
                  <a:pt x="1004350" y="245754"/>
                  <a:pt x="1016000" y="231775"/>
                </a:cubicBezTo>
                <a:cubicBezTo>
                  <a:pt x="1018443" y="228844"/>
                  <a:pt x="1019652" y="224948"/>
                  <a:pt x="1022350" y="222250"/>
                </a:cubicBezTo>
                <a:cubicBezTo>
                  <a:pt x="1027142" y="217458"/>
                  <a:pt x="1033160" y="214052"/>
                  <a:pt x="1038225" y="209550"/>
                </a:cubicBezTo>
                <a:cubicBezTo>
                  <a:pt x="1048234" y="200653"/>
                  <a:pt x="1054720" y="190861"/>
                  <a:pt x="1066800" y="184150"/>
                </a:cubicBezTo>
                <a:cubicBezTo>
                  <a:pt x="1080046" y="176791"/>
                  <a:pt x="1094317" y="171450"/>
                  <a:pt x="1108075" y="165100"/>
                </a:cubicBezTo>
                <a:cubicBezTo>
                  <a:pt x="1111250" y="160867"/>
                  <a:pt x="1114665" y="156803"/>
                  <a:pt x="1117600" y="152400"/>
                </a:cubicBezTo>
                <a:cubicBezTo>
                  <a:pt x="1121023" y="147265"/>
                  <a:pt x="1122761" y="140889"/>
                  <a:pt x="1127125" y="136525"/>
                </a:cubicBezTo>
                <a:cubicBezTo>
                  <a:pt x="1133563" y="130087"/>
                  <a:pt x="1142660" y="126825"/>
                  <a:pt x="1149350" y="120650"/>
                </a:cubicBezTo>
                <a:cubicBezTo>
                  <a:pt x="1156520" y="114032"/>
                  <a:pt x="1162050" y="105833"/>
                  <a:pt x="1168400" y="98425"/>
                </a:cubicBezTo>
                <a:cubicBezTo>
                  <a:pt x="1170517" y="89958"/>
                  <a:pt x="1172352" y="81416"/>
                  <a:pt x="1174750" y="73025"/>
                </a:cubicBezTo>
                <a:cubicBezTo>
                  <a:pt x="1176867" y="65617"/>
                  <a:pt x="1179115" y="58245"/>
                  <a:pt x="1181100" y="50800"/>
                </a:cubicBezTo>
                <a:cubicBezTo>
                  <a:pt x="1184569" y="37793"/>
                  <a:pt x="1185732" y="23995"/>
                  <a:pt x="1193800" y="12700"/>
                </a:cubicBezTo>
                <a:cubicBezTo>
                  <a:pt x="1196410" y="9046"/>
                  <a:pt x="1199819" y="5980"/>
                  <a:pt x="1203325" y="3175"/>
                </a:cubicBezTo>
                <a:cubicBezTo>
                  <a:pt x="1205173" y="1697"/>
                  <a:pt x="1207558" y="1058"/>
                  <a:pt x="1209675" y="0"/>
                </a:cubicBezTo>
              </a:path>
            </a:pathLst>
          </a:custGeom>
          <a:noFill/>
          <a:ln>
            <a:solidFill>
              <a:srgbClr val="7030a0"/>
            </a:solidFill>
          </a:ln>
        </p:spPr>
        <p:style>
          <a:lnRef idx="2">
            <a:schemeClr val="accent1">
              <a:shade val="50000"/>
            </a:schemeClr>
          </a:lnRef>
          <a:fillRef idx="1">
            <a:schemeClr val="accent1"/>
          </a:fillRef>
          <a:effectRef idx="0">
            <a:schemeClr val="accent1"/>
          </a:effectRef>
          <a:fontRef idx="minor"/>
        </p:style>
      </p:sp>
      <p:grpSp>
        <p:nvGrpSpPr>
          <p:cNvPr id="583" name="Group 26"/>
          <p:cNvGrpSpPr/>
          <p:nvPr/>
        </p:nvGrpSpPr>
        <p:grpSpPr>
          <a:xfrm>
            <a:off x="9833040" y="2239560"/>
            <a:ext cx="2310480" cy="1185120"/>
            <a:chOff x="9833040" y="2239560"/>
            <a:chExt cx="2310480" cy="1185120"/>
          </a:xfrm>
        </p:grpSpPr>
        <p:grpSp>
          <p:nvGrpSpPr>
            <p:cNvPr id="584" name="Group 27"/>
            <p:cNvGrpSpPr/>
            <p:nvPr/>
          </p:nvGrpSpPr>
          <p:grpSpPr>
            <a:xfrm>
              <a:off x="10148400" y="2318040"/>
              <a:ext cx="1995120" cy="849600"/>
              <a:chOff x="10148400" y="2318040"/>
              <a:chExt cx="1995120" cy="849600"/>
            </a:xfrm>
          </p:grpSpPr>
          <p:sp>
            <p:nvSpPr>
              <p:cNvPr id="585" name="Line 28"/>
              <p:cNvSpPr/>
              <p:nvPr/>
            </p:nvSpPr>
            <p:spPr>
              <a:xfrm>
                <a:off x="10148400" y="2318040"/>
                <a:ext cx="0" cy="849600"/>
              </a:xfrm>
              <a:prstGeom prst="line">
                <a:avLst/>
              </a:prstGeom>
              <a:ln/>
            </p:spPr>
            <p:style>
              <a:lnRef idx="3">
                <a:schemeClr val="accent1"/>
              </a:lnRef>
              <a:fillRef idx="0">
                <a:schemeClr val="accent1"/>
              </a:fillRef>
              <a:effectRef idx="2">
                <a:schemeClr val="accent1"/>
              </a:effectRef>
              <a:fontRef idx="minor"/>
            </p:style>
          </p:sp>
          <p:sp>
            <p:nvSpPr>
              <p:cNvPr id="586" name="Line 29"/>
              <p:cNvSpPr/>
              <p:nvPr/>
            </p:nvSpPr>
            <p:spPr>
              <a:xfrm flipH="1">
                <a:off x="10148400" y="3167640"/>
                <a:ext cx="1995120" cy="0"/>
              </a:xfrm>
              <a:prstGeom prst="line">
                <a:avLst/>
              </a:prstGeom>
              <a:ln/>
            </p:spPr>
            <p:style>
              <a:lnRef idx="3">
                <a:schemeClr val="accent1"/>
              </a:lnRef>
              <a:fillRef idx="0">
                <a:schemeClr val="accent1"/>
              </a:fillRef>
              <a:effectRef idx="2">
                <a:schemeClr val="accent1"/>
              </a:effectRef>
              <a:fontRef idx="minor"/>
            </p:style>
          </p:sp>
        </p:grpSp>
        <p:sp>
          <p:nvSpPr>
            <p:cNvPr id="587" name="CustomShape 30"/>
            <p:cNvSpPr/>
            <p:nvPr/>
          </p:nvSpPr>
          <p:spPr>
            <a:xfrm>
              <a:off x="10312920" y="3121200"/>
              <a:ext cx="1721880" cy="3034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Number of Query</a:t>
              </a:r>
              <a:endParaRPr b="0" lang="en-US" sz="1400" spc="-1" strike="noStrike">
                <a:latin typeface="Arial"/>
              </a:endParaRPr>
            </a:p>
          </p:txBody>
        </p:sp>
        <p:sp>
          <p:nvSpPr>
            <p:cNvPr id="588" name="CustomShape 31"/>
            <p:cNvSpPr/>
            <p:nvPr/>
          </p:nvSpPr>
          <p:spPr>
            <a:xfrm rot="16200000">
              <a:off x="9488520" y="2584080"/>
              <a:ext cx="992160" cy="30312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400" spc="-1" strike="noStrike">
                  <a:solidFill>
                    <a:srgbClr val="000000"/>
                  </a:solidFill>
                  <a:latin typeface="Calibri"/>
                </a:rPr>
                <a:t>Accuracy</a:t>
              </a:r>
              <a:endParaRPr b="0" lang="en-US" sz="1400" spc="-1" strike="noStrike">
                <a:latin typeface="Arial"/>
              </a:endParaRPr>
            </a:p>
          </p:txBody>
        </p:sp>
      </p:grpSp>
      <p:sp>
        <p:nvSpPr>
          <p:cNvPr id="589" name="CustomShape 32"/>
          <p:cNvSpPr/>
          <p:nvPr/>
        </p:nvSpPr>
        <p:spPr>
          <a:xfrm>
            <a:off x="10377360" y="2326680"/>
            <a:ext cx="1336320" cy="679320"/>
          </a:xfrm>
          <a:custGeom>
            <a:avLst/>
            <a:gdLst/>
            <a:ahLst/>
            <a:rect l="l" t="t" r="r" b="b"/>
            <a:pathLst>
              <a:path w="1336675" h="679626">
                <a:moveTo>
                  <a:pt x="0" y="676275"/>
                </a:moveTo>
                <a:cubicBezTo>
                  <a:pt x="71104" y="677501"/>
                  <a:pt x="201026" y="684750"/>
                  <a:pt x="282575" y="673100"/>
                </a:cubicBezTo>
                <a:cubicBezTo>
                  <a:pt x="309511" y="669252"/>
                  <a:pt x="334950" y="657425"/>
                  <a:pt x="361950" y="654050"/>
                </a:cubicBezTo>
                <a:lnTo>
                  <a:pt x="387350" y="650875"/>
                </a:lnTo>
                <a:cubicBezTo>
                  <a:pt x="398992" y="647700"/>
                  <a:pt x="410731" y="644863"/>
                  <a:pt x="422275" y="641350"/>
                </a:cubicBezTo>
                <a:cubicBezTo>
                  <a:pt x="435082" y="637452"/>
                  <a:pt x="447491" y="632284"/>
                  <a:pt x="460375" y="628650"/>
                </a:cubicBezTo>
                <a:cubicBezTo>
                  <a:pt x="488786" y="620637"/>
                  <a:pt x="517357" y="613152"/>
                  <a:pt x="546100" y="606425"/>
                </a:cubicBezTo>
                <a:cubicBezTo>
                  <a:pt x="648999" y="582342"/>
                  <a:pt x="572829" y="605982"/>
                  <a:pt x="647700" y="581025"/>
                </a:cubicBezTo>
                <a:cubicBezTo>
                  <a:pt x="658283" y="571500"/>
                  <a:pt x="668230" y="561216"/>
                  <a:pt x="679450" y="552450"/>
                </a:cubicBezTo>
                <a:cubicBezTo>
                  <a:pt x="702137" y="534726"/>
                  <a:pt x="726044" y="518621"/>
                  <a:pt x="749300" y="501650"/>
                </a:cubicBezTo>
                <a:cubicBezTo>
                  <a:pt x="765202" y="490046"/>
                  <a:pt x="780826" y="478054"/>
                  <a:pt x="796925" y="466725"/>
                </a:cubicBezTo>
                <a:cubicBezTo>
                  <a:pt x="809408" y="457941"/>
                  <a:pt x="823580" y="451424"/>
                  <a:pt x="835025" y="441325"/>
                </a:cubicBezTo>
                <a:cubicBezTo>
                  <a:pt x="853017" y="425450"/>
                  <a:pt x="872034" y="410666"/>
                  <a:pt x="889000" y="393700"/>
                </a:cubicBezTo>
                <a:cubicBezTo>
                  <a:pt x="904263" y="378437"/>
                  <a:pt x="937911" y="343065"/>
                  <a:pt x="955675" y="333375"/>
                </a:cubicBezTo>
                <a:cubicBezTo>
                  <a:pt x="967317" y="327025"/>
                  <a:pt x="979285" y="321240"/>
                  <a:pt x="990600" y="314325"/>
                </a:cubicBezTo>
                <a:cubicBezTo>
                  <a:pt x="998368" y="309578"/>
                  <a:pt x="1004961" y="303037"/>
                  <a:pt x="1012825" y="298450"/>
                </a:cubicBezTo>
                <a:cubicBezTo>
                  <a:pt x="1017748" y="295578"/>
                  <a:pt x="1023512" y="294458"/>
                  <a:pt x="1028700" y="292100"/>
                </a:cubicBezTo>
                <a:cubicBezTo>
                  <a:pt x="1071345" y="272716"/>
                  <a:pt x="1021351" y="292474"/>
                  <a:pt x="1073150" y="273050"/>
                </a:cubicBezTo>
                <a:cubicBezTo>
                  <a:pt x="1116011" y="236312"/>
                  <a:pt x="1074661" y="267736"/>
                  <a:pt x="1149350" y="231775"/>
                </a:cubicBezTo>
                <a:cubicBezTo>
                  <a:pt x="1155991" y="228577"/>
                  <a:pt x="1183937" y="212166"/>
                  <a:pt x="1193800" y="203200"/>
                </a:cubicBezTo>
                <a:cubicBezTo>
                  <a:pt x="1201552" y="196152"/>
                  <a:pt x="1209207" y="188930"/>
                  <a:pt x="1216025" y="180975"/>
                </a:cubicBezTo>
                <a:cubicBezTo>
                  <a:pt x="1221950" y="174063"/>
                  <a:pt x="1226438" y="166033"/>
                  <a:pt x="1231900" y="158750"/>
                </a:cubicBezTo>
                <a:cubicBezTo>
                  <a:pt x="1235966" y="153329"/>
                  <a:pt x="1240714" y="148427"/>
                  <a:pt x="1244600" y="142875"/>
                </a:cubicBezTo>
                <a:cubicBezTo>
                  <a:pt x="1248139" y="137819"/>
                  <a:pt x="1250376" y="131902"/>
                  <a:pt x="1254125" y="127000"/>
                </a:cubicBezTo>
                <a:cubicBezTo>
                  <a:pt x="1329149" y="28892"/>
                  <a:pt x="1257173" y="133883"/>
                  <a:pt x="1298575" y="63500"/>
                </a:cubicBezTo>
                <a:cubicBezTo>
                  <a:pt x="1304379" y="53633"/>
                  <a:pt x="1314005" y="45785"/>
                  <a:pt x="1317625" y="34925"/>
                </a:cubicBezTo>
                <a:cubicBezTo>
                  <a:pt x="1325071" y="12587"/>
                  <a:pt x="1315380" y="40163"/>
                  <a:pt x="1327150" y="12700"/>
                </a:cubicBezTo>
                <a:cubicBezTo>
                  <a:pt x="1328468" y="9624"/>
                  <a:pt x="1328317" y="5852"/>
                  <a:pt x="1330325" y="3175"/>
                </a:cubicBezTo>
                <a:cubicBezTo>
                  <a:pt x="1331745" y="1282"/>
                  <a:pt x="1334558" y="1058"/>
                  <a:pt x="1336675" y="0"/>
                </a:cubicBezTo>
              </a:path>
            </a:pathLst>
          </a:custGeom>
          <a:noFill/>
          <a:ln/>
        </p:spPr>
        <p:style>
          <a:lnRef idx="2">
            <a:schemeClr val="accent6"/>
          </a:lnRef>
          <a:fillRef idx="0">
            <a:schemeClr val="accent6"/>
          </a:fillRef>
          <a:effectRef idx="1">
            <a:schemeClr val="accent6"/>
          </a:effectRef>
          <a:fontRef idx="minor"/>
        </p:style>
      </p:sp>
      <p:sp>
        <p:nvSpPr>
          <p:cNvPr id="590" name="CustomShape 33"/>
          <p:cNvSpPr/>
          <p:nvPr/>
        </p:nvSpPr>
        <p:spPr>
          <a:xfrm>
            <a:off x="10377360" y="2285280"/>
            <a:ext cx="1209240" cy="666360"/>
          </a:xfrm>
          <a:custGeom>
            <a:avLst/>
            <a:gdLst/>
            <a:ahLst/>
            <a:rect l="l" t="t" r="r" b="b"/>
            <a:pathLst>
              <a:path w="1209675" h="666750">
                <a:moveTo>
                  <a:pt x="0" y="666750"/>
                </a:moveTo>
                <a:cubicBezTo>
                  <a:pt x="11642" y="665692"/>
                  <a:pt x="23462" y="665868"/>
                  <a:pt x="34925" y="663575"/>
                </a:cubicBezTo>
                <a:cubicBezTo>
                  <a:pt x="44770" y="661606"/>
                  <a:pt x="53561" y="655470"/>
                  <a:pt x="63500" y="654050"/>
                </a:cubicBezTo>
                <a:cubicBezTo>
                  <a:pt x="83434" y="651202"/>
                  <a:pt x="103717" y="651933"/>
                  <a:pt x="123825" y="650875"/>
                </a:cubicBezTo>
                <a:cubicBezTo>
                  <a:pt x="153333" y="633170"/>
                  <a:pt x="145513" y="636301"/>
                  <a:pt x="196850" y="622300"/>
                </a:cubicBezTo>
                <a:cubicBezTo>
                  <a:pt x="208492" y="619125"/>
                  <a:pt x="220625" y="617389"/>
                  <a:pt x="231775" y="612775"/>
                </a:cubicBezTo>
                <a:cubicBezTo>
                  <a:pt x="251455" y="604631"/>
                  <a:pt x="271886" y="596979"/>
                  <a:pt x="288925" y="584200"/>
                </a:cubicBezTo>
                <a:cubicBezTo>
                  <a:pt x="293158" y="581025"/>
                  <a:pt x="296979" y="577209"/>
                  <a:pt x="301625" y="574675"/>
                </a:cubicBezTo>
                <a:cubicBezTo>
                  <a:pt x="313949" y="567953"/>
                  <a:pt x="336735" y="560839"/>
                  <a:pt x="349250" y="555625"/>
                </a:cubicBezTo>
                <a:cubicBezTo>
                  <a:pt x="353619" y="553805"/>
                  <a:pt x="357841" y="551623"/>
                  <a:pt x="361950" y="549275"/>
                </a:cubicBezTo>
                <a:cubicBezTo>
                  <a:pt x="365263" y="547382"/>
                  <a:pt x="367889" y="544229"/>
                  <a:pt x="371475" y="542925"/>
                </a:cubicBezTo>
                <a:cubicBezTo>
                  <a:pt x="379677" y="539943"/>
                  <a:pt x="388484" y="538973"/>
                  <a:pt x="396875" y="536575"/>
                </a:cubicBezTo>
                <a:cubicBezTo>
                  <a:pt x="403311" y="534736"/>
                  <a:pt x="409528" y="532193"/>
                  <a:pt x="415925" y="530225"/>
                </a:cubicBezTo>
                <a:cubicBezTo>
                  <a:pt x="423289" y="527959"/>
                  <a:pt x="431038" y="526838"/>
                  <a:pt x="438150" y="523875"/>
                </a:cubicBezTo>
                <a:cubicBezTo>
                  <a:pt x="518378" y="490447"/>
                  <a:pt x="462911" y="502970"/>
                  <a:pt x="533400" y="492125"/>
                </a:cubicBezTo>
                <a:cubicBezTo>
                  <a:pt x="538692" y="490008"/>
                  <a:pt x="544087" y="488133"/>
                  <a:pt x="549275" y="485775"/>
                </a:cubicBezTo>
                <a:cubicBezTo>
                  <a:pt x="555738" y="482837"/>
                  <a:pt x="561663" y="478704"/>
                  <a:pt x="568325" y="476250"/>
                </a:cubicBezTo>
                <a:cubicBezTo>
                  <a:pt x="598932" y="464974"/>
                  <a:pt x="619276" y="461317"/>
                  <a:pt x="650875" y="454025"/>
                </a:cubicBezTo>
                <a:cubicBezTo>
                  <a:pt x="683334" y="434550"/>
                  <a:pt x="650218" y="453273"/>
                  <a:pt x="682625" y="438150"/>
                </a:cubicBezTo>
                <a:cubicBezTo>
                  <a:pt x="693347" y="433146"/>
                  <a:pt x="703792" y="427567"/>
                  <a:pt x="714375" y="422275"/>
                </a:cubicBezTo>
                <a:cubicBezTo>
                  <a:pt x="718608" y="420158"/>
                  <a:pt x="722406" y="416703"/>
                  <a:pt x="727075" y="415925"/>
                </a:cubicBezTo>
                <a:lnTo>
                  <a:pt x="746125" y="412750"/>
                </a:lnTo>
                <a:lnTo>
                  <a:pt x="784225" y="396875"/>
                </a:lnTo>
                <a:lnTo>
                  <a:pt x="806450" y="387350"/>
                </a:lnTo>
                <a:cubicBezTo>
                  <a:pt x="838656" y="355144"/>
                  <a:pt x="810252" y="377380"/>
                  <a:pt x="847725" y="361950"/>
                </a:cubicBezTo>
                <a:cubicBezTo>
                  <a:pt x="858666" y="357445"/>
                  <a:pt x="868578" y="350685"/>
                  <a:pt x="879475" y="346075"/>
                </a:cubicBezTo>
                <a:cubicBezTo>
                  <a:pt x="916736" y="330311"/>
                  <a:pt x="927546" y="327844"/>
                  <a:pt x="962025" y="317500"/>
                </a:cubicBezTo>
                <a:cubicBezTo>
                  <a:pt x="966258" y="312208"/>
                  <a:pt x="970966" y="307264"/>
                  <a:pt x="974725" y="301625"/>
                </a:cubicBezTo>
                <a:cubicBezTo>
                  <a:pt x="977350" y="297687"/>
                  <a:pt x="978567" y="292939"/>
                  <a:pt x="981075" y="288925"/>
                </a:cubicBezTo>
                <a:cubicBezTo>
                  <a:pt x="983880" y="284438"/>
                  <a:pt x="987425" y="280458"/>
                  <a:pt x="990600" y="276225"/>
                </a:cubicBezTo>
                <a:cubicBezTo>
                  <a:pt x="991658" y="270933"/>
                  <a:pt x="991542" y="265263"/>
                  <a:pt x="993775" y="260350"/>
                </a:cubicBezTo>
                <a:cubicBezTo>
                  <a:pt x="1003405" y="239165"/>
                  <a:pt x="1004350" y="245754"/>
                  <a:pt x="1016000" y="231775"/>
                </a:cubicBezTo>
                <a:cubicBezTo>
                  <a:pt x="1018443" y="228844"/>
                  <a:pt x="1019652" y="224948"/>
                  <a:pt x="1022350" y="222250"/>
                </a:cubicBezTo>
                <a:cubicBezTo>
                  <a:pt x="1027142" y="217458"/>
                  <a:pt x="1033160" y="214052"/>
                  <a:pt x="1038225" y="209550"/>
                </a:cubicBezTo>
                <a:cubicBezTo>
                  <a:pt x="1048234" y="200653"/>
                  <a:pt x="1054720" y="190861"/>
                  <a:pt x="1066800" y="184150"/>
                </a:cubicBezTo>
                <a:cubicBezTo>
                  <a:pt x="1080046" y="176791"/>
                  <a:pt x="1094317" y="171450"/>
                  <a:pt x="1108075" y="165100"/>
                </a:cubicBezTo>
                <a:cubicBezTo>
                  <a:pt x="1111250" y="160867"/>
                  <a:pt x="1114665" y="156803"/>
                  <a:pt x="1117600" y="152400"/>
                </a:cubicBezTo>
                <a:cubicBezTo>
                  <a:pt x="1121023" y="147265"/>
                  <a:pt x="1122761" y="140889"/>
                  <a:pt x="1127125" y="136525"/>
                </a:cubicBezTo>
                <a:cubicBezTo>
                  <a:pt x="1133563" y="130087"/>
                  <a:pt x="1142660" y="126825"/>
                  <a:pt x="1149350" y="120650"/>
                </a:cubicBezTo>
                <a:cubicBezTo>
                  <a:pt x="1156520" y="114032"/>
                  <a:pt x="1162050" y="105833"/>
                  <a:pt x="1168400" y="98425"/>
                </a:cubicBezTo>
                <a:cubicBezTo>
                  <a:pt x="1170517" y="89958"/>
                  <a:pt x="1172352" y="81416"/>
                  <a:pt x="1174750" y="73025"/>
                </a:cubicBezTo>
                <a:cubicBezTo>
                  <a:pt x="1176867" y="65617"/>
                  <a:pt x="1179115" y="58245"/>
                  <a:pt x="1181100" y="50800"/>
                </a:cubicBezTo>
                <a:cubicBezTo>
                  <a:pt x="1184569" y="37793"/>
                  <a:pt x="1185732" y="23995"/>
                  <a:pt x="1193800" y="12700"/>
                </a:cubicBezTo>
                <a:cubicBezTo>
                  <a:pt x="1196410" y="9046"/>
                  <a:pt x="1199819" y="5980"/>
                  <a:pt x="1203325" y="3175"/>
                </a:cubicBezTo>
                <a:cubicBezTo>
                  <a:pt x="1205173" y="1697"/>
                  <a:pt x="1207558" y="1058"/>
                  <a:pt x="1209675" y="0"/>
                </a:cubicBezTo>
              </a:path>
            </a:pathLst>
          </a:custGeom>
          <a:noFill/>
          <a:ln>
            <a:solidFill>
              <a:srgbClr val="7030a0"/>
            </a:solidFill>
          </a:ln>
        </p:spPr>
        <p:style>
          <a:lnRef idx="2">
            <a:schemeClr val="accent1">
              <a:shade val="50000"/>
            </a:schemeClr>
          </a:lnRef>
          <a:fillRef idx="1">
            <a:schemeClr val="accent1"/>
          </a:fillRef>
          <a:effectRef idx="0">
            <a:schemeClr val="accent1"/>
          </a:effectRef>
          <a:fontRef idx="minor"/>
        </p:style>
      </p:sp>
      <p:pic>
        <p:nvPicPr>
          <p:cNvPr id="591" name="Picture 6" descr=""/>
          <p:cNvPicPr/>
          <p:nvPr/>
        </p:nvPicPr>
        <p:blipFill>
          <a:blip r:embed="rId1"/>
          <a:stretch/>
        </p:blipFill>
        <p:spPr>
          <a:xfrm>
            <a:off x="577080" y="1583280"/>
            <a:ext cx="4948200" cy="3768480"/>
          </a:xfrm>
          <a:prstGeom prst="rect">
            <a:avLst/>
          </a:prstGeom>
          <a:ln>
            <a:noFill/>
          </a:ln>
        </p:spPr>
      </p:pic>
      <p:sp>
        <p:nvSpPr>
          <p:cNvPr id="592" name="CustomShape 34"/>
          <p:cNvSpPr/>
          <p:nvPr/>
        </p:nvSpPr>
        <p:spPr>
          <a:xfrm>
            <a:off x="907920" y="5274720"/>
            <a:ext cx="6095520" cy="24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000" spc="-1" strike="noStrike">
                <a:solidFill>
                  <a:srgbClr val="000000"/>
                </a:solidFill>
                <a:latin typeface="Calibri"/>
              </a:rPr>
              <a:t>https://edithlaw.ca/teaching/cs480/w19/lectures/12-active-learning.pdf</a:t>
            </a:r>
            <a:endParaRPr b="0" lang="en-US" sz="1000" spc="-1" strike="noStrike">
              <a:latin typeface="Arial"/>
            </a:endParaRPr>
          </a:p>
        </p:txBody>
      </p:sp>
      <p:pic>
        <p:nvPicPr>
          <p:cNvPr id="593" name="Picture 3" descr=""/>
          <p:cNvPicPr/>
          <p:nvPr/>
        </p:nvPicPr>
        <p:blipFill>
          <a:blip r:embed="rId2"/>
          <a:stretch/>
        </p:blipFill>
        <p:spPr>
          <a:xfrm>
            <a:off x="9406440" y="3979440"/>
            <a:ext cx="2498760" cy="2129040"/>
          </a:xfrm>
          <a:prstGeom prst="rect">
            <a:avLst/>
          </a:prstGeom>
          <a:ln>
            <a:noFill/>
          </a:ln>
        </p:spPr>
      </p:pic>
      <p:sp>
        <p:nvSpPr>
          <p:cNvPr id="594" name="CustomShape 35"/>
          <p:cNvSpPr/>
          <p:nvPr/>
        </p:nvSpPr>
        <p:spPr>
          <a:xfrm>
            <a:off x="9888480" y="6178680"/>
            <a:ext cx="2594880" cy="212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800" spc="-1" strike="noStrike">
                <a:solidFill>
                  <a:srgbClr val="000000"/>
                </a:solidFill>
                <a:latin typeface="Calibri"/>
              </a:rPr>
              <a:t>https://arxiv.org/pdf/2106.06933.pdf</a:t>
            </a:r>
            <a:endParaRPr b="0" lang="en-US" sz="800" spc="-1" strike="noStrike">
              <a:latin typeface="Arial"/>
            </a:endParaRPr>
          </a:p>
        </p:txBody>
      </p:sp>
      <p:sp>
        <p:nvSpPr>
          <p:cNvPr id="595" name="TextShape 36"/>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596" name="TextShape 37"/>
          <p:cNvSpPr txBox="1"/>
          <p:nvPr/>
        </p:nvSpPr>
        <p:spPr>
          <a:xfrm>
            <a:off x="8610480" y="6356520"/>
            <a:ext cx="2742840" cy="364680"/>
          </a:xfrm>
          <a:prstGeom prst="rect">
            <a:avLst/>
          </a:prstGeom>
          <a:noFill/>
          <a:ln>
            <a:noFill/>
          </a:ln>
        </p:spPr>
        <p:txBody>
          <a:bodyPr anchor="ctr">
            <a:noAutofit/>
          </a:bodyPr>
          <a:p>
            <a:pPr algn="r">
              <a:lnSpc>
                <a:spcPct val="100000"/>
              </a:lnSpc>
            </a:pPr>
            <a:fld id="{E6B68B59-40E0-4FEB-AA0F-F395AD803FD6}"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TextShape 1"/>
          <p:cNvSpPr txBox="1"/>
          <p:nvPr/>
        </p:nvSpPr>
        <p:spPr>
          <a:xfrm>
            <a:off x="838080" y="365040"/>
            <a:ext cx="10515240" cy="1325160"/>
          </a:xfrm>
          <a:prstGeom prst="rect">
            <a:avLst/>
          </a:prstGeom>
          <a:noFill/>
          <a:ln>
            <a:noFill/>
          </a:ln>
        </p:spPr>
        <p:txBody>
          <a:bodyPr anchor="ctr">
            <a:noAutofit/>
          </a:bodyPr>
          <a:p>
            <a:pPr>
              <a:lnSpc>
                <a:spcPct val="90000"/>
              </a:lnSpc>
            </a:pPr>
            <a:r>
              <a:rPr b="0" lang="de-DE" sz="4400" spc="-1" strike="noStrike">
                <a:solidFill>
                  <a:srgbClr val="000000"/>
                </a:solidFill>
                <a:latin typeface="Calibri Light"/>
              </a:rPr>
              <a:t>Criteria &amp; Assumptions</a:t>
            </a:r>
            <a:endParaRPr b="0" lang="en-US" sz="4400" spc="-1" strike="noStrike">
              <a:solidFill>
                <a:srgbClr val="000000"/>
              </a:solidFill>
              <a:latin typeface="Calibri"/>
            </a:endParaRPr>
          </a:p>
        </p:txBody>
      </p:sp>
      <p:sp>
        <p:nvSpPr>
          <p:cNvPr id="598" name="TextShape 2"/>
          <p:cNvSpPr txBox="1"/>
          <p:nvPr/>
        </p:nvSpPr>
        <p:spPr>
          <a:xfrm>
            <a:off x="838080" y="1825560"/>
            <a:ext cx="10515240" cy="4350960"/>
          </a:xfrm>
          <a:prstGeom prst="rect">
            <a:avLst/>
          </a:prstGeom>
          <a:noFill/>
          <a:ln>
            <a:noFill/>
          </a:ln>
        </p:spPr>
        <p:txBody>
          <a:bodyPr>
            <a:noAutofit/>
          </a:bodyPr>
          <a:p>
            <a:pPr marL="285840" indent="-285480">
              <a:lnSpc>
                <a:spcPct val="90000"/>
              </a:lnSpc>
              <a:spcBef>
                <a:spcPts val="1001"/>
              </a:spcBef>
              <a:buClr>
                <a:srgbClr val="000000"/>
              </a:buClr>
              <a:buFont typeface="Arial"/>
              <a:buChar char="•"/>
            </a:pPr>
            <a:r>
              <a:rPr b="0" lang="de-DE" sz="2800" spc="-1" strike="noStrike">
                <a:solidFill>
                  <a:srgbClr val="000000"/>
                </a:solidFill>
                <a:latin typeface="Calibri"/>
              </a:rPr>
              <a:t># of query (asking oracle)</a:t>
            </a:r>
            <a:endParaRPr b="0" lang="en-US" sz="2800" spc="-1" strike="noStrike">
              <a:solidFill>
                <a:srgbClr val="000000"/>
              </a:solidFill>
              <a:latin typeface="Calibri"/>
            </a:endParaRPr>
          </a:p>
          <a:p>
            <a:pPr marL="285840" indent="-285480">
              <a:lnSpc>
                <a:spcPct val="90000"/>
              </a:lnSpc>
              <a:spcBef>
                <a:spcPts val="1001"/>
              </a:spcBef>
              <a:buClr>
                <a:srgbClr val="000000"/>
              </a:buClr>
              <a:buFont typeface="Arial"/>
              <a:buChar char="•"/>
            </a:pPr>
            <a:r>
              <a:rPr b="0" lang="de-DE" sz="2800" spc="-1" strike="noStrike">
                <a:solidFill>
                  <a:srgbClr val="000000"/>
                </a:solidFill>
                <a:latin typeface="Calibri"/>
              </a:rPr>
              <a:t># of samples</a:t>
            </a:r>
            <a:endParaRPr b="0" lang="en-US" sz="2800" spc="-1" strike="noStrike">
              <a:solidFill>
                <a:srgbClr val="000000"/>
              </a:solidFill>
              <a:latin typeface="Calibri"/>
            </a:endParaRPr>
          </a:p>
          <a:p>
            <a:pPr marL="285840" indent="-285480">
              <a:lnSpc>
                <a:spcPct val="90000"/>
              </a:lnSpc>
              <a:spcBef>
                <a:spcPts val="1001"/>
              </a:spcBef>
              <a:buClr>
                <a:srgbClr val="000000"/>
              </a:buClr>
              <a:buFont typeface="Arial"/>
              <a:buChar char="•"/>
            </a:pPr>
            <a:r>
              <a:rPr b="0" lang="de-DE" sz="2800" spc="-1" strike="noStrike">
                <a:solidFill>
                  <a:srgbClr val="000000"/>
                </a:solidFill>
                <a:latin typeface="Calibri"/>
              </a:rPr>
              <a:t>Number of iteration</a:t>
            </a:r>
            <a:endParaRPr b="0" lang="en-US" sz="2800" spc="-1" strike="noStrike">
              <a:solidFill>
                <a:srgbClr val="000000"/>
              </a:solidFill>
              <a:latin typeface="Calibri"/>
            </a:endParaRPr>
          </a:p>
          <a:p>
            <a:pPr marL="285840" indent="-285480">
              <a:lnSpc>
                <a:spcPct val="90000"/>
              </a:lnSpc>
              <a:spcBef>
                <a:spcPts val="1001"/>
              </a:spcBef>
              <a:buClr>
                <a:srgbClr val="000000"/>
              </a:buClr>
              <a:buFont typeface="Arial"/>
              <a:buChar char="•"/>
            </a:pPr>
            <a:r>
              <a:rPr b="0" lang="de-DE" sz="2800" spc="-1" strike="noStrike">
                <a:solidFill>
                  <a:srgbClr val="000000"/>
                </a:solidFill>
                <a:latin typeface="Calibri"/>
              </a:rPr>
              <a:t>Re-training vs batch training in CNN</a:t>
            </a:r>
            <a:endParaRPr b="0" lang="en-US" sz="2800" spc="-1" strike="noStrike">
              <a:solidFill>
                <a:srgbClr val="000000"/>
              </a:solidFill>
              <a:latin typeface="Calibri"/>
            </a:endParaRPr>
          </a:p>
          <a:p>
            <a:pPr marL="285840" indent="-285480">
              <a:lnSpc>
                <a:spcPct val="90000"/>
              </a:lnSpc>
              <a:spcBef>
                <a:spcPts val="1001"/>
              </a:spcBef>
              <a:buClr>
                <a:srgbClr val="000000"/>
              </a:buClr>
              <a:buFont typeface="Arial"/>
              <a:buChar char="•"/>
            </a:pPr>
            <a:r>
              <a:rPr b="0" lang="de-DE" sz="2800" spc="-1" strike="noStrike">
                <a:solidFill>
                  <a:srgbClr val="000000"/>
                </a:solidFill>
                <a:latin typeface="Calibri"/>
              </a:rPr>
              <a:t>Time of oracle: consideting the assumption of 1 sec for labeling one sample : w.r.t slide 21 </a:t>
            </a:r>
            <a:endParaRPr b="0" lang="en-US" sz="2800" spc="-1" strike="noStrike">
              <a:solidFill>
                <a:srgbClr val="000000"/>
              </a:solidFill>
              <a:latin typeface="Calibri"/>
            </a:endParaRPr>
          </a:p>
          <a:p>
            <a:pPr>
              <a:lnSpc>
                <a:spcPct val="90000"/>
              </a:lnSpc>
              <a:spcBef>
                <a:spcPts val="1001"/>
              </a:spcBef>
            </a:pPr>
            <a:endParaRPr b="0" lang="en-US" sz="2800" spc="-1" strike="noStrike">
              <a:solidFill>
                <a:srgbClr val="000000"/>
              </a:solidFill>
              <a:latin typeface="Calibri"/>
            </a:endParaRPr>
          </a:p>
          <a:p>
            <a:pPr>
              <a:lnSpc>
                <a:spcPct val="90000"/>
              </a:lnSpc>
              <a:spcBef>
                <a:spcPts val="1001"/>
              </a:spcBef>
            </a:pPr>
            <a:endParaRPr b="0" lang="en-US" sz="2800" spc="-1" strike="noStrike">
              <a:solidFill>
                <a:srgbClr val="000000"/>
              </a:solidFill>
              <a:latin typeface="Calibri"/>
            </a:endParaRPr>
          </a:p>
          <a:p>
            <a:pPr>
              <a:lnSpc>
                <a:spcPct val="90000"/>
              </a:lnSpc>
              <a:spcBef>
                <a:spcPts val="1001"/>
              </a:spcBef>
            </a:pPr>
            <a:endParaRPr b="0" lang="en-US" sz="2800" spc="-1" strike="noStrike">
              <a:solidFill>
                <a:srgbClr val="000000"/>
              </a:solidFill>
              <a:latin typeface="Calibri"/>
            </a:endParaRPr>
          </a:p>
        </p:txBody>
      </p:sp>
      <p:sp>
        <p:nvSpPr>
          <p:cNvPr id="599" name="TextShape 3"/>
          <p:cNvSpPr txBox="1"/>
          <p:nvPr/>
        </p:nvSpPr>
        <p:spPr>
          <a:xfrm>
            <a:off x="4038480" y="6356520"/>
            <a:ext cx="4114440" cy="364680"/>
          </a:xfrm>
          <a:prstGeom prst="rect">
            <a:avLst/>
          </a:prstGeom>
          <a:noFill/>
          <a:ln>
            <a:noFill/>
          </a:ln>
        </p:spPr>
        <p:txBody>
          <a:bodyPr anchor="ctr">
            <a:noAutofit/>
          </a:bodyPr>
          <a:p>
            <a:endParaRPr b="0" lang="en-US" sz="2400" spc="-1" strike="noStrike">
              <a:latin typeface="Times New Roman"/>
            </a:endParaRPr>
          </a:p>
        </p:txBody>
      </p:sp>
      <p:sp>
        <p:nvSpPr>
          <p:cNvPr id="600" name="TextShape 4"/>
          <p:cNvSpPr txBox="1"/>
          <p:nvPr/>
        </p:nvSpPr>
        <p:spPr>
          <a:xfrm>
            <a:off x="8610480" y="6356520"/>
            <a:ext cx="2742840" cy="364680"/>
          </a:xfrm>
          <a:prstGeom prst="rect">
            <a:avLst/>
          </a:prstGeom>
          <a:noFill/>
          <a:ln>
            <a:noFill/>
          </a:ln>
        </p:spPr>
        <p:txBody>
          <a:bodyPr anchor="ctr">
            <a:noAutofit/>
          </a:bodyPr>
          <a:p>
            <a:pPr algn="r">
              <a:lnSpc>
                <a:spcPct val="100000"/>
              </a:lnSpc>
            </a:pPr>
            <a:fld id="{4878934F-119E-4FE4-8881-68824F430A52}" type="slidenum">
              <a:rPr b="0" lang="en-US" sz="1200" spc="-1" strike="noStrike">
                <a:solidFill>
                  <a:srgbClr val="8b8b8b"/>
                </a:solidFill>
                <a:latin typeface="Calibri"/>
              </a:rPr>
              <a:t>&lt;number&gt;</a:t>
            </a:fld>
            <a:endParaRPr b="0" lang="en-US" sz="12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945</TotalTime>
  <Application>LibreOffice/6.4.7.2$Linux_X86_64 LibreOffice_project/40$Build-2</Application>
  <Words>2141</Words>
  <Paragraphs>269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2021-10-26T07:06:25Z</dcterms:created>
  <dc:creator>Mehrdad Hajizadeh</dc:creator>
  <dc:description/>
  <dc:language>en-US</dc:language>
  <cp:lastModifiedBy/>
  <dcterms:modified xsi:type="dcterms:W3CDTF">2021-11-18T02:06:46Z</dcterms:modified>
  <cp:revision>90</cp:revision>
  <dc:subject/>
  <dc:title>Deep Active Learning Approach for Botnet Detection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24</vt:i4>
  </property>
</Properties>
</file>